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2145703726" r:id="rId3"/>
    <p:sldId id="265" r:id="rId4"/>
    <p:sldId id="2145703731" r:id="rId5"/>
    <p:sldId id="2145703728" r:id="rId6"/>
    <p:sldId id="2145703735" r:id="rId7"/>
    <p:sldId id="2145703736" r:id="rId8"/>
    <p:sldId id="2145703733" r:id="rId9"/>
    <p:sldId id="2145703730" r:id="rId10"/>
    <p:sldId id="214570373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4F6"/>
    <a:srgbClr val="2C165E"/>
    <a:srgbClr val="7F2A4C"/>
    <a:srgbClr val="592258"/>
    <a:srgbClr val="C68A2E"/>
    <a:srgbClr val="FDFBF6"/>
    <a:srgbClr val="404040"/>
    <a:srgbClr val="27155E"/>
    <a:srgbClr val="7E2A4D"/>
    <a:srgbClr val="401C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50F094-48A7-DEB2-A208-3A9A32F7560C}" v="2" dt="2026-07-29T10:01:45.572"/>
  </p1510:revLst>
</p1510:revInfo>
</file>

<file path=ppt/tableStyles.xml><?xml version="1.0" encoding="utf-8"?>
<a:tblStyleLst xmlns:a="http://schemas.openxmlformats.org/drawingml/2006/main" def="{5C22544A-7EE6-4342-B048-85BDC9FD1C3A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gya Gupta" userId="S::pragyag@quantzig.com::0418b00e-dabf-4256-961c-8223d438ed57" providerId="AD" clId="Web-{5650F094-48A7-DEB2-A208-3A9A32F7560C}"/>
    <pc:docChg chg="addSld delSld">
      <pc:chgData name="Pragya Gupta" userId="S::pragyag@quantzig.com::0418b00e-dabf-4256-961c-8223d438ed57" providerId="AD" clId="Web-{5650F094-48A7-DEB2-A208-3A9A32F7560C}" dt="2026-07-29T10:01:45.572" v="1"/>
      <pc:docMkLst>
        <pc:docMk/>
      </pc:docMkLst>
      <pc:sldChg chg="new del">
        <pc:chgData name="Pragya Gupta" userId="S::pragyag@quantzig.com::0418b00e-dabf-4256-961c-8223d438ed57" providerId="AD" clId="Web-{5650F094-48A7-DEB2-A208-3A9A32F7560C}" dt="2026-07-29T10:01:45.572" v="1"/>
        <pc:sldMkLst>
          <pc:docMk/>
          <pc:sldMk cId="105935822" sldId="2145703737"/>
        </pc:sldMkLst>
      </pc:sldChg>
    </pc:docChg>
  </pc:docChgLst>
  <pc:docChgLst>
    <pc:chgData name="Sidhu Suresh" userId="4ae048c3-b62e-4438-bfbb-c0218b1565e0" providerId="ADAL" clId="{F3CD0F29-F444-4610-A18F-061258D66B0F}"/>
    <pc:docChg chg="undo redo custSel addSld delSld modSld sldOrd">
      <pc:chgData name="Sidhu Suresh" userId="4ae048c3-b62e-4438-bfbb-c0218b1565e0" providerId="ADAL" clId="{F3CD0F29-F444-4610-A18F-061258D66B0F}" dt="2026-07-02T03:43:53.268" v="1745" actId="2165"/>
      <pc:docMkLst>
        <pc:docMk/>
      </pc:docMkLst>
      <pc:sldChg chg="addSp delSp modSp new mod">
        <pc:chgData name="Sidhu Suresh" userId="4ae048c3-b62e-4438-bfbb-c0218b1565e0" providerId="ADAL" clId="{F3CD0F29-F444-4610-A18F-061258D66B0F}" dt="2026-07-02T03:43:53.268" v="1745" actId="2165"/>
        <pc:sldMkLst>
          <pc:docMk/>
          <pc:sldMk cId="1151539021" sldId="2145703734"/>
        </pc:sldMkLst>
        <pc:graphicFrameChg chg="add mod modGraphic">
          <ac:chgData name="Sidhu Suresh" userId="4ae048c3-b62e-4438-bfbb-c0218b1565e0" providerId="ADAL" clId="{F3CD0F29-F444-4610-A18F-061258D66B0F}" dt="2026-07-02T03:43:53.268" v="1745" actId="2165"/>
          <ac:graphicFrameMkLst>
            <pc:docMk/>
            <pc:sldMk cId="1151539021" sldId="2145703734"/>
            <ac:graphicFrameMk id="5" creationId="{A0127CDA-81F6-8739-13AA-E81E39377C5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92D78-0EB3-4E3C-B8F1-3E28B5046BB2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58DE3-D480-4D2E-A16E-1412D31F2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22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7BA24-C72A-A251-0221-EC1DACACD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3572A-E6EE-2665-B49B-7479DC5C03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92A90-AAEF-4DF4-1076-26429BDE2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C73F9-03C7-8DE1-4157-9A32294647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58DE3-D480-4D2E-A16E-1412D31F20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550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37CC-CAF8-FEA0-DE2A-49604755D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290DA0-6FEC-47A2-7D8D-60504C970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BB942E-9BEA-ACE2-A9A8-30CCCC95D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438C9-539B-EC19-F7DF-4CF925D7C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58DE3-D480-4D2E-A16E-1412D31F20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16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6F67EC-8CC1-262E-D9F5-DA69410586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279654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9D8F0AEC-CC23-8A94-CD98-4CC404325E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495" y="737445"/>
            <a:ext cx="3813369" cy="10550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3B171E3-4058-54AC-12D0-2A7C66D66C7B}"/>
              </a:ext>
            </a:extLst>
          </p:cNvPr>
          <p:cNvSpPr/>
          <p:nvPr userDrawn="1"/>
        </p:nvSpPr>
        <p:spPr>
          <a:xfrm>
            <a:off x="0" y="2797277"/>
            <a:ext cx="12192000" cy="4060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1EE555-5230-2FA6-2C0E-E35CC206373B}"/>
              </a:ext>
            </a:extLst>
          </p:cNvPr>
          <p:cNvGrpSpPr/>
          <p:nvPr userDrawn="1"/>
        </p:nvGrpSpPr>
        <p:grpSpPr>
          <a:xfrm>
            <a:off x="473496" y="3047803"/>
            <a:ext cx="766917" cy="83737"/>
            <a:chOff x="4804072" y="993058"/>
            <a:chExt cx="766917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D9180D-D2CB-1EB3-85D4-1735A792EA2A}"/>
                </a:ext>
              </a:extLst>
            </p:cNvPr>
            <p:cNvSpPr/>
            <p:nvPr userDrawn="1"/>
          </p:nvSpPr>
          <p:spPr>
            <a:xfrm>
              <a:off x="4804072" y="993058"/>
              <a:ext cx="255639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EA7C3C-CF7C-BF33-42B2-F3BD33090314}"/>
                </a:ext>
              </a:extLst>
            </p:cNvPr>
            <p:cNvSpPr/>
            <p:nvPr userDrawn="1"/>
          </p:nvSpPr>
          <p:spPr>
            <a:xfrm>
              <a:off x="5059711" y="993058"/>
              <a:ext cx="255639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687DBE1-3742-8F74-5626-8ED0DBC63BBF}"/>
                </a:ext>
              </a:extLst>
            </p:cNvPr>
            <p:cNvSpPr/>
            <p:nvPr userDrawn="1"/>
          </p:nvSpPr>
          <p:spPr>
            <a:xfrm>
              <a:off x="5315350" y="993058"/>
              <a:ext cx="255639" cy="457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/>
            </a:p>
          </p:txBody>
        </p:sp>
      </p:grp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A19AE70-B235-C948-A8BA-258F017E44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3768328"/>
            <a:ext cx="11522075" cy="682238"/>
          </a:xfrm>
        </p:spPr>
        <p:txBody>
          <a:bodyPr wrap="square" anchor="b">
            <a:spAutoFit/>
          </a:bodyPr>
          <a:lstStyle>
            <a:lvl1pPr marL="0" indent="0" algn="l">
              <a:lnSpc>
                <a:spcPts val="4600"/>
              </a:lnSpc>
              <a:buNone/>
              <a:defRPr sz="4400" b="1">
                <a:solidFill>
                  <a:schemeClr val="tx2"/>
                </a:solidFill>
                <a:latin typeface="Grandview" panose="020B0502040204020203" pitchFamily="34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9C309E9-69CD-237B-F189-13B6D1E2EA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3" y="4518116"/>
            <a:ext cx="11522075" cy="523220"/>
          </a:xfr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chemeClr val="accent1"/>
                </a:solidFill>
                <a:latin typeface="Grandview" panose="020B0502040204020203" pitchFamily="34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CB6CA82-42B9-AE8F-307B-59DD005129F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5594553"/>
            <a:ext cx="3479953" cy="341632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Grandview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CF219F-A058-195B-DB71-5196AC08136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2231174"/>
            <a:ext cx="5761038" cy="369332"/>
          </a:xfr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Grandview" panose="020B0502040204020203" pitchFamily="34" charset="0"/>
              </a:defRPr>
            </a:lvl1pPr>
          </a:lstStyle>
          <a:p>
            <a:pPr lvl="0"/>
            <a:r>
              <a:rPr lang="en-US"/>
              <a:t>Presentation to &lt;Client Name&gt;</a:t>
            </a:r>
          </a:p>
        </p:txBody>
      </p:sp>
    </p:spTree>
    <p:extLst>
      <p:ext uri="{BB962C8B-B14F-4D97-AF65-F5344CB8AC3E}">
        <p14:creationId xmlns:p14="http://schemas.microsoft.com/office/powerpoint/2010/main" val="67149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FEBADA-0BFE-E7CC-8DF5-947152DCE8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99288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798155-8B32-D21E-26EE-D135E4B98A30}"/>
              </a:ext>
            </a:extLst>
          </p:cNvPr>
          <p:cNvSpPr/>
          <p:nvPr userDrawn="1"/>
        </p:nvSpPr>
        <p:spPr>
          <a:xfrm flipH="1">
            <a:off x="0" y="0"/>
            <a:ext cx="3994693" cy="6857998"/>
          </a:xfrm>
          <a:prstGeom prst="rect">
            <a:avLst/>
          </a:prstGeom>
          <a:gradFill flip="none" rotWithShape="1">
            <a:gsLst>
              <a:gs pos="51000">
                <a:srgbClr val="090979">
                  <a:alpha val="11000"/>
                </a:srgbClr>
              </a:gs>
              <a:gs pos="0">
                <a:srgbClr val="FC4A1A"/>
              </a:gs>
              <a:gs pos="100000">
                <a:schemeClr val="accent3">
                  <a:lumMod val="50000"/>
                </a:schemeClr>
              </a:gs>
            </a:gsLst>
            <a:lin ang="189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140CE-BB48-60B3-D4F9-8090935E0E3C}"/>
              </a:ext>
            </a:extLst>
          </p:cNvPr>
          <p:cNvSpPr/>
          <p:nvPr userDrawn="1"/>
        </p:nvSpPr>
        <p:spPr>
          <a:xfrm>
            <a:off x="334963" y="344376"/>
            <a:ext cx="19303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>
                <a:solidFill>
                  <a:schemeClr val="bg1"/>
                </a:solidFill>
                <a:latin typeface="Grandview" panose="020B0502040204020203" pitchFamily="34" charset="0"/>
              </a:rPr>
              <a:t>Agenda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ndview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20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Slide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3A3133-236C-25D1-3FB2-F56BDAAD8B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360099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2600" b="1">
                <a:solidFill>
                  <a:schemeClr val="tx2"/>
                </a:solidFill>
                <a:latin typeface="Grandview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631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eader with Par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3A3133-236C-25D1-3FB2-F56BDAAD8B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360099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2600" b="1">
                <a:solidFill>
                  <a:schemeClr val="tx2"/>
                </a:solidFill>
                <a:latin typeface="Grandview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7ECBDA-1860-C2F3-BA9A-C1783EBFB8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8020" y="0"/>
            <a:ext cx="51739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2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er with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3A3133-236C-25D1-3FB2-F56BDAAD8B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360099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2600" b="1">
                <a:solidFill>
                  <a:schemeClr val="tx2"/>
                </a:solidFill>
                <a:latin typeface="Grandview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C4E8E-1A37-ED56-1F29-3550A672A7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457380"/>
            <a:ext cx="12192000" cy="375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5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148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eader Ribb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B0127B-2048-935E-8EA8-B9C232D74C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1363980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EBEB058-6437-0F41-3ED8-881903F426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360099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2600" b="1">
                <a:solidFill>
                  <a:schemeClr val="bg1"/>
                </a:solidFill>
                <a:latin typeface="Grandview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0227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Header wit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51A100-9DC0-0FA7-530B-7EB3DF901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2820" y="0"/>
            <a:ext cx="4869180" cy="6858000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43A3133-236C-25D1-3FB2-F56BDAAD8B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360099"/>
          </a:xfrm>
        </p:spPr>
        <p:txBody>
          <a:bodyPr lIns="0" tIns="0" rIns="0" bIns="0">
            <a:spAutoFit/>
          </a:bodyPr>
          <a:lstStyle>
            <a:lvl1pPr marL="0" indent="0" algn="l">
              <a:buNone/>
              <a:defRPr sz="2600" b="1">
                <a:solidFill>
                  <a:schemeClr val="tx2"/>
                </a:solidFill>
                <a:latin typeface="Grandview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123C1E-BF0E-FD88-8D14-C65A7E7E4EA9}"/>
              </a:ext>
            </a:extLst>
          </p:cNvPr>
          <p:cNvSpPr/>
          <p:nvPr userDrawn="1"/>
        </p:nvSpPr>
        <p:spPr>
          <a:xfrm>
            <a:off x="616975" y="962660"/>
            <a:ext cx="9421105" cy="5190490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0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752458-03D2-2CF2-816E-0F9F02DC2A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E46D148-108A-E1FA-3702-04AAF51F6B99}"/>
              </a:ext>
            </a:extLst>
          </p:cNvPr>
          <p:cNvSpPr/>
          <p:nvPr userDrawn="1"/>
        </p:nvSpPr>
        <p:spPr>
          <a:xfrm>
            <a:off x="-2" y="0"/>
            <a:ext cx="609600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3BC8FF-EF8A-4498-A203-83205E565AA4}"/>
              </a:ext>
            </a:extLst>
          </p:cNvPr>
          <p:cNvSpPr/>
          <p:nvPr userDrawn="1"/>
        </p:nvSpPr>
        <p:spPr>
          <a:xfrm>
            <a:off x="616975" y="685800"/>
            <a:ext cx="10958051" cy="5486400"/>
          </a:xfrm>
          <a:prstGeom prst="rect">
            <a:avLst/>
          </a:prstGeom>
          <a:solidFill>
            <a:schemeClr val="bg1"/>
          </a:solidFill>
          <a:ln w="317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69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B36362-976D-5283-D9E6-B58AE1CB64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AEABD2F-AE33-0673-177C-D48B29DBC65F}"/>
              </a:ext>
            </a:extLst>
          </p:cNvPr>
          <p:cNvSpPr/>
          <p:nvPr userDrawn="1"/>
        </p:nvSpPr>
        <p:spPr>
          <a:xfrm>
            <a:off x="132080" y="0"/>
            <a:ext cx="1077976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DACB232-8BCF-F3F8-C0A2-7BF00D0D9C2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914" y="6517400"/>
            <a:ext cx="1294905" cy="23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2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art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39901A-9E64-5423-7E3F-9C40B6EB0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837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EBC66D8-44DB-59F0-AA29-041E751B51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564380"/>
            <a:ext cx="12192000" cy="22936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C47AFD-B5F4-BAE5-46E3-2A84841A183D}"/>
              </a:ext>
            </a:extLst>
          </p:cNvPr>
          <p:cNvSpPr txBox="1"/>
          <p:nvPr userDrawn="1"/>
        </p:nvSpPr>
        <p:spPr>
          <a:xfrm>
            <a:off x="7463709" y="4848195"/>
            <a:ext cx="2017079" cy="16927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indent="0" algn="just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502040204020203" pitchFamily="34" charset="0"/>
              </a:rPr>
              <a:t>Asia-Pacific</a:t>
            </a:r>
          </a:p>
          <a:p>
            <a:pPr>
              <a:spcAft>
                <a:spcPts val="600"/>
              </a:spcAft>
              <a:defRPr/>
            </a:pP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1st Floor – Left Wing,</a:t>
            </a:r>
            <a:b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</a:b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Embassy Signet,</a:t>
            </a:r>
            <a:b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</a:b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Cessna Business Park,</a:t>
            </a:r>
            <a:b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</a:b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Kadubeesanahalli,</a:t>
            </a:r>
            <a:b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</a:b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Outer Ring Road,</a:t>
            </a:r>
            <a:b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</a:b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Bangalore – 560 103</a:t>
            </a:r>
          </a:p>
          <a:p>
            <a:pPr>
              <a:spcAft>
                <a:spcPts val="600"/>
              </a:spcAft>
              <a:defRPr/>
            </a:pP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Tel: +91 806 191 4606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89AC86-99AA-5E89-963F-72F198F048E6}"/>
              </a:ext>
            </a:extLst>
          </p:cNvPr>
          <p:cNvSpPr txBox="1"/>
          <p:nvPr userDrawn="1"/>
        </p:nvSpPr>
        <p:spPr>
          <a:xfrm>
            <a:off x="349403" y="3651950"/>
            <a:ext cx="438190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Grandview" panose="020B0502040204020203" pitchFamily="34" charset="0"/>
              </a:rPr>
              <a:t>hello@quantzig.com  |  www.quantzig.com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B24648-09CC-2FFA-BFEC-407F0EE1B1C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5107" y="377200"/>
            <a:ext cx="2451931" cy="6783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3EC0E6-46BB-02CE-DDE9-B6505A150C61}"/>
              </a:ext>
            </a:extLst>
          </p:cNvPr>
          <p:cNvSpPr txBox="1"/>
          <p:nvPr userDrawn="1"/>
        </p:nvSpPr>
        <p:spPr>
          <a:xfrm>
            <a:off x="334962" y="4859995"/>
            <a:ext cx="2017079" cy="9284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indent="0" algn="just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502040204020203" pitchFamily="34" charset="0"/>
              </a:rPr>
              <a:t>United States</a:t>
            </a:r>
          </a:p>
          <a:p>
            <a:pPr marR="0" lvl="0" indent="0" fontAlgn="auto"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110 E. Schiller, #208,</a:t>
            </a:r>
            <a:b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</a:b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Elmhurst, IL 60126, U.S.A</a:t>
            </a:r>
          </a:p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Tel: +1 630 538 7144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9609D-38F6-FE5F-6B87-28A130B9D065}"/>
              </a:ext>
            </a:extLst>
          </p:cNvPr>
          <p:cNvSpPr txBox="1"/>
          <p:nvPr userDrawn="1"/>
        </p:nvSpPr>
        <p:spPr>
          <a:xfrm>
            <a:off x="2711211" y="4859995"/>
            <a:ext cx="2017079" cy="1113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1600" b="1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502040204020203" pitchFamily="34" charset="0"/>
              </a:rPr>
              <a:t>United Kingdom</a:t>
            </a:r>
          </a:p>
          <a:p>
            <a:pPr>
              <a:spcAft>
                <a:spcPts val="400"/>
              </a:spcAft>
              <a:defRPr/>
            </a:pP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8 Wimpole Street,</a:t>
            </a:r>
            <a:b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</a:b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London W1G 9SP,</a:t>
            </a:r>
            <a:b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</a:b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United Kingdom</a:t>
            </a:r>
          </a:p>
          <a:p>
            <a:pPr>
              <a:spcAft>
                <a:spcPts val="400"/>
              </a:spcAft>
              <a:defRPr/>
            </a:pP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Tel: +44 208 629 1455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342A9-0E45-548C-D5E5-19B38913F7AF}"/>
              </a:ext>
            </a:extLst>
          </p:cNvPr>
          <p:cNvSpPr txBox="1"/>
          <p:nvPr userDrawn="1"/>
        </p:nvSpPr>
        <p:spPr>
          <a:xfrm>
            <a:off x="5087460" y="4859995"/>
            <a:ext cx="2017079" cy="1113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indent="0" algn="just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502040204020203" pitchFamily="34" charset="0"/>
              </a:rPr>
              <a:t>Canada</a:t>
            </a:r>
          </a:p>
          <a:p>
            <a:pPr>
              <a:spcAft>
                <a:spcPts val="400"/>
              </a:spcAft>
              <a:defRPr/>
            </a:pP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36 Toronto St., #505,</a:t>
            </a:r>
            <a:b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</a:b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Toronto, ON M5C 2C5, Canada</a:t>
            </a:r>
          </a:p>
          <a:p>
            <a:pPr>
              <a:spcAft>
                <a:spcPts val="600"/>
              </a:spcAft>
              <a:defRPr/>
            </a:pP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Tel: +44 20 8629 1455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0F6D2-8AC3-90AD-6975-5CC7FD007EA6}"/>
              </a:ext>
            </a:extLst>
          </p:cNvPr>
          <p:cNvSpPr txBox="1"/>
          <p:nvPr userDrawn="1"/>
        </p:nvSpPr>
        <p:spPr>
          <a:xfrm>
            <a:off x="9839959" y="4848195"/>
            <a:ext cx="2017079" cy="1113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indent="0" algn="just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502040204020203" pitchFamily="34" charset="0"/>
              </a:rPr>
              <a:t>Hungary</a:t>
            </a:r>
          </a:p>
          <a:p>
            <a:pPr>
              <a:defRPr/>
            </a:pP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RM2 Business Center,</a:t>
            </a:r>
            <a:b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</a:b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1137 Budapest, Hungary</a:t>
            </a:r>
          </a:p>
          <a:p>
            <a:pPr>
              <a:spcAft>
                <a:spcPts val="400"/>
              </a:spcAft>
              <a:defRPr/>
            </a:pPr>
            <a:r>
              <a:rPr lang="en-US" sz="1200" kern="100" err="1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Radnóti</a:t>
            </a: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 </a:t>
            </a:r>
            <a:r>
              <a:rPr lang="en-US" sz="1200" kern="100" err="1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Miklós</a:t>
            </a: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 u. 2.</a:t>
            </a:r>
          </a:p>
          <a:p>
            <a:pPr>
              <a:spcAft>
                <a:spcPts val="600"/>
              </a:spcAft>
              <a:defRPr/>
            </a:pPr>
            <a:r>
              <a:rPr lang="en-US" sz="1200" kern="100">
                <a:solidFill>
                  <a:schemeClr val="bg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Tel: +36 703 712 361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3B3065-1248-AB09-A2DC-27B4BEEA09A2}"/>
              </a:ext>
            </a:extLst>
          </p:cNvPr>
          <p:cNvGrpSpPr/>
          <p:nvPr userDrawn="1"/>
        </p:nvGrpSpPr>
        <p:grpSpPr>
          <a:xfrm>
            <a:off x="349403" y="1294403"/>
            <a:ext cx="504000" cy="83737"/>
            <a:chOff x="4804072" y="993058"/>
            <a:chExt cx="766917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A13877-C97C-679E-0293-AA0B2FB4F124}"/>
                </a:ext>
              </a:extLst>
            </p:cNvPr>
            <p:cNvSpPr/>
            <p:nvPr userDrawn="1"/>
          </p:nvSpPr>
          <p:spPr>
            <a:xfrm>
              <a:off x="4804072" y="993058"/>
              <a:ext cx="255639" cy="4571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>
                <a:latin typeface="Grandview" panose="020B0502040204020203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95105F1-309D-73F0-7CA1-91E45AAFBE84}"/>
                </a:ext>
              </a:extLst>
            </p:cNvPr>
            <p:cNvSpPr/>
            <p:nvPr userDrawn="1"/>
          </p:nvSpPr>
          <p:spPr>
            <a:xfrm>
              <a:off x="5059711" y="993058"/>
              <a:ext cx="255639" cy="4571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>
                <a:latin typeface="Grandview" panose="020B0502040204020203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56FD4EB-ADEB-5C81-2D96-BC80E1B32DD5}"/>
                </a:ext>
              </a:extLst>
            </p:cNvPr>
            <p:cNvSpPr/>
            <p:nvPr userDrawn="1"/>
          </p:nvSpPr>
          <p:spPr>
            <a:xfrm>
              <a:off x="5315350" y="993058"/>
              <a:ext cx="255639" cy="457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>
                <a:latin typeface="Grandview" panose="020B0502040204020203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467FB16-10BF-63BD-486E-A616D4214B63}"/>
              </a:ext>
            </a:extLst>
          </p:cNvPr>
          <p:cNvSpPr txBox="1"/>
          <p:nvPr userDrawn="1"/>
        </p:nvSpPr>
        <p:spPr>
          <a:xfrm>
            <a:off x="349403" y="1626934"/>
            <a:ext cx="3612997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3000" b="1">
                <a:solidFill>
                  <a:schemeClr val="accent1"/>
                </a:solidFill>
                <a:latin typeface="Grandview" panose="020B0502040204020203" pitchFamily="34" charset="0"/>
                <a:ea typeface="Grandview" panose="02000000000000000000" pitchFamily="2" charset="0"/>
                <a:cs typeface="Grandview" panose="020B0502040204020203" pitchFamily="34" charset="0"/>
              </a:rPr>
              <a:t>Reach Out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FD751D22-B9FC-46AE-8211-E2CAEF66E3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9403" y="2937679"/>
            <a:ext cx="4320000" cy="324000"/>
          </a:xfrm>
        </p:spPr>
        <p:txBody>
          <a:bodyPr lIns="0" tIns="36000" rIns="0" bIns="36000" anchor="ctr">
            <a:noAutofit/>
          </a:bodyPr>
          <a:lstStyle>
            <a:lvl1pPr marL="0" indent="0">
              <a:buNone/>
              <a:defRPr sz="1800">
                <a:solidFill>
                  <a:schemeClr val="bg2">
                    <a:lumMod val="90000"/>
                  </a:schemeClr>
                </a:solidFill>
                <a:latin typeface="Grandview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randview" panose="020B0502040204020203" pitchFamily="34" charset="0"/>
                <a:ea typeface="Grandview" panose="02000000000000000000" pitchFamily="2" charset="0"/>
                <a:cs typeface="Grandview" panose="020B0604020202020204" pitchFamily="34" charset="0"/>
              </a:rPr>
              <a:t>Contact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9460462-64C0-A647-22CD-B4B2483C14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9403" y="2572851"/>
            <a:ext cx="4320000" cy="324000"/>
          </a:xfrm>
        </p:spPr>
        <p:txBody>
          <a:bodyPr lIns="0" tIns="36000" rIns="0" bIns="36000">
            <a:noAutofit/>
          </a:bodyPr>
          <a:lstStyle>
            <a:lvl1pPr marL="0" indent="0">
              <a:buNone/>
              <a:defRPr sz="2000">
                <a:latin typeface="Grandview" panose="020B0502040204020203" pitchFamily="34" charset="0"/>
              </a:defRPr>
            </a:lvl1pPr>
          </a:lstStyle>
          <a:p>
            <a:pPr lvl="0"/>
            <a:r>
              <a:rPr lang="en-GB"/>
              <a:t>Email ID</a:t>
            </a:r>
            <a:endParaRPr lang="en-IN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85B3EAE-F2F6-88B0-DDB7-E074AA1462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9403" y="2208022"/>
            <a:ext cx="4320000" cy="324000"/>
          </a:xfrm>
        </p:spPr>
        <p:txBody>
          <a:bodyPr lIns="0" tIns="36000" rIns="0" bIns="36000">
            <a:noAutofit/>
          </a:bodyPr>
          <a:lstStyle>
            <a:lvl1pPr marL="0" indent="0">
              <a:buNone/>
              <a:defRPr sz="2000" b="1">
                <a:latin typeface="Grandview" panose="020B0502040204020203" pitchFamily="34" charset="0"/>
              </a:defRPr>
            </a:lvl1pPr>
          </a:lstStyle>
          <a:p>
            <a:pPr lvl="0"/>
            <a:r>
              <a:rPr lang="en-GB"/>
              <a:t>Name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16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CA01C2-9B57-435A-98A3-ED565148F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365125"/>
            <a:ext cx="11522075" cy="452432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Grandview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43C3A-3252-4755-8DF9-B3F36810A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290093"/>
            <a:ext cx="11522075" cy="5018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0C6AC53-C637-8DAF-ACAE-747BF5BBE072}"/>
              </a:ext>
            </a:extLst>
          </p:cNvPr>
          <p:cNvSpPr txBox="1">
            <a:spLocks/>
          </p:cNvSpPr>
          <p:nvPr userDrawn="1"/>
        </p:nvSpPr>
        <p:spPr>
          <a:xfrm>
            <a:off x="11542617" y="6442007"/>
            <a:ext cx="374307" cy="328295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A290D8D-6BA0-418D-AFED-C65293F70DA0}" type="slidenum">
              <a:rPr lang="en-US" sz="1200" b="1" i="0" smtClean="0">
                <a:solidFill>
                  <a:schemeClr val="accent1">
                    <a:alpha val="50000"/>
                  </a:schemeClr>
                </a:solidFill>
                <a:latin typeface="Grandview" panose="020B0502040204020203" pitchFamily="34" charset="0"/>
                <a:ea typeface="Grandview" charset="0"/>
                <a:cs typeface="Grandview" charset="0"/>
              </a:rPr>
              <a:pPr algn="l"/>
              <a:t>‹#›</a:t>
            </a:fld>
            <a:endParaRPr lang="en-US" sz="1200" b="1" i="0">
              <a:solidFill>
                <a:schemeClr val="accent1">
                  <a:alpha val="50000"/>
                </a:schemeClr>
              </a:solidFill>
              <a:latin typeface="Grandview" panose="020B0502040204020203" pitchFamily="34" charset="0"/>
              <a:ea typeface="Grandview" charset="0"/>
              <a:cs typeface="Grandview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6C47B23-BACF-DAA2-BADB-7B0AE19131F0}"/>
              </a:ext>
            </a:extLst>
          </p:cNvPr>
          <p:cNvSpPr txBox="1">
            <a:spLocks/>
          </p:cNvSpPr>
          <p:nvPr userDrawn="1"/>
        </p:nvSpPr>
        <p:spPr>
          <a:xfrm>
            <a:off x="7856621" y="6464995"/>
            <a:ext cx="3240631" cy="292388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chemeClr val="tx1">
                    <a:alpha val="50000"/>
                  </a:schemeClr>
                </a:solidFill>
                <a:latin typeface="Grandview" panose="020B0502040204020203" pitchFamily="34" charset="0"/>
                <a:ea typeface="Grandview" charset="0"/>
                <a:cs typeface="Grandview" charset="0"/>
              </a:rPr>
              <a:t>Copyright © 2026 </a:t>
            </a:r>
            <a:r>
              <a:rPr lang="en-US" sz="1100" b="0" i="0" err="1">
                <a:solidFill>
                  <a:schemeClr val="tx1">
                    <a:alpha val="50000"/>
                  </a:schemeClr>
                </a:solidFill>
                <a:latin typeface="Grandview" panose="020B0502040204020203" pitchFamily="34" charset="0"/>
                <a:ea typeface="Grandview" charset="0"/>
                <a:cs typeface="Grandview" charset="0"/>
              </a:rPr>
              <a:t>Quantzig</a:t>
            </a:r>
            <a:r>
              <a:rPr lang="en-US" sz="1100" b="0" i="0">
                <a:solidFill>
                  <a:schemeClr val="tx1">
                    <a:alpha val="50000"/>
                  </a:schemeClr>
                </a:solidFill>
                <a:latin typeface="Grandview" panose="020B0502040204020203" pitchFamily="34" charset="0"/>
                <a:ea typeface="Grandview" charset="0"/>
                <a:cs typeface="Grandview" charset="0"/>
              </a:rPr>
              <a:t>. All rights reserved.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302C10-3EA0-ED74-9497-D66865DD4F68}"/>
              </a:ext>
            </a:extLst>
          </p:cNvPr>
          <p:cNvCxnSpPr/>
          <p:nvPr userDrawn="1"/>
        </p:nvCxnSpPr>
        <p:spPr>
          <a:xfrm>
            <a:off x="11473389" y="6543723"/>
            <a:ext cx="0" cy="138313"/>
          </a:xfrm>
          <a:prstGeom prst="line">
            <a:avLst/>
          </a:prstGeom>
          <a:ln>
            <a:solidFill>
              <a:schemeClr val="tx1">
                <a:alpha val="20000"/>
              </a:schemeClr>
            </a:solidFill>
            <a:headEnd type="none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12B6755B-DBF7-3AFE-939B-A24CD99D655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6914" y="6517400"/>
            <a:ext cx="1294905" cy="23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7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600" b="1" kern="1200" dirty="0">
          <a:solidFill>
            <a:schemeClr val="tx2"/>
          </a:solidFill>
          <a:latin typeface="Grandview" panose="020B0502040204020203" pitchFamily="34" charset="0"/>
          <a:ea typeface="+mn-ea"/>
          <a:cs typeface="Grandview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Grandview" panose="020B0604020202020204" pitchFamily="34" charset="0"/>
        <a:buChar char="•"/>
        <a:defRPr sz="2800" kern="1200">
          <a:solidFill>
            <a:schemeClr val="tx1"/>
          </a:solidFill>
          <a:latin typeface="Grandview Display" panose="020B0502040204020203" pitchFamily="34" charset="0"/>
          <a:ea typeface="+mn-ea"/>
          <a:cs typeface="Grandvie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Grandview" panose="020B0604020202020204" pitchFamily="34" charset="0"/>
        <a:buChar char="•"/>
        <a:defRPr sz="2400" kern="1200">
          <a:solidFill>
            <a:schemeClr val="tx1"/>
          </a:solidFill>
          <a:latin typeface="Grandview Display" panose="020B0502040204020203" pitchFamily="34" charset="0"/>
          <a:ea typeface="+mn-ea"/>
          <a:cs typeface="Grandvie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Grandview" panose="020B0604020202020204" pitchFamily="34" charset="0"/>
        <a:buChar char="•"/>
        <a:defRPr sz="2000" kern="1200">
          <a:solidFill>
            <a:schemeClr val="tx1"/>
          </a:solidFill>
          <a:latin typeface="Grandview Display" panose="020B0502040204020203" pitchFamily="34" charset="0"/>
          <a:ea typeface="+mn-ea"/>
          <a:cs typeface="Grandvie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Grandview" panose="020B0604020202020204" pitchFamily="34" charset="0"/>
        <a:buChar char="•"/>
        <a:defRPr sz="1800" kern="1200">
          <a:solidFill>
            <a:schemeClr val="tx1"/>
          </a:solidFill>
          <a:latin typeface="Grandview Display" panose="020B0502040204020203" pitchFamily="34" charset="0"/>
          <a:ea typeface="+mn-ea"/>
          <a:cs typeface="Grandvie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Grandview" panose="020B0604020202020204" pitchFamily="34" charset="0"/>
        <a:buChar char="•"/>
        <a:defRPr sz="1800" kern="1200">
          <a:solidFill>
            <a:schemeClr val="tx1"/>
          </a:solidFill>
          <a:latin typeface="Grandview Display" panose="020B0502040204020203" pitchFamily="34" charset="0"/>
          <a:ea typeface="+mn-ea"/>
          <a:cs typeface="Grandvie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Grandvie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Grandvie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Grandvie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Grandview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462CB2-EA6E-8B66-C5A7-EA5D37C43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3820650"/>
            <a:ext cx="11522075" cy="629916"/>
          </a:xfrm>
        </p:spPr>
        <p:txBody>
          <a:bodyPr/>
          <a:lstStyle/>
          <a:p>
            <a:r>
              <a:rPr lang="en-IN" sz="3600"/>
              <a:t>Formulary IQ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46BB9-FF8D-FB35-A9B4-6E720D7514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4963" y="4518116"/>
            <a:ext cx="11522075" cy="400110"/>
          </a:xfrm>
        </p:spPr>
        <p:txBody>
          <a:bodyPr/>
          <a:lstStyle/>
          <a:p>
            <a:r>
              <a:rPr lang="en-IN" sz="2000"/>
              <a:t>Implementation Plan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FABAC-9134-C64A-FFE7-B8F762CBD3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fld id="{2682A97A-22B4-4204-ACEE-503A067EE003}" type="datetime3">
              <a:rPr lang="en-US" smtClean="0"/>
              <a:t>29 July 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91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414C3-5EA1-330B-1D6F-53C1720D5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314DAB-975A-A6D7-C7C4-BFBCC394D8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709938"/>
          </a:xfrm>
        </p:spPr>
        <p:txBody>
          <a:bodyPr/>
          <a:lstStyle/>
          <a:p>
            <a:r>
              <a:rPr lang="en-US" sz="2400"/>
              <a:t>Context, Current Landscape &amp; the Vision</a:t>
            </a:r>
          </a:p>
          <a:p>
            <a:r>
              <a:rPr lang="en-US" sz="1800"/>
              <a:t>Coverage Intelligence is Fragmented and Hard to Act 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619D1C-D5A5-B216-207C-22AC8BF38E91}"/>
              </a:ext>
            </a:extLst>
          </p:cNvPr>
          <p:cNvSpPr txBox="1"/>
          <p:nvPr/>
        </p:nvSpPr>
        <p:spPr>
          <a:xfrm>
            <a:off x="243840" y="1534050"/>
            <a:ext cx="11704320" cy="609382"/>
          </a:xfrm>
          <a:prstGeom prst="rect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 b="1" i="0">
                <a:solidFill>
                  <a:schemeClr val="bg1"/>
                </a:solidFill>
                <a:effectLst/>
                <a:latin typeface="Grandview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Formulary IQ consolidates payer coverage intelligence from multiple vendors and internal sources into a single AI-powered platform — eliminating duplication and enabling faster, evidence-based decisions.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4BB6897-DFA7-3A5E-15B7-5EEFE41CC7AF}"/>
              </a:ext>
            </a:extLst>
          </p:cNvPr>
          <p:cNvGrpSpPr/>
          <p:nvPr/>
        </p:nvGrpSpPr>
        <p:grpSpPr>
          <a:xfrm>
            <a:off x="261089" y="2479151"/>
            <a:ext cx="4468228" cy="3626681"/>
            <a:chOff x="261088" y="2479151"/>
            <a:chExt cx="5701561" cy="362668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D241675-30FD-8B1E-EFDF-348EC20A7658}"/>
                </a:ext>
              </a:extLst>
            </p:cNvPr>
            <p:cNvSpPr txBox="1"/>
            <p:nvPr/>
          </p:nvSpPr>
          <p:spPr>
            <a:xfrm>
              <a:off x="261088" y="2809657"/>
              <a:ext cx="5701561" cy="3296175"/>
            </a:xfrm>
            <a:prstGeom prst="rect">
              <a:avLst/>
            </a:prstGeom>
            <a:gradFill>
              <a:gsLst>
                <a:gs pos="0">
                  <a:srgbClr val="812B47">
                    <a:alpha val="5000"/>
                  </a:srgbClr>
                </a:gs>
                <a:gs pos="100000">
                  <a:srgbClr val="0B0E5F">
                    <a:alpha val="500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wrap="square">
              <a:noAutofit/>
            </a:bodyPr>
            <a:lstStyle/>
            <a:p>
              <a:pPr marL="171450" indent="-171450" algn="l">
                <a:spcBef>
                  <a:spcPts val="600"/>
                </a:spcBef>
                <a:spcAft>
                  <a:spcPts val="600"/>
                </a:spcAft>
                <a:buFont typeface="Grandview" panose="020B0604020202020204" pitchFamily="34" charset="0"/>
                <a:buChar char="•"/>
              </a:pPr>
              <a:r>
                <a:rPr lang="en-US" sz="1200" b="1" i="0">
                  <a:effectLst/>
                </a:rPr>
                <a:t>Scattered data sources</a:t>
              </a:r>
              <a:r>
                <a:rPr lang="en-US" sz="1200" b="0" i="0">
                  <a:effectLst/>
                </a:rPr>
                <a:t>: Coverage info spread across MMIT, Policy Reporter, FRM submissions, email threads, and manual spreadsheets.</a:t>
              </a:r>
            </a:p>
            <a:p>
              <a:pPr marL="171450" indent="-171450" algn="l">
                <a:spcBef>
                  <a:spcPts val="600"/>
                </a:spcBef>
                <a:spcAft>
                  <a:spcPts val="600"/>
                </a:spcAft>
                <a:buFont typeface="Grandview" panose="020B0604020202020204" pitchFamily="34" charset="0"/>
                <a:buChar char="•"/>
              </a:pPr>
              <a:r>
                <a:rPr lang="en-US" sz="1200" b="1" i="0">
                  <a:effectLst/>
                </a:rPr>
                <a:t>Duplicate effort</a:t>
              </a:r>
              <a:r>
                <a:rPr lang="en-US" sz="1200" b="0" i="0">
                  <a:effectLst/>
                </a:rPr>
                <a:t>: Teams re-pull coverage data and re-field studies because past work is invisible across brands and regions.</a:t>
              </a:r>
            </a:p>
            <a:p>
              <a:pPr marL="171450" indent="-171450" algn="l">
                <a:spcBef>
                  <a:spcPts val="600"/>
                </a:spcBef>
                <a:spcAft>
                  <a:spcPts val="600"/>
                </a:spcAft>
                <a:buFont typeface="Grandview" panose="020B0604020202020204" pitchFamily="34" charset="0"/>
                <a:buChar char="•"/>
              </a:pPr>
              <a:r>
                <a:rPr lang="en-US" sz="1200" b="1" i="0">
                  <a:effectLst/>
                </a:rPr>
                <a:t>No cross-brand visibility</a:t>
              </a:r>
              <a:r>
                <a:rPr lang="en-US" sz="1200" b="0" i="0">
                  <a:effectLst/>
                </a:rPr>
                <a:t>: Leaders lack a consolidated view - each brand team operates in its own silo without a shared source of truth.</a:t>
              </a:r>
            </a:p>
            <a:p>
              <a:pPr marL="171450" indent="-171450" algn="l">
                <a:spcBef>
                  <a:spcPts val="600"/>
                </a:spcBef>
                <a:spcAft>
                  <a:spcPts val="600"/>
                </a:spcAft>
                <a:buFont typeface="Grandview" panose="020B0604020202020204" pitchFamily="34" charset="0"/>
                <a:buChar char="•"/>
              </a:pPr>
              <a:r>
                <a:rPr lang="en-US" sz="1200" b="1" i="0">
                  <a:effectLst/>
                </a:rPr>
                <a:t>Confidentiality risk</a:t>
              </a:r>
              <a:r>
                <a:rPr lang="en-US" sz="1200" b="0" i="0">
                  <a:effectLst/>
                </a:rPr>
                <a:t>: Sensitive payer data (pricing, rebates) lacks proper access controls in current SharePoint-based tools.</a:t>
              </a:r>
            </a:p>
            <a:p>
              <a:pPr marL="171450" indent="-171450" algn="l">
                <a:spcBef>
                  <a:spcPts val="600"/>
                </a:spcBef>
                <a:spcAft>
                  <a:spcPts val="600"/>
                </a:spcAft>
                <a:buFont typeface="Grandview" panose="020B0604020202020204" pitchFamily="34" charset="0"/>
                <a:buChar char="•"/>
              </a:pPr>
              <a:r>
                <a:rPr lang="en-US" sz="1200" b="1" i="0">
                  <a:effectLst/>
                </a:rPr>
                <a:t>Manual uploads: </a:t>
              </a:r>
              <a:r>
                <a:rPr lang="en-US" sz="1200" i="0">
                  <a:effectLst/>
                </a:rPr>
                <a:t>No integration between source vendors and internal systems forces tedious copy-paste workflows.</a:t>
              </a:r>
            </a:p>
          </p:txBody>
        </p:sp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1C133069-EF26-9887-025B-6CE7225B53CD}"/>
                </a:ext>
              </a:extLst>
            </p:cNvPr>
            <p:cNvSpPr/>
            <p:nvPr/>
          </p:nvSpPr>
          <p:spPr>
            <a:xfrm>
              <a:off x="261088" y="2479151"/>
              <a:ext cx="5701561" cy="330506"/>
            </a:xfrm>
            <a:prstGeom prst="round2SameRect">
              <a:avLst/>
            </a:prstGeom>
            <a:gradFill>
              <a:gsLst>
                <a:gs pos="0">
                  <a:srgbClr val="812B47"/>
                </a:gs>
                <a:gs pos="100000">
                  <a:srgbClr val="0B0E5F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 i="0" kern="1200">
                  <a:solidFill>
                    <a:schemeClr val="bg1"/>
                  </a:solidFill>
                  <a:effectLst/>
                  <a:latin typeface="Grandview" panose="020B0502040204020203" pitchFamily="34" charset="0"/>
                  <a:ea typeface="+mn-ea"/>
                  <a:cs typeface="+mn-cs"/>
                </a:rPr>
                <a:t>Current Fragmentation &amp; Pain Points</a:t>
              </a:r>
              <a:endParaRPr lang="en-US" sz="12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DBD0AD-DFAD-C352-3FF8-5F86B92E6288}"/>
              </a:ext>
            </a:extLst>
          </p:cNvPr>
          <p:cNvGrpSpPr/>
          <p:nvPr/>
        </p:nvGrpSpPr>
        <p:grpSpPr>
          <a:xfrm>
            <a:off x="7462685" y="2479151"/>
            <a:ext cx="4468229" cy="3623715"/>
            <a:chOff x="6229353" y="2479151"/>
            <a:chExt cx="5701561" cy="362371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0A52F33-186F-CE2E-6DD8-04E1C219BFDC}"/>
                </a:ext>
              </a:extLst>
            </p:cNvPr>
            <p:cNvSpPr txBox="1"/>
            <p:nvPr/>
          </p:nvSpPr>
          <p:spPr>
            <a:xfrm>
              <a:off x="6229353" y="2809657"/>
              <a:ext cx="5701561" cy="3293209"/>
            </a:xfrm>
            <a:prstGeom prst="rect">
              <a:avLst/>
            </a:prstGeom>
            <a:gradFill>
              <a:gsLst>
                <a:gs pos="0">
                  <a:srgbClr val="812B47">
                    <a:alpha val="5000"/>
                  </a:srgbClr>
                </a:gs>
                <a:gs pos="100000">
                  <a:srgbClr val="0B0E5F">
                    <a:alpha val="500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wrap="square">
              <a:spAutoFit/>
            </a:bodyPr>
            <a:lstStyle/>
            <a:p>
              <a:pPr marL="171450" indent="-171450" algn="l">
                <a:spcBef>
                  <a:spcPts val="600"/>
                </a:spcBef>
                <a:spcAft>
                  <a:spcPts val="600"/>
                </a:spcAft>
                <a:buFont typeface="Grandview" panose="020B0604020202020204" pitchFamily="34" charset="0"/>
                <a:buChar char="•"/>
              </a:pPr>
              <a:r>
                <a:rPr lang="en-US" sz="1200" b="1" i="0">
                  <a:effectLst/>
                </a:rPr>
                <a:t>Single intelligence hub: </a:t>
              </a:r>
              <a:r>
                <a:rPr lang="en-US" sz="1200" i="0">
                  <a:effectLst/>
                </a:rPr>
                <a:t>One workspace for all payer and brand coverage changes, with structured metadata and granular filters.</a:t>
              </a:r>
            </a:p>
            <a:p>
              <a:pPr marL="171450" indent="-171450" algn="l">
                <a:spcBef>
                  <a:spcPts val="600"/>
                </a:spcBef>
                <a:spcAft>
                  <a:spcPts val="600"/>
                </a:spcAft>
                <a:buFont typeface="Grandview" panose="020B0604020202020204" pitchFamily="34" charset="0"/>
                <a:buChar char="•"/>
              </a:pPr>
              <a:r>
                <a:rPr lang="en-US" sz="1200" b="1" i="0">
                  <a:effectLst/>
                </a:rPr>
                <a:t>AI-powered search: </a:t>
              </a:r>
              <a:r>
                <a:rPr lang="en-US" sz="1200" i="0">
                  <a:effectLst/>
                </a:rPr>
                <a:t>Natural language queries across coverage updates, policy docs, and FRM submissions within user permissions.</a:t>
              </a:r>
            </a:p>
            <a:p>
              <a:pPr marL="171450" indent="-171450" algn="l">
                <a:spcBef>
                  <a:spcPts val="600"/>
                </a:spcBef>
                <a:spcAft>
                  <a:spcPts val="600"/>
                </a:spcAft>
                <a:buFont typeface="Grandview" panose="020B0604020202020204" pitchFamily="34" charset="0"/>
                <a:buChar char="•"/>
              </a:pPr>
              <a:r>
                <a:rPr lang="en-US" sz="1200" b="1" i="0">
                  <a:effectLst/>
                </a:rPr>
                <a:t>Source comparison: </a:t>
              </a:r>
              <a:r>
                <a:rPr lang="en-US" sz="1200" i="0">
                  <a:effectLst/>
                </a:rPr>
                <a:t>Side-by-side view of what MMIT, Policy Reporter, and internal submissions say - with conflict and recency flags.</a:t>
              </a:r>
            </a:p>
            <a:p>
              <a:pPr marL="171450" indent="-171450" algn="l">
                <a:spcBef>
                  <a:spcPts val="600"/>
                </a:spcBef>
                <a:spcAft>
                  <a:spcPts val="600"/>
                </a:spcAft>
                <a:buFont typeface="Grandview" panose="020B0604020202020204" pitchFamily="34" charset="0"/>
                <a:buChar char="•"/>
              </a:pPr>
              <a:r>
                <a:rPr lang="en-US" sz="1200" b="1" i="0">
                  <a:effectLst/>
                </a:rPr>
                <a:t>Role-based access: </a:t>
              </a:r>
              <a:r>
                <a:rPr lang="en-US" sz="1200" i="0">
                  <a:effectLst/>
                </a:rPr>
                <a:t>Confidential payer data protected by permission groups; executives see cross-brand insights without hunting sites.</a:t>
              </a:r>
            </a:p>
            <a:p>
              <a:pPr marL="171450" indent="-171450" algn="l">
                <a:spcBef>
                  <a:spcPts val="600"/>
                </a:spcBef>
                <a:spcAft>
                  <a:spcPts val="600"/>
                </a:spcAft>
                <a:buFont typeface="Grandview" panose="020B0604020202020204" pitchFamily="34" charset="0"/>
                <a:buChar char="•"/>
              </a:pPr>
              <a:r>
                <a:rPr lang="en-US" sz="1200" b="1" i="0">
                  <a:effectLst/>
                </a:rPr>
                <a:t>Full traceability: </a:t>
              </a:r>
              <a:r>
                <a:rPr lang="en-US" sz="1200" i="0">
                  <a:effectLst/>
                </a:rPr>
                <a:t>Every AI summary and insight is traceable back to the source record or document that generated it.</a:t>
              </a:r>
            </a:p>
          </p:txBody>
        </p:sp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6B72451B-32D7-AB17-F630-E0F938C6CB20}"/>
                </a:ext>
              </a:extLst>
            </p:cNvPr>
            <p:cNvSpPr/>
            <p:nvPr/>
          </p:nvSpPr>
          <p:spPr>
            <a:xfrm>
              <a:off x="6229353" y="2479151"/>
              <a:ext cx="5701561" cy="330506"/>
            </a:xfrm>
            <a:prstGeom prst="round2SameRect">
              <a:avLst/>
            </a:prstGeom>
            <a:gradFill>
              <a:gsLst>
                <a:gs pos="0">
                  <a:srgbClr val="812B47"/>
                </a:gs>
                <a:gs pos="100000">
                  <a:srgbClr val="0B0E5F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 i="0" kern="1200">
                  <a:solidFill>
                    <a:schemeClr val="bg1"/>
                  </a:solidFill>
                  <a:effectLst/>
                  <a:latin typeface="Grandview" panose="020B0502040204020203" pitchFamily="34" charset="0"/>
                  <a:ea typeface="+mn-ea"/>
                  <a:cs typeface="+mn-cs"/>
                </a:rPr>
                <a:t>Vision for Formulary IQ</a:t>
              </a:r>
              <a:endParaRPr lang="en-US" sz="12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A88A36-7F8F-B428-1543-D59CF9E375C7}"/>
              </a:ext>
            </a:extLst>
          </p:cNvPr>
          <p:cNvGrpSpPr/>
          <p:nvPr/>
        </p:nvGrpSpPr>
        <p:grpSpPr>
          <a:xfrm>
            <a:off x="5491363" y="3429000"/>
            <a:ext cx="1232197" cy="2165157"/>
            <a:chOff x="4742321" y="1870579"/>
            <a:chExt cx="2120319" cy="37257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99846E0-5F74-A877-BF87-31611A7AA81F}"/>
                </a:ext>
              </a:extLst>
            </p:cNvPr>
            <p:cNvGrpSpPr/>
            <p:nvPr/>
          </p:nvGrpSpPr>
          <p:grpSpPr>
            <a:xfrm>
              <a:off x="4742321" y="1927544"/>
              <a:ext cx="2113057" cy="2594123"/>
              <a:chOff x="4815811" y="1544854"/>
              <a:chExt cx="2306611" cy="2831742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B883DC06-0F5B-C251-F287-BFA3196BA43B}"/>
                  </a:ext>
                </a:extLst>
              </p:cNvPr>
              <p:cNvCxnSpPr/>
              <p:nvPr/>
            </p:nvCxnSpPr>
            <p:spPr>
              <a:xfrm flipV="1">
                <a:off x="6567142" y="2875576"/>
                <a:ext cx="555280" cy="26604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A8517D1-02B4-545C-C672-C6FDAFF732F4}"/>
                  </a:ext>
                </a:extLst>
              </p:cNvPr>
              <p:cNvCxnSpPr/>
              <p:nvPr/>
            </p:nvCxnSpPr>
            <p:spPr>
              <a:xfrm>
                <a:off x="4973177" y="3240628"/>
                <a:ext cx="349354" cy="7367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215BE02D-EA10-A0B7-23B2-133A63876BA3}"/>
                  </a:ext>
                </a:extLst>
              </p:cNvPr>
              <p:cNvCxnSpPr/>
              <p:nvPr/>
            </p:nvCxnSpPr>
            <p:spPr>
              <a:xfrm>
                <a:off x="5490256" y="2946817"/>
                <a:ext cx="61411" cy="535859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9CB4022-B644-7159-7788-D348F95D0D4A}"/>
                  </a:ext>
                </a:extLst>
              </p:cNvPr>
              <p:cNvCxnSpPr/>
              <p:nvPr/>
            </p:nvCxnSpPr>
            <p:spPr>
              <a:xfrm flipH="1">
                <a:off x="6845536" y="2890351"/>
                <a:ext cx="261556" cy="535859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27334488-FDB4-269B-5BD1-7143EFF16C25}"/>
                  </a:ext>
                </a:extLst>
              </p:cNvPr>
              <p:cNvCxnSpPr/>
              <p:nvPr/>
            </p:nvCxnSpPr>
            <p:spPr>
              <a:xfrm flipH="1">
                <a:off x="6636373" y="3394234"/>
                <a:ext cx="225677" cy="458004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6028A17-68A9-FA72-9018-0C7EF0D3471F}"/>
                  </a:ext>
                </a:extLst>
              </p:cNvPr>
              <p:cNvCxnSpPr/>
              <p:nvPr/>
            </p:nvCxnSpPr>
            <p:spPr>
              <a:xfrm flipH="1">
                <a:off x="6346222" y="3146516"/>
                <a:ext cx="225675" cy="508695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53C46D2-0009-9BE8-0172-51DF81763129}"/>
                  </a:ext>
                </a:extLst>
              </p:cNvPr>
              <p:cNvCxnSpPr/>
              <p:nvPr/>
            </p:nvCxnSpPr>
            <p:spPr>
              <a:xfrm flipH="1">
                <a:off x="6578790" y="3844363"/>
                <a:ext cx="57583" cy="458004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C054F015-1733-F22E-F9D2-66A90EC43687}"/>
                  </a:ext>
                </a:extLst>
              </p:cNvPr>
              <p:cNvCxnSpPr/>
              <p:nvPr/>
            </p:nvCxnSpPr>
            <p:spPr>
              <a:xfrm>
                <a:off x="5322532" y="3969216"/>
                <a:ext cx="113793" cy="40738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79135B1-2F5D-2FCA-F79D-D4E190A8DB32}"/>
                  </a:ext>
                </a:extLst>
              </p:cNvPr>
              <p:cNvCxnSpPr/>
              <p:nvPr/>
            </p:nvCxnSpPr>
            <p:spPr>
              <a:xfrm>
                <a:off x="7056315" y="2229057"/>
                <a:ext cx="41725" cy="661295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9F9018CC-1745-1C11-067B-5858975DC1E9}"/>
                  </a:ext>
                </a:extLst>
              </p:cNvPr>
              <p:cNvCxnSpPr/>
              <p:nvPr/>
            </p:nvCxnSpPr>
            <p:spPr>
              <a:xfrm>
                <a:off x="6687343" y="1812146"/>
                <a:ext cx="389834" cy="41691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B0425B9-F47A-BD56-CE65-8AC4C1AD1626}"/>
                  </a:ext>
                </a:extLst>
              </p:cNvPr>
              <p:cNvCxnSpPr/>
              <p:nvPr/>
            </p:nvCxnSpPr>
            <p:spPr>
              <a:xfrm>
                <a:off x="6074263" y="1545097"/>
                <a:ext cx="613080" cy="267049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E0960F0-4075-F826-0B4F-14BC000C791B}"/>
                  </a:ext>
                </a:extLst>
              </p:cNvPr>
              <p:cNvCxnSpPr/>
              <p:nvPr/>
            </p:nvCxnSpPr>
            <p:spPr>
              <a:xfrm flipV="1">
                <a:off x="5424178" y="1545097"/>
                <a:ext cx="650086" cy="14718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379B0EF-3CD9-7C30-37FE-A550E29E3129}"/>
                  </a:ext>
                </a:extLst>
              </p:cNvPr>
              <p:cNvCxnSpPr/>
              <p:nvPr/>
            </p:nvCxnSpPr>
            <p:spPr>
              <a:xfrm flipV="1">
                <a:off x="5027800" y="1678621"/>
                <a:ext cx="396378" cy="31964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2D8A5E6-DF4B-6E3B-6CA9-371F5054C887}"/>
                  </a:ext>
                </a:extLst>
              </p:cNvPr>
              <p:cNvCxnSpPr/>
              <p:nvPr/>
            </p:nvCxnSpPr>
            <p:spPr>
              <a:xfrm flipH="1">
                <a:off x="4824863" y="2038040"/>
                <a:ext cx="182074" cy="47103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73724154-47CD-9801-582F-DFED02362587}"/>
                  </a:ext>
                </a:extLst>
              </p:cNvPr>
              <p:cNvCxnSpPr/>
              <p:nvPr/>
            </p:nvCxnSpPr>
            <p:spPr>
              <a:xfrm>
                <a:off x="4815811" y="2509078"/>
                <a:ext cx="157366" cy="73155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838C5EA6-4DCE-488C-3228-EB9518A42C35}"/>
                  </a:ext>
                </a:extLst>
              </p:cNvPr>
              <p:cNvCxnSpPr/>
              <p:nvPr/>
            </p:nvCxnSpPr>
            <p:spPr>
              <a:xfrm flipV="1">
                <a:off x="4864987" y="2460205"/>
                <a:ext cx="501063" cy="4887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83AE2DC-1097-68CD-FB5E-9A429DF08DA9}"/>
                  </a:ext>
                </a:extLst>
              </p:cNvPr>
              <p:cNvCxnSpPr/>
              <p:nvPr/>
            </p:nvCxnSpPr>
            <p:spPr>
              <a:xfrm flipV="1">
                <a:off x="5140569" y="2460205"/>
                <a:ext cx="231736" cy="333219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BE9E5462-2CF6-D9EB-ADE4-F25F469EC01E}"/>
                  </a:ext>
                </a:extLst>
              </p:cNvPr>
              <p:cNvCxnSpPr/>
              <p:nvPr/>
            </p:nvCxnSpPr>
            <p:spPr>
              <a:xfrm>
                <a:off x="4840215" y="2538060"/>
                <a:ext cx="625436" cy="15383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C4AF23D9-7E65-FFA2-8A11-637EE42A3B1C}"/>
                  </a:ext>
                </a:extLst>
              </p:cNvPr>
              <p:cNvCxnSpPr/>
              <p:nvPr/>
            </p:nvCxnSpPr>
            <p:spPr>
              <a:xfrm flipV="1">
                <a:off x="4997581" y="2791703"/>
                <a:ext cx="150273" cy="43266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47112564-5DEB-BDFB-6EC2-7BD32788F331}"/>
                  </a:ext>
                </a:extLst>
              </p:cNvPr>
              <p:cNvCxnSpPr/>
              <p:nvPr/>
            </p:nvCxnSpPr>
            <p:spPr>
              <a:xfrm>
                <a:off x="4826929" y="2521803"/>
                <a:ext cx="324406" cy="26990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1939D425-1F84-6232-6610-8F84D1CFF40E}"/>
                  </a:ext>
                </a:extLst>
              </p:cNvPr>
              <p:cNvCxnSpPr/>
              <p:nvPr/>
            </p:nvCxnSpPr>
            <p:spPr>
              <a:xfrm>
                <a:off x="5460687" y="2691892"/>
                <a:ext cx="45250" cy="29575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8DD8D1AF-D519-812D-8ECE-EF2FD17EE3D1}"/>
                  </a:ext>
                </a:extLst>
              </p:cNvPr>
              <p:cNvCxnSpPr/>
              <p:nvPr/>
            </p:nvCxnSpPr>
            <p:spPr>
              <a:xfrm flipH="1" flipV="1">
                <a:off x="5046450" y="1998261"/>
                <a:ext cx="331494" cy="461944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0F20B876-743E-EAE6-77A5-6463DBE2DD1F}"/>
                  </a:ext>
                </a:extLst>
              </p:cNvPr>
              <p:cNvCxnSpPr/>
              <p:nvPr/>
            </p:nvCxnSpPr>
            <p:spPr>
              <a:xfrm flipH="1">
                <a:off x="5358269" y="1728362"/>
                <a:ext cx="38326" cy="73184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298F44D-FD86-9D93-6E39-7B81D15382BD}"/>
                  </a:ext>
                </a:extLst>
              </p:cNvPr>
              <p:cNvCxnSpPr/>
              <p:nvPr/>
            </p:nvCxnSpPr>
            <p:spPr>
              <a:xfrm flipV="1">
                <a:off x="5369214" y="2176842"/>
                <a:ext cx="436907" cy="28336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2BE5FC7D-8AED-B93E-EC19-3D037F5D2864}"/>
                  </a:ext>
                </a:extLst>
              </p:cNvPr>
              <p:cNvCxnSpPr/>
              <p:nvPr/>
            </p:nvCxnSpPr>
            <p:spPr>
              <a:xfrm>
                <a:off x="5442741" y="1721262"/>
                <a:ext cx="361776" cy="46799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3EAD351-3F47-06FC-B602-DEC8AAC22A1E}"/>
                  </a:ext>
                </a:extLst>
              </p:cNvPr>
              <p:cNvCxnSpPr/>
              <p:nvPr/>
            </p:nvCxnSpPr>
            <p:spPr>
              <a:xfrm flipH="1">
                <a:off x="5791453" y="1545097"/>
                <a:ext cx="272787" cy="63150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2ED74699-55EB-A670-16FD-EC2540F62A2D}"/>
                  </a:ext>
                </a:extLst>
              </p:cNvPr>
              <p:cNvCxnSpPr/>
              <p:nvPr/>
            </p:nvCxnSpPr>
            <p:spPr>
              <a:xfrm>
                <a:off x="6078550" y="1544854"/>
                <a:ext cx="165859" cy="58311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94C8FBB-CA28-41AB-D406-E9DFFBFE756B}"/>
                  </a:ext>
                </a:extLst>
              </p:cNvPr>
              <p:cNvCxnSpPr/>
              <p:nvPr/>
            </p:nvCxnSpPr>
            <p:spPr>
              <a:xfrm flipH="1">
                <a:off x="6268895" y="1812146"/>
                <a:ext cx="432758" cy="315824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63F9EBF2-D973-740F-C731-F942CDC459CB}"/>
                  </a:ext>
                </a:extLst>
              </p:cNvPr>
              <p:cNvCxnSpPr/>
              <p:nvPr/>
            </p:nvCxnSpPr>
            <p:spPr>
              <a:xfrm flipH="1" flipV="1">
                <a:off x="6222965" y="2127970"/>
                <a:ext cx="838390" cy="10108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6D9DF55C-A01C-86F2-D650-E94910A9169B}"/>
                  </a:ext>
                </a:extLst>
              </p:cNvPr>
              <p:cNvCxnSpPr/>
              <p:nvPr/>
            </p:nvCxnSpPr>
            <p:spPr>
              <a:xfrm>
                <a:off x="5951453" y="2626814"/>
                <a:ext cx="315891" cy="583825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DBADE209-2051-D010-ACF6-D50B1B4AEBDF}"/>
                  </a:ext>
                </a:extLst>
              </p:cNvPr>
              <p:cNvCxnSpPr/>
              <p:nvPr/>
            </p:nvCxnSpPr>
            <p:spPr>
              <a:xfrm flipV="1">
                <a:off x="5955481" y="2142494"/>
                <a:ext cx="297384" cy="484319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A7304FA5-862E-2745-04A9-BB002886BE37}"/>
                  </a:ext>
                </a:extLst>
              </p:cNvPr>
              <p:cNvCxnSpPr/>
              <p:nvPr/>
            </p:nvCxnSpPr>
            <p:spPr>
              <a:xfrm flipV="1">
                <a:off x="5823080" y="2142494"/>
                <a:ext cx="413894" cy="34105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2442AD8B-2BCF-A733-C559-F2BA0972F14F}"/>
                  </a:ext>
                </a:extLst>
              </p:cNvPr>
              <p:cNvCxnSpPr/>
              <p:nvPr/>
            </p:nvCxnSpPr>
            <p:spPr>
              <a:xfrm>
                <a:off x="6258929" y="2137145"/>
                <a:ext cx="518246" cy="314314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9B0BB45-0DEF-ED27-F97D-DBAE9CF702DF}"/>
                  </a:ext>
                </a:extLst>
              </p:cNvPr>
              <p:cNvCxnSpPr/>
              <p:nvPr/>
            </p:nvCxnSpPr>
            <p:spPr>
              <a:xfrm flipH="1">
                <a:off x="6796760" y="2229057"/>
                <a:ext cx="279115" cy="21314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19F3F96-E490-F61B-B1FB-45A0C5C20892}"/>
                  </a:ext>
                </a:extLst>
              </p:cNvPr>
              <p:cNvCxnSpPr/>
              <p:nvPr/>
            </p:nvCxnSpPr>
            <p:spPr>
              <a:xfrm>
                <a:off x="6763857" y="2464323"/>
                <a:ext cx="297497" cy="42602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A11C4ADE-469E-76E1-F549-8110C69B91E7}"/>
                  </a:ext>
                </a:extLst>
              </p:cNvPr>
              <p:cNvCxnSpPr/>
              <p:nvPr/>
            </p:nvCxnSpPr>
            <p:spPr>
              <a:xfrm flipV="1">
                <a:off x="6468879" y="2453261"/>
                <a:ext cx="308910" cy="25657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478EBE1-AAB6-7294-4CAB-E6B54A650EB3}"/>
                  </a:ext>
                </a:extLst>
              </p:cNvPr>
              <p:cNvCxnSpPr/>
              <p:nvPr/>
            </p:nvCxnSpPr>
            <p:spPr>
              <a:xfrm>
                <a:off x="6267344" y="2150093"/>
                <a:ext cx="191716" cy="55974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61AB774-383E-9029-520B-E9F682C54CF0}"/>
                  </a:ext>
                </a:extLst>
              </p:cNvPr>
              <p:cNvCxnSpPr/>
              <p:nvPr/>
            </p:nvCxnSpPr>
            <p:spPr>
              <a:xfrm flipH="1" flipV="1">
                <a:off x="5800527" y="2172490"/>
                <a:ext cx="163662" cy="44248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D1086CF0-4FB6-E406-EE5F-A055EBB5FA9E}"/>
                  </a:ext>
                </a:extLst>
              </p:cNvPr>
              <p:cNvCxnSpPr/>
              <p:nvPr/>
            </p:nvCxnSpPr>
            <p:spPr>
              <a:xfrm flipV="1">
                <a:off x="5443793" y="2638651"/>
                <a:ext cx="493125" cy="5883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94C103EB-F541-4BC8-7B69-59DDB6B969CB}"/>
                  </a:ext>
                </a:extLst>
              </p:cNvPr>
              <p:cNvCxnSpPr/>
              <p:nvPr/>
            </p:nvCxnSpPr>
            <p:spPr>
              <a:xfrm>
                <a:off x="5354198" y="2464323"/>
                <a:ext cx="562090" cy="160164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0EBEA414-F4B2-3427-4234-EC394D77B029}"/>
                  </a:ext>
                </a:extLst>
              </p:cNvPr>
              <p:cNvCxnSpPr/>
              <p:nvPr/>
            </p:nvCxnSpPr>
            <p:spPr>
              <a:xfrm flipV="1">
                <a:off x="5981770" y="2458732"/>
                <a:ext cx="767441" cy="17981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7B9F4733-7888-5242-89B3-98CAE22D0657}"/>
                  </a:ext>
                </a:extLst>
              </p:cNvPr>
              <p:cNvCxnSpPr/>
              <p:nvPr/>
            </p:nvCxnSpPr>
            <p:spPr>
              <a:xfrm>
                <a:off x="5971041" y="2650381"/>
                <a:ext cx="492339" cy="66725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347022E-2089-89FF-C016-CA11D89164F9}"/>
                  </a:ext>
                </a:extLst>
              </p:cNvPr>
              <p:cNvCxnSpPr/>
              <p:nvPr/>
            </p:nvCxnSpPr>
            <p:spPr>
              <a:xfrm flipH="1" flipV="1">
                <a:off x="5170294" y="2791703"/>
                <a:ext cx="350013" cy="19365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AAEDF1BB-E207-F526-EF88-57A7F745E47B}"/>
                  </a:ext>
                </a:extLst>
              </p:cNvPr>
              <p:cNvCxnSpPr/>
              <p:nvPr/>
            </p:nvCxnSpPr>
            <p:spPr>
              <a:xfrm flipV="1">
                <a:off x="4984068" y="2982116"/>
                <a:ext cx="502232" cy="27325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A794152-2405-4927-FFB7-FBD9A5DFA894}"/>
                  </a:ext>
                </a:extLst>
              </p:cNvPr>
              <p:cNvCxnSpPr/>
              <p:nvPr/>
            </p:nvCxnSpPr>
            <p:spPr>
              <a:xfrm>
                <a:off x="5009678" y="3255367"/>
                <a:ext cx="579969" cy="251905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F6B62782-8050-9413-0272-78F722965334}"/>
                  </a:ext>
                </a:extLst>
              </p:cNvPr>
              <p:cNvCxnSpPr/>
              <p:nvPr/>
            </p:nvCxnSpPr>
            <p:spPr>
              <a:xfrm flipV="1">
                <a:off x="5312063" y="3507272"/>
                <a:ext cx="253114" cy="418062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E32A6224-3E0C-316F-20AA-E277E6E55BD2}"/>
                  </a:ext>
                </a:extLst>
              </p:cNvPr>
              <p:cNvCxnSpPr/>
              <p:nvPr/>
            </p:nvCxnSpPr>
            <p:spPr>
              <a:xfrm flipH="1" flipV="1">
                <a:off x="5568935" y="3508706"/>
                <a:ext cx="143924" cy="51931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4F3C0267-5713-5A99-F9FB-581DBB54C636}"/>
                  </a:ext>
                </a:extLst>
              </p:cNvPr>
              <p:cNvCxnSpPr/>
              <p:nvPr/>
            </p:nvCxnSpPr>
            <p:spPr>
              <a:xfrm flipV="1">
                <a:off x="5436326" y="4028019"/>
                <a:ext cx="285930" cy="336774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4B84B24B-3DF7-B6E6-8EC6-1FCEBE3DC424}"/>
                  </a:ext>
                </a:extLst>
              </p:cNvPr>
              <p:cNvCxnSpPr/>
              <p:nvPr/>
            </p:nvCxnSpPr>
            <p:spPr>
              <a:xfrm>
                <a:off x="5731751" y="4040560"/>
                <a:ext cx="271109" cy="33603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2EF97BD-2FCE-C6E9-D9DD-BC89CAE3C79E}"/>
                  </a:ext>
                </a:extLst>
              </p:cNvPr>
              <p:cNvCxnSpPr/>
              <p:nvPr/>
            </p:nvCxnSpPr>
            <p:spPr>
              <a:xfrm flipV="1">
                <a:off x="5980145" y="3646755"/>
                <a:ext cx="0" cy="71803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CB6D2768-C522-C790-1437-F0DD4C51DB1D}"/>
                  </a:ext>
                </a:extLst>
              </p:cNvPr>
              <p:cNvCxnSpPr/>
              <p:nvPr/>
            </p:nvCxnSpPr>
            <p:spPr>
              <a:xfrm>
                <a:off x="5964189" y="2638543"/>
                <a:ext cx="0" cy="58582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248FB58-BDE4-B43E-4628-3FD12DCCE7EA}"/>
                  </a:ext>
                </a:extLst>
              </p:cNvPr>
              <p:cNvCxnSpPr/>
              <p:nvPr/>
            </p:nvCxnSpPr>
            <p:spPr>
              <a:xfrm>
                <a:off x="5505937" y="2982116"/>
                <a:ext cx="496924" cy="664639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01FD98A-0658-3A82-0ABA-FCF235AD59AC}"/>
                  </a:ext>
                </a:extLst>
              </p:cNvPr>
              <p:cNvCxnSpPr/>
              <p:nvPr/>
            </p:nvCxnSpPr>
            <p:spPr>
              <a:xfrm flipH="1" flipV="1">
                <a:off x="5971041" y="3212073"/>
                <a:ext cx="20698" cy="432284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D4258C80-8F06-C507-00A2-9E773B5827A5}"/>
                  </a:ext>
                </a:extLst>
              </p:cNvPr>
              <p:cNvCxnSpPr/>
              <p:nvPr/>
            </p:nvCxnSpPr>
            <p:spPr>
              <a:xfrm>
                <a:off x="6485274" y="2728943"/>
                <a:ext cx="96764" cy="42933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CA939C90-C113-03E8-A803-E7BE728F1D99}"/>
                  </a:ext>
                </a:extLst>
              </p:cNvPr>
              <p:cNvCxnSpPr/>
              <p:nvPr/>
            </p:nvCxnSpPr>
            <p:spPr>
              <a:xfrm flipV="1">
                <a:off x="6578656" y="2451459"/>
                <a:ext cx="193124" cy="70682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D32AB362-34DE-ECCF-EF0F-851A06E33B1E}"/>
                  </a:ext>
                </a:extLst>
              </p:cNvPr>
              <p:cNvCxnSpPr/>
              <p:nvPr/>
            </p:nvCxnSpPr>
            <p:spPr>
              <a:xfrm flipV="1">
                <a:off x="6276482" y="2728943"/>
                <a:ext cx="190780" cy="49542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CF7E2B0-585C-3140-D2A0-15545607D59A}"/>
                  </a:ext>
                </a:extLst>
              </p:cNvPr>
              <p:cNvCxnSpPr/>
              <p:nvPr/>
            </p:nvCxnSpPr>
            <p:spPr>
              <a:xfrm flipV="1">
                <a:off x="5523949" y="2708886"/>
                <a:ext cx="930829" cy="25995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E74D2D02-28CF-D8BC-B4CF-E941C4309F0B}"/>
                  </a:ext>
                </a:extLst>
              </p:cNvPr>
              <p:cNvCxnSpPr/>
              <p:nvPr/>
            </p:nvCxnSpPr>
            <p:spPr>
              <a:xfrm flipH="1" flipV="1">
                <a:off x="5961667" y="3619808"/>
                <a:ext cx="384555" cy="444519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3C938C6A-4FE2-9231-3A9B-665BB3CF9783}"/>
                  </a:ext>
                </a:extLst>
              </p:cNvPr>
              <p:cNvCxnSpPr/>
              <p:nvPr/>
            </p:nvCxnSpPr>
            <p:spPr>
              <a:xfrm flipV="1">
                <a:off x="6007431" y="4049017"/>
                <a:ext cx="341269" cy="30866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27F5F3CB-522F-C182-7A22-EB7B5E8F6151}"/>
                  </a:ext>
                </a:extLst>
              </p:cNvPr>
              <p:cNvCxnSpPr/>
              <p:nvPr/>
            </p:nvCxnSpPr>
            <p:spPr>
              <a:xfrm>
                <a:off x="6338757" y="3659296"/>
                <a:ext cx="299586" cy="18162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5B814C9A-EA0B-308E-42EC-4C48F809A26E}"/>
                  </a:ext>
                </a:extLst>
              </p:cNvPr>
              <p:cNvCxnSpPr/>
              <p:nvPr/>
            </p:nvCxnSpPr>
            <p:spPr>
              <a:xfrm flipH="1">
                <a:off x="6338757" y="3668444"/>
                <a:ext cx="9943" cy="39450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7190CB53-B10E-9BD7-40CE-174A74E63BDF}"/>
                  </a:ext>
                </a:extLst>
              </p:cNvPr>
              <p:cNvCxnSpPr/>
              <p:nvPr/>
            </p:nvCxnSpPr>
            <p:spPr>
              <a:xfrm>
                <a:off x="6263895" y="3228456"/>
                <a:ext cx="90999" cy="43998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183FDD2-C1FE-EC11-8C97-953DDA8B65B6}"/>
                  </a:ext>
                </a:extLst>
              </p:cNvPr>
              <p:cNvCxnSpPr/>
              <p:nvPr/>
            </p:nvCxnSpPr>
            <p:spPr>
              <a:xfrm flipV="1">
                <a:off x="5580713" y="3232828"/>
                <a:ext cx="390290" cy="266587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4CDD431-8B4D-F141-3BDB-426C667EA5CF}"/>
                  </a:ext>
                </a:extLst>
              </p:cNvPr>
              <p:cNvCxnSpPr/>
              <p:nvPr/>
            </p:nvCxnSpPr>
            <p:spPr>
              <a:xfrm>
                <a:off x="5496539" y="2984830"/>
                <a:ext cx="492359" cy="25173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FD41105F-D1FE-7000-2D7F-4F1475DCB5F2}"/>
                  </a:ext>
                </a:extLst>
              </p:cNvPr>
              <p:cNvCxnSpPr/>
              <p:nvPr/>
            </p:nvCxnSpPr>
            <p:spPr>
              <a:xfrm>
                <a:off x="5979171" y="3220748"/>
                <a:ext cx="286190" cy="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AE2CCF2B-9879-30C4-0A84-C5D5A3ED55A3}"/>
                  </a:ext>
                </a:extLst>
              </p:cNvPr>
              <p:cNvCxnSpPr/>
              <p:nvPr/>
            </p:nvCxnSpPr>
            <p:spPr>
              <a:xfrm flipV="1">
                <a:off x="6002860" y="3210639"/>
                <a:ext cx="273622" cy="422323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6D72FC95-E7E5-C655-28C7-3D55B6B0A1C4}"/>
                  </a:ext>
                </a:extLst>
              </p:cNvPr>
              <p:cNvCxnSpPr/>
              <p:nvPr/>
            </p:nvCxnSpPr>
            <p:spPr>
              <a:xfrm flipV="1">
                <a:off x="5724992" y="3636725"/>
                <a:ext cx="235599" cy="409089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361C1374-77B9-F9D6-BAC4-2EA8B9EE07A2}"/>
                  </a:ext>
                </a:extLst>
              </p:cNvPr>
              <p:cNvCxnSpPr/>
              <p:nvPr/>
            </p:nvCxnSpPr>
            <p:spPr>
              <a:xfrm flipV="1">
                <a:off x="5304451" y="3615724"/>
                <a:ext cx="672942" cy="346934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F69C3FD8-9EB8-5947-DFDF-50CDDCB9993C}"/>
                  </a:ext>
                </a:extLst>
              </p:cNvPr>
              <p:cNvCxnSpPr/>
              <p:nvPr/>
            </p:nvCxnSpPr>
            <p:spPr>
              <a:xfrm>
                <a:off x="5320956" y="3971950"/>
                <a:ext cx="1022510" cy="9237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DBE3D975-2AC7-61E4-ACEB-2E7DCD9EA085}"/>
                  </a:ext>
                </a:extLst>
              </p:cNvPr>
              <p:cNvCxnSpPr/>
              <p:nvPr/>
            </p:nvCxnSpPr>
            <p:spPr>
              <a:xfrm flipH="1">
                <a:off x="6346222" y="3414241"/>
                <a:ext cx="499314" cy="27052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01379E5D-1684-B487-A302-0CD29776BC9E}"/>
                  </a:ext>
                </a:extLst>
              </p:cNvPr>
              <p:cNvCxnSpPr/>
              <p:nvPr/>
            </p:nvCxnSpPr>
            <p:spPr>
              <a:xfrm flipV="1">
                <a:off x="5579511" y="3432465"/>
                <a:ext cx="1273491" cy="7064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D8B9F3E3-5F5C-5B40-E6A2-265A36A63047}"/>
                  </a:ext>
                </a:extLst>
              </p:cNvPr>
              <p:cNvCxnSpPr/>
              <p:nvPr/>
            </p:nvCxnSpPr>
            <p:spPr>
              <a:xfrm>
                <a:off x="5447581" y="4356121"/>
                <a:ext cx="544159" cy="1002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423F0206-BD26-C144-C205-4B180CF71201}"/>
                  </a:ext>
                </a:extLst>
              </p:cNvPr>
              <p:cNvCxnSpPr/>
              <p:nvPr/>
            </p:nvCxnSpPr>
            <p:spPr>
              <a:xfrm>
                <a:off x="5998499" y="4360458"/>
                <a:ext cx="326678" cy="10550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F93EE765-63D6-AB9B-716A-315FC263FCFF}"/>
                  </a:ext>
                </a:extLst>
              </p:cNvPr>
              <p:cNvCxnSpPr/>
              <p:nvPr/>
            </p:nvCxnSpPr>
            <p:spPr>
              <a:xfrm flipV="1">
                <a:off x="6327763" y="4312160"/>
                <a:ext cx="264162" cy="63185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7C366BE0-6A8F-F9C5-22AD-7C2B742E464D}"/>
                  </a:ext>
                </a:extLst>
              </p:cNvPr>
              <p:cNvCxnSpPr/>
              <p:nvPr/>
            </p:nvCxnSpPr>
            <p:spPr>
              <a:xfrm flipH="1">
                <a:off x="6325177" y="4049017"/>
                <a:ext cx="12393" cy="317124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97DC8869-6970-7149-F9A1-E8182D42D5B6}"/>
                  </a:ext>
                </a:extLst>
              </p:cNvPr>
              <p:cNvCxnSpPr/>
              <p:nvPr/>
            </p:nvCxnSpPr>
            <p:spPr>
              <a:xfrm>
                <a:off x="6339518" y="4050282"/>
                <a:ext cx="233863" cy="261878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937AEBB2-599A-8898-82A8-338796E395D3}"/>
                  </a:ext>
                </a:extLst>
              </p:cNvPr>
              <p:cNvCxnSpPr/>
              <p:nvPr/>
            </p:nvCxnSpPr>
            <p:spPr>
              <a:xfrm flipV="1">
                <a:off x="6359970" y="3854229"/>
                <a:ext cx="290379" cy="203076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0F22B38-9F8B-0605-FFCF-3D0C315E806F}"/>
                </a:ext>
              </a:extLst>
            </p:cNvPr>
            <p:cNvGrpSpPr/>
            <p:nvPr/>
          </p:nvGrpSpPr>
          <p:grpSpPr>
            <a:xfrm>
              <a:off x="4900076" y="1870579"/>
              <a:ext cx="1962564" cy="2711597"/>
              <a:chOff x="5330055" y="2173721"/>
              <a:chExt cx="1400918" cy="1935594"/>
            </a:xfrm>
            <a:solidFill>
              <a:schemeClr val="bg1">
                <a:lumMod val="75000"/>
              </a:schemeClr>
            </a:solidFill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7FB1C06-8F15-BDF7-1FF0-A08698D714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36808" y="2620714"/>
                <a:ext cx="94165" cy="941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EFC26B6-F91E-8E4C-6DD7-0B5137A991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49460" y="2274670"/>
                <a:ext cx="117706" cy="11770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BDFED4A-9F2C-77BF-8E05-19182A102B8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16818" y="3385440"/>
                <a:ext cx="94165" cy="941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A1BB0C4-87CF-A49E-6A35-5FDB1F8843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14356" y="2173721"/>
                <a:ext cx="81644" cy="816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CE6D05B-BA2B-26A8-A57C-1773AE44C3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74957" y="4018781"/>
                <a:ext cx="81644" cy="816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CDC83A8-8CC9-6A72-F52B-2B9AE7EFBA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30055" y="2470055"/>
                <a:ext cx="81644" cy="816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8E23A9C-69BC-B93B-D8CC-61E4076AE5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01522" y="2338261"/>
                <a:ext cx="101822" cy="1018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87B644-3B91-E652-D23A-B43D739F46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91599" y="4017582"/>
                <a:ext cx="81644" cy="816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000">
                    <a:solidFill>
                      <a:schemeClr val="bg1"/>
                    </a:solidFill>
                    <a:latin typeface="FontAwesome" pitchFamily="2" charset="0"/>
                  </a:rPr>
                  <a:t>0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8EDF887-371C-2444-F84A-ABC9D47FFE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03887" y="3754166"/>
                <a:ext cx="101822" cy="1018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F53BD197-97FC-FC1D-CA47-D361D751A7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7899" y="2844911"/>
                <a:ext cx="154645" cy="15464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DA59E36-4AF3-B8A6-16B0-13A4C7C7F5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44638" y="3115561"/>
                <a:ext cx="106856" cy="10685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7492B68-AFB5-4E66-6637-DC68542444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06319" y="2923635"/>
                <a:ext cx="81644" cy="816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BDF30D1-68E3-4B33-3410-15430C88FF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34075" y="3275461"/>
                <a:ext cx="81644" cy="816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9E13DEC-788E-ECAF-DB96-05E752072D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65177" y="2949207"/>
                <a:ext cx="81644" cy="816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753B5E5C-0DE9-12EA-6030-0B9AF51F7B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7077" y="2586833"/>
                <a:ext cx="81644" cy="816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DEF28D0-D8DE-1493-15C5-48CCDF8B22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08690" y="4033019"/>
                <a:ext cx="66207" cy="6620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67CDACE-7BF4-3E30-BADD-D9C689D372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35251" y="4007493"/>
                <a:ext cx="101822" cy="1018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EF698D59-DC6B-0418-45C5-84AFD84F90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79055" y="3805077"/>
                <a:ext cx="101822" cy="1018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4C7506A7-AC1D-30B3-906F-8DAA2305637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11609" y="3481568"/>
                <a:ext cx="154645" cy="15464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8411CC7-371C-DA6D-728C-6B41C6538D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35503" y="3250249"/>
                <a:ext cx="106856" cy="10685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9FD78E4-D181-C094-E6AA-ADB031F944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07378" y="2990029"/>
                <a:ext cx="81644" cy="816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8FBE28F-CC60-1EF6-7368-43858BA210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54798" y="2762041"/>
                <a:ext cx="101822" cy="1018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D5CA25D-1790-1451-02A5-5177E868AF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03821" y="2544811"/>
                <a:ext cx="101822" cy="1018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684FAD2F-E496-8078-E50B-4EBFA1AF2F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62121" y="2762041"/>
                <a:ext cx="101822" cy="1018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3EC1FF6-3698-F876-442A-D32CD9DEFE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27312" y="3210835"/>
                <a:ext cx="101822" cy="1018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9E2315A-8FC0-3355-AF6A-264FB260D3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6778" y="3434014"/>
                <a:ext cx="101822" cy="10182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5D17ADF8-2AA0-E567-B92D-2130CDA938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196862" y="3546740"/>
                <a:ext cx="66207" cy="6620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360FC20-705B-A218-5968-0D08C6E5D8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92191" y="3805077"/>
                <a:ext cx="66207" cy="6620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000">
                  <a:solidFill>
                    <a:schemeClr val="bg1"/>
                  </a:solidFill>
                  <a:latin typeface="FontAwesome" pitchFamily="2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6A2FACC-413C-CCEA-E132-9E5A5B6BF52F}"/>
                </a:ext>
              </a:extLst>
            </p:cNvPr>
            <p:cNvGrpSpPr/>
            <p:nvPr/>
          </p:nvGrpSpPr>
          <p:grpSpPr>
            <a:xfrm>
              <a:off x="5285258" y="4645588"/>
              <a:ext cx="1039220" cy="950713"/>
              <a:chOff x="5408480" y="4511869"/>
              <a:chExt cx="1134411" cy="1037797"/>
            </a:xfrm>
            <a:solidFill>
              <a:schemeClr val="bg1">
                <a:lumMod val="75000"/>
              </a:schemeClr>
            </a:solidFill>
          </p:grpSpPr>
          <p:sp>
            <p:nvSpPr>
              <p:cNvPr id="16" name="Freeform 81">
                <a:extLst>
                  <a:ext uri="{FF2B5EF4-FFF2-40B4-BE49-F238E27FC236}">
                    <a16:creationId xmlns:a16="http://schemas.microsoft.com/office/drawing/2014/main" id="{87F4EB2B-EB05-9874-F7DD-87624EBA82BA}"/>
                  </a:ext>
                </a:extLst>
              </p:cNvPr>
              <p:cNvSpPr/>
              <p:nvPr/>
            </p:nvSpPr>
            <p:spPr>
              <a:xfrm>
                <a:off x="5464289" y="4511869"/>
                <a:ext cx="1028142" cy="964410"/>
              </a:xfrm>
              <a:custGeom>
                <a:avLst/>
                <a:gdLst>
                  <a:gd name="connsiteX0" fmla="*/ 0 w 672200"/>
                  <a:gd name="connsiteY0" fmla="*/ 0 h 630649"/>
                  <a:gd name="connsiteX1" fmla="*/ 671846 w 672200"/>
                  <a:gd name="connsiteY1" fmla="*/ 0 h 630649"/>
                  <a:gd name="connsiteX2" fmla="*/ 672200 w 672200"/>
                  <a:gd name="connsiteY2" fmla="*/ 32054 h 630649"/>
                  <a:gd name="connsiteX3" fmla="*/ 657576 w 672200"/>
                  <a:gd name="connsiteY3" fmla="*/ 470997 h 630649"/>
                  <a:gd name="connsiteX4" fmla="*/ 493887 w 672200"/>
                  <a:gd name="connsiteY4" fmla="*/ 626220 h 630649"/>
                  <a:gd name="connsiteX5" fmla="*/ 200376 w 672200"/>
                  <a:gd name="connsiteY5" fmla="*/ 629042 h 630649"/>
                  <a:gd name="connsiteX6" fmla="*/ 31043 w 672200"/>
                  <a:gd name="connsiteY6" fmla="*/ 487931 h 630649"/>
                  <a:gd name="connsiteX7" fmla="*/ 213 w 672200"/>
                  <a:gd name="connsiteY7" fmla="*/ 53019 h 630649"/>
                  <a:gd name="connsiteX0" fmla="*/ 0 w 672200"/>
                  <a:gd name="connsiteY0" fmla="*/ 0 h 630649"/>
                  <a:gd name="connsiteX1" fmla="*/ 671846 w 672200"/>
                  <a:gd name="connsiteY1" fmla="*/ 0 h 630649"/>
                  <a:gd name="connsiteX2" fmla="*/ 672200 w 672200"/>
                  <a:gd name="connsiteY2" fmla="*/ 32054 h 630649"/>
                  <a:gd name="connsiteX3" fmla="*/ 657576 w 672200"/>
                  <a:gd name="connsiteY3" fmla="*/ 470997 h 630649"/>
                  <a:gd name="connsiteX4" fmla="*/ 493887 w 672200"/>
                  <a:gd name="connsiteY4" fmla="*/ 626220 h 630649"/>
                  <a:gd name="connsiteX5" fmla="*/ 200376 w 672200"/>
                  <a:gd name="connsiteY5" fmla="*/ 629042 h 630649"/>
                  <a:gd name="connsiteX6" fmla="*/ 31043 w 672200"/>
                  <a:gd name="connsiteY6" fmla="*/ 487931 h 630649"/>
                  <a:gd name="connsiteX7" fmla="*/ 231194 w 672200"/>
                  <a:gd name="connsiteY7" fmla="*/ 129219 h 630649"/>
                  <a:gd name="connsiteX8" fmla="*/ 0 w 672200"/>
                  <a:gd name="connsiteY8" fmla="*/ 0 h 630649"/>
                  <a:gd name="connsiteX0" fmla="*/ 46884 w 719084"/>
                  <a:gd name="connsiteY0" fmla="*/ 0 h 630649"/>
                  <a:gd name="connsiteX1" fmla="*/ 718730 w 719084"/>
                  <a:gd name="connsiteY1" fmla="*/ 0 h 630649"/>
                  <a:gd name="connsiteX2" fmla="*/ 719084 w 719084"/>
                  <a:gd name="connsiteY2" fmla="*/ 32054 h 630649"/>
                  <a:gd name="connsiteX3" fmla="*/ 704460 w 719084"/>
                  <a:gd name="connsiteY3" fmla="*/ 470997 h 630649"/>
                  <a:gd name="connsiteX4" fmla="*/ 540771 w 719084"/>
                  <a:gd name="connsiteY4" fmla="*/ 626220 h 630649"/>
                  <a:gd name="connsiteX5" fmla="*/ 247260 w 719084"/>
                  <a:gd name="connsiteY5" fmla="*/ 629042 h 630649"/>
                  <a:gd name="connsiteX6" fmla="*/ 77927 w 719084"/>
                  <a:gd name="connsiteY6" fmla="*/ 487931 h 630649"/>
                  <a:gd name="connsiteX7" fmla="*/ 46884 w 719084"/>
                  <a:gd name="connsiteY7" fmla="*/ 0 h 630649"/>
                  <a:gd name="connsiteX0" fmla="*/ 756 w 672956"/>
                  <a:gd name="connsiteY0" fmla="*/ 0 h 630649"/>
                  <a:gd name="connsiteX1" fmla="*/ 672602 w 672956"/>
                  <a:gd name="connsiteY1" fmla="*/ 0 h 630649"/>
                  <a:gd name="connsiteX2" fmla="*/ 672956 w 672956"/>
                  <a:gd name="connsiteY2" fmla="*/ 32054 h 630649"/>
                  <a:gd name="connsiteX3" fmla="*/ 658332 w 672956"/>
                  <a:gd name="connsiteY3" fmla="*/ 470997 h 630649"/>
                  <a:gd name="connsiteX4" fmla="*/ 494643 w 672956"/>
                  <a:gd name="connsiteY4" fmla="*/ 626220 h 630649"/>
                  <a:gd name="connsiteX5" fmla="*/ 201132 w 672956"/>
                  <a:gd name="connsiteY5" fmla="*/ 629042 h 630649"/>
                  <a:gd name="connsiteX6" fmla="*/ 31799 w 672956"/>
                  <a:gd name="connsiteY6" fmla="*/ 487931 h 630649"/>
                  <a:gd name="connsiteX7" fmla="*/ 756 w 672956"/>
                  <a:gd name="connsiteY7" fmla="*/ 0 h 630649"/>
                  <a:gd name="connsiteX0" fmla="*/ 124 w 672324"/>
                  <a:gd name="connsiteY0" fmla="*/ 0 h 630649"/>
                  <a:gd name="connsiteX1" fmla="*/ 671970 w 672324"/>
                  <a:gd name="connsiteY1" fmla="*/ 0 h 630649"/>
                  <a:gd name="connsiteX2" fmla="*/ 672324 w 672324"/>
                  <a:gd name="connsiteY2" fmla="*/ 32054 h 630649"/>
                  <a:gd name="connsiteX3" fmla="*/ 657700 w 672324"/>
                  <a:gd name="connsiteY3" fmla="*/ 470997 h 630649"/>
                  <a:gd name="connsiteX4" fmla="*/ 494011 w 672324"/>
                  <a:gd name="connsiteY4" fmla="*/ 626220 h 630649"/>
                  <a:gd name="connsiteX5" fmla="*/ 200500 w 672324"/>
                  <a:gd name="connsiteY5" fmla="*/ 629042 h 630649"/>
                  <a:gd name="connsiteX6" fmla="*/ 31167 w 672324"/>
                  <a:gd name="connsiteY6" fmla="*/ 487931 h 630649"/>
                  <a:gd name="connsiteX7" fmla="*/ 124 w 672324"/>
                  <a:gd name="connsiteY7" fmla="*/ 0 h 630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72324" h="630649">
                    <a:moveTo>
                      <a:pt x="124" y="0"/>
                    </a:moveTo>
                    <a:lnTo>
                      <a:pt x="671970" y="0"/>
                    </a:lnTo>
                    <a:lnTo>
                      <a:pt x="672324" y="32054"/>
                    </a:lnTo>
                    <a:cubicBezTo>
                      <a:pt x="671950" y="155680"/>
                      <a:pt x="661404" y="375100"/>
                      <a:pt x="657700" y="470997"/>
                    </a:cubicBezTo>
                    <a:cubicBezTo>
                      <a:pt x="594200" y="541082"/>
                      <a:pt x="561744" y="571657"/>
                      <a:pt x="494011" y="626220"/>
                    </a:cubicBezTo>
                    <a:cubicBezTo>
                      <a:pt x="406522" y="621517"/>
                      <a:pt x="294575" y="635157"/>
                      <a:pt x="200500" y="629042"/>
                    </a:cubicBezTo>
                    <a:cubicBezTo>
                      <a:pt x="134647" y="580594"/>
                      <a:pt x="89963" y="547669"/>
                      <a:pt x="31167" y="487931"/>
                    </a:cubicBezTo>
                    <a:cubicBezTo>
                      <a:pt x="21583" y="380710"/>
                      <a:pt x="-1901" y="109897"/>
                      <a:pt x="12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12B47"/>
                  </a:gs>
                  <a:gs pos="100000">
                    <a:srgbClr val="0B0E5F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7" name="Rounded Rectangle 82">
                <a:extLst>
                  <a:ext uri="{FF2B5EF4-FFF2-40B4-BE49-F238E27FC236}">
                    <a16:creationId xmlns:a16="http://schemas.microsoft.com/office/drawing/2014/main" id="{E223B803-F1EC-A9E9-F8EC-B41482760F04}"/>
                  </a:ext>
                </a:extLst>
              </p:cNvPr>
              <p:cNvSpPr/>
              <p:nvPr/>
            </p:nvSpPr>
            <p:spPr>
              <a:xfrm>
                <a:off x="5408480" y="4647679"/>
                <a:ext cx="1134411" cy="10726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8" name="Rounded Rectangle 83">
                <a:extLst>
                  <a:ext uri="{FF2B5EF4-FFF2-40B4-BE49-F238E27FC236}">
                    <a16:creationId xmlns:a16="http://schemas.microsoft.com/office/drawing/2014/main" id="{46F0814D-D894-4358-8622-4C52E807969E}"/>
                  </a:ext>
                </a:extLst>
              </p:cNvPr>
              <p:cNvSpPr/>
              <p:nvPr/>
            </p:nvSpPr>
            <p:spPr>
              <a:xfrm>
                <a:off x="5408480" y="4781032"/>
                <a:ext cx="1134411" cy="10726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9" name="Rounded Rectangle 84">
                <a:extLst>
                  <a:ext uri="{FF2B5EF4-FFF2-40B4-BE49-F238E27FC236}">
                    <a16:creationId xmlns:a16="http://schemas.microsoft.com/office/drawing/2014/main" id="{E98C9BA7-F0C5-5908-A1EB-4FDA24DC1C03}"/>
                  </a:ext>
                </a:extLst>
              </p:cNvPr>
              <p:cNvSpPr/>
              <p:nvPr/>
            </p:nvSpPr>
            <p:spPr>
              <a:xfrm>
                <a:off x="5408480" y="4925056"/>
                <a:ext cx="1134411" cy="10726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0" name="Rounded Rectangle 85">
                <a:extLst>
                  <a:ext uri="{FF2B5EF4-FFF2-40B4-BE49-F238E27FC236}">
                    <a16:creationId xmlns:a16="http://schemas.microsoft.com/office/drawing/2014/main" id="{7599DB62-360C-44B9-248C-5B301D639387}"/>
                  </a:ext>
                </a:extLst>
              </p:cNvPr>
              <p:cNvSpPr/>
              <p:nvPr/>
            </p:nvSpPr>
            <p:spPr>
              <a:xfrm>
                <a:off x="5408480" y="5065557"/>
                <a:ext cx="1134411" cy="10726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1D93206-697D-3410-CEF3-CD64883FB877}"/>
                  </a:ext>
                </a:extLst>
              </p:cNvPr>
              <p:cNvSpPr/>
              <p:nvPr/>
            </p:nvSpPr>
            <p:spPr>
              <a:xfrm>
                <a:off x="5806853" y="5368691"/>
                <a:ext cx="371880" cy="1809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   </a:t>
                </a:r>
                <a:endParaRPr lang="id-ID"/>
              </a:p>
            </p:txBody>
          </p:sp>
        </p:grpSp>
      </p:grpSp>
      <p:sp>
        <p:nvSpPr>
          <p:cNvPr id="127" name="Oval 126">
            <a:extLst>
              <a:ext uri="{FF2B5EF4-FFF2-40B4-BE49-F238E27FC236}">
                <a16:creationId xmlns:a16="http://schemas.microsoft.com/office/drawing/2014/main" id="{82F274F7-A113-5817-5AB6-C548281C61A4}"/>
              </a:ext>
            </a:extLst>
          </p:cNvPr>
          <p:cNvSpPr>
            <a:spLocks noChangeAspect="1"/>
          </p:cNvSpPr>
          <p:nvPr/>
        </p:nvSpPr>
        <p:spPr>
          <a:xfrm>
            <a:off x="5397076" y="3917413"/>
            <a:ext cx="188850" cy="188850"/>
          </a:xfrm>
          <a:prstGeom prst="ellipse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2F4E2ADB-878D-2563-4FD5-ACF787DA03FB}"/>
              </a:ext>
            </a:extLst>
          </p:cNvPr>
          <p:cNvSpPr>
            <a:spLocks noChangeAspect="1"/>
          </p:cNvSpPr>
          <p:nvPr/>
        </p:nvSpPr>
        <p:spPr>
          <a:xfrm>
            <a:off x="6621169" y="4106263"/>
            <a:ext cx="173757" cy="173757"/>
          </a:xfrm>
          <a:prstGeom prst="ellipse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129" name="Oval 128">
            <a:extLst>
              <a:ext uri="{FF2B5EF4-FFF2-40B4-BE49-F238E27FC236}">
                <a16:creationId xmlns:a16="http://schemas.microsoft.com/office/drawing/2014/main" id="{E4DDE8C7-3853-903D-3CEF-F682A3F459ED}"/>
              </a:ext>
            </a:extLst>
          </p:cNvPr>
          <p:cNvSpPr>
            <a:spLocks noChangeAspect="1"/>
          </p:cNvSpPr>
          <p:nvPr/>
        </p:nvSpPr>
        <p:spPr>
          <a:xfrm>
            <a:off x="6394018" y="4567971"/>
            <a:ext cx="176526" cy="176526"/>
          </a:xfrm>
          <a:prstGeom prst="ellipse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2BB3CBA-7EA1-E110-990B-88F05827D3F3}"/>
              </a:ext>
            </a:extLst>
          </p:cNvPr>
          <p:cNvSpPr txBox="1"/>
          <p:nvPr/>
        </p:nvSpPr>
        <p:spPr>
          <a:xfrm>
            <a:off x="5313918" y="5653547"/>
            <a:ext cx="1564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/>
              <a:t>The Solution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CB938994-2E40-3602-75E4-70E79B017E1A}"/>
              </a:ext>
            </a:extLst>
          </p:cNvPr>
          <p:cNvSpPr>
            <a:spLocks noChangeAspect="1"/>
          </p:cNvSpPr>
          <p:nvPr/>
        </p:nvSpPr>
        <p:spPr>
          <a:xfrm>
            <a:off x="6007736" y="3929737"/>
            <a:ext cx="188850" cy="188850"/>
          </a:xfrm>
          <a:prstGeom prst="ellipse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7428DC81-E5AA-E252-A4EC-DB5C9F63B061}"/>
              </a:ext>
            </a:extLst>
          </p:cNvPr>
          <p:cNvSpPr>
            <a:spLocks noChangeAspect="1"/>
          </p:cNvSpPr>
          <p:nvPr/>
        </p:nvSpPr>
        <p:spPr>
          <a:xfrm>
            <a:off x="5692990" y="4656234"/>
            <a:ext cx="176526" cy="176526"/>
          </a:xfrm>
          <a:prstGeom prst="ellipse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EAFD823-C33F-D381-421E-1A25A944C7AF}"/>
              </a:ext>
            </a:extLst>
          </p:cNvPr>
          <p:cNvSpPr>
            <a:spLocks noChangeAspect="1"/>
          </p:cNvSpPr>
          <p:nvPr/>
        </p:nvSpPr>
        <p:spPr>
          <a:xfrm>
            <a:off x="6095999" y="3386949"/>
            <a:ext cx="176526" cy="176526"/>
          </a:xfrm>
          <a:prstGeom prst="ellipse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0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A097E41-A838-32DF-7960-7106761B57C0}"/>
              </a:ext>
            </a:extLst>
          </p:cNvPr>
          <p:cNvSpPr txBox="1"/>
          <p:nvPr/>
        </p:nvSpPr>
        <p:spPr>
          <a:xfrm>
            <a:off x="5025230" y="3660126"/>
            <a:ext cx="667760" cy="238363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Feature 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9EE608F-1912-4962-A261-0894DAED9C2A}"/>
              </a:ext>
            </a:extLst>
          </p:cNvPr>
          <p:cNvSpPr txBox="1"/>
          <p:nvPr/>
        </p:nvSpPr>
        <p:spPr>
          <a:xfrm>
            <a:off x="6168743" y="3595020"/>
            <a:ext cx="667760" cy="238363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Feature 4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F58C38E-30CE-D155-EA3E-F286D4162115}"/>
              </a:ext>
            </a:extLst>
          </p:cNvPr>
          <p:cNvSpPr txBox="1"/>
          <p:nvPr/>
        </p:nvSpPr>
        <p:spPr>
          <a:xfrm>
            <a:off x="6461046" y="4254243"/>
            <a:ext cx="667760" cy="238363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Feature 3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B89541E-8C1F-4467-1457-6DF05FED1AC5}"/>
              </a:ext>
            </a:extLst>
          </p:cNvPr>
          <p:cNvSpPr txBox="1"/>
          <p:nvPr/>
        </p:nvSpPr>
        <p:spPr>
          <a:xfrm>
            <a:off x="5561866" y="4785796"/>
            <a:ext cx="667760" cy="238363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Feature 2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C1BF2B7-75F8-A8C5-6060-23F063CDE6B7}"/>
              </a:ext>
            </a:extLst>
          </p:cNvPr>
          <p:cNvSpPr txBox="1"/>
          <p:nvPr/>
        </p:nvSpPr>
        <p:spPr>
          <a:xfrm>
            <a:off x="5741118" y="4100149"/>
            <a:ext cx="667760" cy="238363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/>
              <a:t>Feature n</a:t>
            </a:r>
          </a:p>
        </p:txBody>
      </p:sp>
      <p:sp>
        <p:nvSpPr>
          <p:cNvPr id="140" name="Isosceles Triangle 139">
            <a:extLst>
              <a:ext uri="{FF2B5EF4-FFF2-40B4-BE49-F238E27FC236}">
                <a16:creationId xmlns:a16="http://schemas.microsoft.com/office/drawing/2014/main" id="{A2D665D7-7123-2F75-D48C-A7C24A8FD74B}"/>
              </a:ext>
            </a:extLst>
          </p:cNvPr>
          <p:cNvSpPr/>
          <p:nvPr/>
        </p:nvSpPr>
        <p:spPr>
          <a:xfrm rot="5400000">
            <a:off x="4278596" y="4178033"/>
            <a:ext cx="1285453" cy="257401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1" name="Isosceles Triangle 140">
            <a:extLst>
              <a:ext uri="{FF2B5EF4-FFF2-40B4-BE49-F238E27FC236}">
                <a16:creationId xmlns:a16="http://schemas.microsoft.com/office/drawing/2014/main" id="{4253D72C-C279-87E9-73A8-F9EF02A9F2B1}"/>
              </a:ext>
            </a:extLst>
          </p:cNvPr>
          <p:cNvSpPr/>
          <p:nvPr/>
        </p:nvSpPr>
        <p:spPr>
          <a:xfrm rot="5400000">
            <a:off x="6665069" y="4252732"/>
            <a:ext cx="1285453" cy="257401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8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5A90-1DDF-20F7-AAE2-EA94E9B47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2D3F69-744D-98B7-9605-E8203DF375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709938"/>
          </a:xfrm>
        </p:spPr>
        <p:txBody>
          <a:bodyPr/>
          <a:lstStyle/>
          <a:p>
            <a:r>
              <a:rPr lang="en-US" sz="2400"/>
              <a:t>Transforming Fragmented Coverage Data into Enterprise Intelligence</a:t>
            </a:r>
          </a:p>
          <a:p>
            <a:r>
              <a:rPr lang="en-US" sz="1800"/>
              <a:t>Phased delivery with 3 releases — MVP in Q3 2026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3E271EDC-8B5C-83B8-0F33-30B0221A26DA}"/>
              </a:ext>
            </a:extLst>
          </p:cNvPr>
          <p:cNvSpPr/>
          <p:nvPr/>
        </p:nvSpPr>
        <p:spPr>
          <a:xfrm>
            <a:off x="243839" y="4810620"/>
            <a:ext cx="11704320" cy="330506"/>
          </a:xfrm>
          <a:prstGeom prst="round2SameRect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i="0" kern="1200">
                <a:solidFill>
                  <a:schemeClr val="bg1"/>
                </a:solidFill>
                <a:effectLst/>
                <a:latin typeface="Grandview" panose="020B0502040204020203" pitchFamily="34" charset="0"/>
                <a:ea typeface="+mn-ea"/>
                <a:cs typeface="+mn-cs"/>
              </a:rPr>
              <a:t>Release 1 | Key Deliverables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F41E65-C435-C870-D693-F3259D3345C5}"/>
              </a:ext>
            </a:extLst>
          </p:cNvPr>
          <p:cNvSpPr txBox="1"/>
          <p:nvPr/>
        </p:nvSpPr>
        <p:spPr>
          <a:xfrm>
            <a:off x="243840" y="5139645"/>
            <a:ext cx="11704320" cy="1308780"/>
          </a:xfrm>
          <a:prstGeom prst="rect">
            <a:avLst/>
          </a:prstGeom>
          <a:gradFill>
            <a:gsLst>
              <a:gs pos="0">
                <a:srgbClr val="D2D0E1"/>
              </a:gs>
              <a:gs pos="100000">
                <a:srgbClr val="EDD3D4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 b="1" i="0">
                <a:solidFill>
                  <a:srgbClr val="000000"/>
                </a:solidFill>
                <a:effectLst/>
                <a:latin typeface="Grandview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Aft>
                <a:spcPts val="400"/>
              </a:spcAft>
            </a:pPr>
            <a:endParaRPr lang="en-US" sz="120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D5928A-53AA-E3EC-807F-EF4A66075AC6}"/>
              </a:ext>
            </a:extLst>
          </p:cNvPr>
          <p:cNvSpPr/>
          <p:nvPr/>
        </p:nvSpPr>
        <p:spPr>
          <a:xfrm>
            <a:off x="476249" y="5276849"/>
            <a:ext cx="5486400" cy="4572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Formulary IQ App Live on Databricks: </a:t>
            </a:r>
            <a:r>
              <a:rPr lang="en-US" sz="1200">
                <a:solidFill>
                  <a:schemeClr val="tx1"/>
                </a:solidFill>
              </a:rPr>
              <a:t>A fully functional React app deployed and accessible to all permitted users across the commercial </a:t>
            </a:r>
            <a:r>
              <a:rPr lang="en-US" sz="1200" err="1">
                <a:solidFill>
                  <a:schemeClr val="tx1"/>
                </a:solidFill>
              </a:rPr>
              <a:t>organisation</a:t>
            </a:r>
            <a:r>
              <a:rPr lang="en-US" sz="12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13AB7A-3A4E-3545-285C-AFF2300A2435}"/>
              </a:ext>
            </a:extLst>
          </p:cNvPr>
          <p:cNvSpPr/>
          <p:nvPr/>
        </p:nvSpPr>
        <p:spPr>
          <a:xfrm>
            <a:off x="6238874" y="5267324"/>
            <a:ext cx="5486400" cy="4572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Payer &amp; Brand Intelligence Pages: </a:t>
            </a:r>
            <a:r>
              <a:rPr lang="en-US" sz="1200">
                <a:solidFill>
                  <a:schemeClr val="tx1"/>
                </a:solidFill>
              </a:rPr>
              <a:t>Dedicated profile pages for </a:t>
            </a:r>
            <a:r>
              <a:rPr lang="en-US" sz="1200" err="1">
                <a:solidFill>
                  <a:schemeClr val="tx1"/>
                </a:solidFill>
              </a:rPr>
              <a:t>Tezspire</a:t>
            </a:r>
            <a:r>
              <a:rPr lang="en-US" sz="1200">
                <a:solidFill>
                  <a:schemeClr val="tx1"/>
                </a:solidFill>
              </a:rPr>
              <a:t> and </a:t>
            </a:r>
            <a:r>
              <a:rPr lang="en-US" sz="1200" err="1">
                <a:solidFill>
                  <a:schemeClr val="tx1"/>
                </a:solidFill>
              </a:rPr>
              <a:t>Tepezza</a:t>
            </a:r>
            <a:r>
              <a:rPr lang="en-US" sz="1200">
                <a:solidFill>
                  <a:schemeClr val="tx1"/>
                </a:solidFill>
              </a:rPr>
              <a:t> (Medicare)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BEDC52-48C6-54F3-C6F0-00E2CCE6A7A8}"/>
              </a:ext>
            </a:extLst>
          </p:cNvPr>
          <p:cNvSpPr/>
          <p:nvPr/>
        </p:nvSpPr>
        <p:spPr>
          <a:xfrm>
            <a:off x="476249" y="5876924"/>
            <a:ext cx="5486400" cy="4572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err="1">
                <a:solidFill>
                  <a:schemeClr val="tx1"/>
                </a:solidFill>
              </a:rPr>
              <a:t>Centralised</a:t>
            </a:r>
            <a:r>
              <a:rPr lang="en-US" sz="1200" b="1">
                <a:solidFill>
                  <a:schemeClr val="tx1"/>
                </a:solidFill>
              </a:rPr>
              <a:t> Coverage Data in Unity Catalog: </a:t>
            </a:r>
            <a:r>
              <a:rPr lang="en-US" sz="1200">
                <a:solidFill>
                  <a:schemeClr val="tx1"/>
                </a:solidFill>
              </a:rPr>
              <a:t>All payer, brand, coverage, and submission data structured, governed, and </a:t>
            </a:r>
            <a:r>
              <a:rPr lang="en-US" sz="1200" err="1">
                <a:solidFill>
                  <a:schemeClr val="tx1"/>
                </a:solidFill>
              </a:rPr>
              <a:t>queryable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2A2949-D877-EA9E-B18E-DFBC22F0C0DC}"/>
              </a:ext>
            </a:extLst>
          </p:cNvPr>
          <p:cNvSpPr/>
          <p:nvPr/>
        </p:nvSpPr>
        <p:spPr>
          <a:xfrm>
            <a:off x="6238874" y="5867399"/>
            <a:ext cx="5486400" cy="4572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Coverage Update Submission &amp; Tracking: </a:t>
            </a:r>
            <a:r>
              <a:rPr lang="en-US" sz="1200">
                <a:solidFill>
                  <a:schemeClr val="tx1"/>
                </a:solidFill>
              </a:rPr>
              <a:t>End-to-end workflow for submitting, reviewing, and publishing coverage updates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6A5124-D40C-73AA-0B06-961B567CD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198049"/>
              </p:ext>
            </p:extLst>
          </p:nvPr>
        </p:nvGraphicFramePr>
        <p:xfrm>
          <a:off x="243839" y="2024812"/>
          <a:ext cx="11704320" cy="205333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172005">
                  <a:extLst>
                    <a:ext uri="{9D8B030D-6E8A-4147-A177-3AD203B41FA5}">
                      <a16:colId xmlns:a16="http://schemas.microsoft.com/office/drawing/2014/main" val="3615783050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1292853576"/>
                    </a:ext>
                  </a:extLst>
                </a:gridCol>
                <a:gridCol w="4778477">
                  <a:extLst>
                    <a:ext uri="{9D8B030D-6E8A-4147-A177-3AD203B41FA5}">
                      <a16:colId xmlns:a16="http://schemas.microsoft.com/office/drawing/2014/main" val="1759921088"/>
                    </a:ext>
                  </a:extLst>
                </a:gridCol>
                <a:gridCol w="4161012">
                  <a:extLst>
                    <a:ext uri="{9D8B030D-6E8A-4147-A177-3AD203B41FA5}">
                      <a16:colId xmlns:a16="http://schemas.microsoft.com/office/drawing/2014/main" val="3449756231"/>
                    </a:ext>
                  </a:extLst>
                </a:gridCol>
              </a:tblGrid>
              <a:tr h="277545"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Release</a:t>
                      </a:r>
                    </a:p>
                  </a:txBody>
                  <a:tcPr marL="60960" marR="60960" marT="60960" marB="6096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Timeline</a:t>
                      </a:r>
                    </a:p>
                  </a:txBody>
                  <a:tcPr marL="60960" marR="60960" marT="60960" marB="6096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High-Priority Focus</a:t>
                      </a:r>
                    </a:p>
                  </a:txBody>
                  <a:tcPr marL="60960" marR="60960" marT="60960" marB="6096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Med Priority Add-Ons</a:t>
                      </a:r>
                    </a:p>
                  </a:txBody>
                  <a:tcPr marL="60960" marR="60960" marT="60960" marB="6096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74172204"/>
                  </a:ext>
                </a:extLst>
              </a:tr>
              <a:tr h="582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Release 1 (Q3’26)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>
                            <a:alpha val="5000"/>
                          </a:srgbClr>
                        </a:gs>
                        <a:gs pos="100000">
                          <a:srgbClr val="0B0E5F">
                            <a:alpha val="5000"/>
                          </a:srgbClr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12 Weeks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>
                            <a:alpha val="5000"/>
                          </a:srgbClr>
                        </a:gs>
                        <a:gs pos="100000">
                          <a:srgbClr val="0B0E5F">
                            <a:alpha val="5000"/>
                          </a:srgbClr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Home Dashboard, Payer &amp; Brand Profiles (Tezspire, </a:t>
                      </a:r>
                      <a:r>
                        <a:rPr lang="en-US" sz="1200" err="1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Tepezza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 - Mx), Coverage Update submission, basic search, RBAC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>
                            <a:alpha val="5000"/>
                          </a:srgbClr>
                        </a:gs>
                        <a:gs pos="100000">
                          <a:srgbClr val="0B0E5F">
                            <a:alpha val="5000"/>
                          </a:srgbClr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N/A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>
                            <a:alpha val="5000"/>
                          </a:srgbClr>
                        </a:gs>
                        <a:gs pos="100000">
                          <a:srgbClr val="0B0E5F">
                            <a:alpha val="5000"/>
                          </a:srgbClr>
                        </a:gs>
                      </a:gsLst>
                      <a:lin ang="10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159842161"/>
                  </a:ext>
                </a:extLst>
              </a:tr>
              <a:tr h="582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Release 2 </a:t>
                      </a: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(Q4’26)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12 Weeks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Source comparison + AI summaries, PDF scrubbing, data pipeline, email notifications, confidential file handling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Geo filters, AI Q&amp;A assistant, display optimisation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054942"/>
                  </a:ext>
                </a:extLst>
              </a:tr>
              <a:tr h="582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Release 3</a:t>
                      </a:r>
                      <a:br>
                        <a:rPr lang="en-US" sz="1200" b="1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</a:br>
                      <a:r>
                        <a:rPr lang="en-US" sz="1200" b="1" kern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(Q1’27)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>
                            <a:alpha val="5000"/>
                          </a:srgbClr>
                        </a:gs>
                        <a:gs pos="100000">
                          <a:srgbClr val="0B0E5F">
                            <a:alpha val="5000"/>
                          </a:srgbClr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12 Weeks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>
                            <a:alpha val="5000"/>
                          </a:srgbClr>
                        </a:gs>
                        <a:gs pos="100000">
                          <a:srgbClr val="0B0E5F">
                            <a:alpha val="5000"/>
                          </a:srgbClr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Full Rx brand rollout, vendor upload portal, advanced AI Q&amp;A with cross-source synthesis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>
                            <a:alpha val="5000"/>
                          </a:srgbClr>
                        </a:gs>
                        <a:gs pos="100000">
                          <a:srgbClr val="0B0E5F">
                            <a:alpha val="5000"/>
                          </a:srgbClr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j-lt"/>
                          <a:ea typeface="Grandview" pitchFamily="34" charset="-122"/>
                          <a:cs typeface="Grandview" pitchFamily="34" charset="-120"/>
                        </a:rPr>
                        <a:t>Multi-modal insights, transcript storage, external group access</a:t>
                      </a:r>
                      <a:endParaRPr lang="en-US" sz="1200">
                        <a:latin typeface="+mj-lt"/>
                        <a:ea typeface="Grandview" charset="0"/>
                        <a:cs typeface="Grandview" charset="0"/>
                      </a:endParaRPr>
                    </a:p>
                  </a:txBody>
                  <a:tcPr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>
                            <a:alpha val="5000"/>
                          </a:srgbClr>
                        </a:gs>
                        <a:gs pos="100000">
                          <a:srgbClr val="0B0E5F">
                            <a:alpha val="5000"/>
                          </a:srgbClr>
                        </a:gs>
                      </a:gsLst>
                      <a:lin ang="10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02417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78F0CF-20DB-FBBD-A018-E96AADB5FD9B}"/>
              </a:ext>
            </a:extLst>
          </p:cNvPr>
          <p:cNvSpPr txBox="1"/>
          <p:nvPr/>
        </p:nvSpPr>
        <p:spPr>
          <a:xfrm>
            <a:off x="0" y="4275454"/>
            <a:ext cx="12192000" cy="330507"/>
          </a:xfrm>
          <a:prstGeom prst="rect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 b="1" i="0">
                <a:solidFill>
                  <a:schemeClr val="bg1"/>
                </a:solidFill>
                <a:effectLst/>
                <a:latin typeface="Grandview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Release 1 is our top priority. An 12-week delivery unlocks immediate value across field and market access teams.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F97BD-55F4-F779-63EA-9C96A47B583F}"/>
              </a:ext>
            </a:extLst>
          </p:cNvPr>
          <p:cNvSpPr txBox="1"/>
          <p:nvPr/>
        </p:nvSpPr>
        <p:spPr>
          <a:xfrm>
            <a:off x="-1" y="1422304"/>
            <a:ext cx="12192000" cy="524483"/>
          </a:xfrm>
          <a:prstGeom prst="rect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 b="1" i="0">
                <a:solidFill>
                  <a:schemeClr val="bg1"/>
                </a:solidFill>
                <a:effectLst/>
                <a:latin typeface="Grandview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Formulary IQ creates one central place for all payer and brand coverage intelligence, delivered in 3 phases starting with a focused Q3 MVP for </a:t>
            </a:r>
            <a:r>
              <a:rPr lang="en-US" err="1"/>
              <a:t>Tezspire</a:t>
            </a:r>
            <a:r>
              <a:rPr lang="en-US"/>
              <a:t> and </a:t>
            </a:r>
            <a:r>
              <a:rPr lang="en-US" err="1"/>
              <a:t>Tepezza</a:t>
            </a:r>
            <a:r>
              <a:rPr lang="en-US"/>
              <a:t> (Medicare).</a:t>
            </a:r>
          </a:p>
        </p:txBody>
      </p:sp>
    </p:spTree>
    <p:extLst>
      <p:ext uri="{BB962C8B-B14F-4D97-AF65-F5344CB8AC3E}">
        <p14:creationId xmlns:p14="http://schemas.microsoft.com/office/powerpoint/2010/main" val="1192246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D6148F-62A7-21F2-93BB-C330589E88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737638"/>
          </a:xfrm>
        </p:spPr>
        <p:txBody>
          <a:bodyPr/>
          <a:lstStyle/>
          <a:p>
            <a:r>
              <a:rPr lang="en-US"/>
              <a:t>Detailed Feature Scope across 3 Releases</a:t>
            </a:r>
          </a:p>
          <a:p>
            <a:r>
              <a:rPr lang="en-US" sz="1800"/>
              <a:t>Each release is 8 weeks. React on Databricks Apps + Genie for AI-powered querying.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E6FFA39C-F7B8-8BEF-ED80-6D714B9B9DFF}"/>
              </a:ext>
            </a:extLst>
          </p:cNvPr>
          <p:cNvSpPr/>
          <p:nvPr/>
        </p:nvSpPr>
        <p:spPr>
          <a:xfrm>
            <a:off x="251055" y="2142244"/>
            <a:ext cx="3794642" cy="330506"/>
          </a:xfrm>
          <a:prstGeom prst="round2SameRect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i="0" kern="1200">
                <a:solidFill>
                  <a:schemeClr val="bg1"/>
                </a:solidFill>
                <a:effectLst/>
                <a:latin typeface="Grandview" panose="020B0502040204020203" pitchFamily="34" charset="0"/>
                <a:ea typeface="+mn-ea"/>
                <a:cs typeface="+mn-cs"/>
              </a:rPr>
              <a:t>Release 1  |  Weeks 1–12  |  MVP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FF039-6E01-621F-9B27-C03E7DC8F006}"/>
              </a:ext>
            </a:extLst>
          </p:cNvPr>
          <p:cNvSpPr txBox="1"/>
          <p:nvPr/>
        </p:nvSpPr>
        <p:spPr>
          <a:xfrm>
            <a:off x="251056" y="2471269"/>
            <a:ext cx="3794642" cy="3945502"/>
          </a:xfrm>
          <a:prstGeom prst="rect">
            <a:avLst/>
          </a:prstGeom>
          <a:gradFill>
            <a:gsLst>
              <a:gs pos="0">
                <a:srgbClr val="D2D0E1"/>
              </a:gs>
              <a:gs pos="100000">
                <a:srgbClr val="EDD3D4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 b="1" i="0">
                <a:solidFill>
                  <a:srgbClr val="000000"/>
                </a:solidFill>
                <a:effectLst/>
                <a:latin typeface="Grandview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Aft>
                <a:spcPts val="400"/>
              </a:spcAft>
            </a:pPr>
            <a:endParaRPr lang="en-US" sz="12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D97DFC-F0ED-41EE-A3EF-4FA2336BF13E}"/>
              </a:ext>
            </a:extLst>
          </p:cNvPr>
          <p:cNvSpPr/>
          <p:nvPr/>
        </p:nvSpPr>
        <p:spPr>
          <a:xfrm>
            <a:off x="404038" y="2540953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Home Dashboard: </a:t>
            </a:r>
            <a:r>
              <a:rPr lang="en-US" sz="1200">
                <a:solidFill>
                  <a:schemeClr val="tx1"/>
                </a:solidFill>
              </a:rPr>
              <a:t>Live coverage update feed with filters for brand, payer, geography, source, and date range.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BCF113-466A-1442-AF09-5774434032F9}"/>
              </a:ext>
            </a:extLst>
          </p:cNvPr>
          <p:cNvSpPr/>
          <p:nvPr/>
        </p:nvSpPr>
        <p:spPr>
          <a:xfrm>
            <a:off x="404038" y="4496605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Payer &amp; Brand Profiles: </a:t>
            </a:r>
            <a:r>
              <a:rPr lang="en-US" sz="1200">
                <a:solidFill>
                  <a:schemeClr val="tx1"/>
                </a:solidFill>
              </a:rPr>
              <a:t>KPI cards, trend charts, lives maps, and source tables — scoped to </a:t>
            </a:r>
            <a:r>
              <a:rPr lang="en-US" sz="1200" err="1">
                <a:solidFill>
                  <a:schemeClr val="tx1"/>
                </a:solidFill>
              </a:rPr>
              <a:t>Tezspire</a:t>
            </a:r>
            <a:r>
              <a:rPr lang="en-US" sz="1200">
                <a:solidFill>
                  <a:schemeClr val="tx1"/>
                </a:solidFill>
              </a:rPr>
              <a:t> &amp; </a:t>
            </a:r>
            <a:r>
              <a:rPr lang="en-US" sz="1200" err="1">
                <a:solidFill>
                  <a:schemeClr val="tx1"/>
                </a:solidFill>
              </a:rPr>
              <a:t>Tepezza</a:t>
            </a:r>
            <a:r>
              <a:rPr lang="en-US" sz="1200">
                <a:solidFill>
                  <a:schemeClr val="tx1"/>
                </a:solidFill>
              </a:rPr>
              <a:t> (Mx) for MVP.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5CF47E-E5DE-06DA-3D45-712B12F4BDCA}"/>
              </a:ext>
            </a:extLst>
          </p:cNvPr>
          <p:cNvSpPr/>
          <p:nvPr/>
        </p:nvSpPr>
        <p:spPr>
          <a:xfrm>
            <a:off x="404038" y="3518779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Coverage Update Submission: </a:t>
            </a:r>
            <a:r>
              <a:rPr lang="en-US" sz="1200">
                <a:solidFill>
                  <a:schemeClr val="tx1"/>
                </a:solidFill>
              </a:rPr>
              <a:t>Structured intake form with document upload, routed to a reviewer before publication.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3222DE-2BFF-D366-C030-94E94A0D595B}"/>
              </a:ext>
            </a:extLst>
          </p:cNvPr>
          <p:cNvSpPr/>
          <p:nvPr/>
        </p:nvSpPr>
        <p:spPr>
          <a:xfrm>
            <a:off x="404038" y="5474432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RBAC Security: </a:t>
            </a:r>
            <a:r>
              <a:rPr lang="en-US" sz="1200">
                <a:solidFill>
                  <a:schemeClr val="tx1"/>
                </a:solidFill>
              </a:rPr>
              <a:t>Permission groups protecting confidential payer data aligned to commercial org roles.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9A4219EB-E9BC-A9E2-B46D-0C9D6F2B1358}"/>
              </a:ext>
            </a:extLst>
          </p:cNvPr>
          <p:cNvSpPr/>
          <p:nvPr/>
        </p:nvSpPr>
        <p:spPr>
          <a:xfrm>
            <a:off x="4198679" y="2142244"/>
            <a:ext cx="3794642" cy="330506"/>
          </a:xfrm>
          <a:prstGeom prst="round2SameRect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i="0" kern="1200">
                <a:solidFill>
                  <a:schemeClr val="bg1"/>
                </a:solidFill>
                <a:effectLst/>
                <a:latin typeface="Grandview" panose="020B0502040204020203" pitchFamily="34" charset="0"/>
                <a:ea typeface="+mn-ea"/>
                <a:cs typeface="+mn-cs"/>
              </a:rPr>
              <a:t>Release 2*  |  Weeks 13–24  |  AI &amp; Intelligence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8A05D-89C6-2FA2-02EA-D0DC0142125F}"/>
              </a:ext>
            </a:extLst>
          </p:cNvPr>
          <p:cNvSpPr txBox="1"/>
          <p:nvPr/>
        </p:nvSpPr>
        <p:spPr>
          <a:xfrm>
            <a:off x="4198680" y="2471269"/>
            <a:ext cx="3794642" cy="3945502"/>
          </a:xfrm>
          <a:prstGeom prst="rect">
            <a:avLst/>
          </a:prstGeom>
          <a:gradFill>
            <a:gsLst>
              <a:gs pos="0">
                <a:srgbClr val="D2D0E1"/>
              </a:gs>
              <a:gs pos="100000">
                <a:srgbClr val="EDD3D4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 b="1" i="0">
                <a:solidFill>
                  <a:srgbClr val="000000"/>
                </a:solidFill>
                <a:effectLst/>
                <a:latin typeface="Grandview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Aft>
                <a:spcPts val="400"/>
              </a:spcAft>
            </a:pPr>
            <a:endParaRPr lang="en-US" sz="12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4D34FD2-A0FB-5128-FC60-C679DBE6749B}"/>
              </a:ext>
            </a:extLst>
          </p:cNvPr>
          <p:cNvSpPr/>
          <p:nvPr/>
        </p:nvSpPr>
        <p:spPr>
          <a:xfrm>
            <a:off x="4351662" y="2540953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Genie AI Integration: </a:t>
            </a:r>
            <a:r>
              <a:rPr lang="en-US" sz="1200">
                <a:solidFill>
                  <a:schemeClr val="tx1"/>
                </a:solidFill>
              </a:rPr>
              <a:t>Genie Spaces configured over Unity Catalog coverage tables with business context instructions, example prompts, and query guardrails.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298F232-CA88-1B1A-AAAA-719E91D9A5B4}"/>
              </a:ext>
            </a:extLst>
          </p:cNvPr>
          <p:cNvSpPr/>
          <p:nvPr/>
        </p:nvSpPr>
        <p:spPr>
          <a:xfrm>
            <a:off x="4351662" y="4496605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PDF Scrubbing &amp; Processing: </a:t>
            </a:r>
            <a:r>
              <a:rPr lang="en-US" sz="1200">
                <a:solidFill>
                  <a:schemeClr val="tx1"/>
                </a:solidFill>
              </a:rPr>
              <a:t>Automated text extraction from policy PDFs with structured metadata tagging and linkage back to coverage update records.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29DCEC8-D235-4898-0B15-E8263B732EA3}"/>
              </a:ext>
            </a:extLst>
          </p:cNvPr>
          <p:cNvSpPr/>
          <p:nvPr/>
        </p:nvSpPr>
        <p:spPr>
          <a:xfrm>
            <a:off x="4351662" y="3518779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Source Comparison Engine: </a:t>
            </a:r>
            <a:r>
              <a:rPr lang="en-US" sz="1200">
                <a:solidFill>
                  <a:schemeClr val="tx1"/>
                </a:solidFill>
              </a:rPr>
              <a:t>Side-by-side view of MMIT, Policy Reporter, and field submissions for any payer-brand pair, with conflict detection and recency flags.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E23DB4D-A9E2-B70C-4DBC-B878F66C3B80}"/>
              </a:ext>
            </a:extLst>
          </p:cNvPr>
          <p:cNvSpPr/>
          <p:nvPr/>
        </p:nvSpPr>
        <p:spPr>
          <a:xfrm>
            <a:off x="4351662" y="5474432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Collaboration &amp; Notifications: </a:t>
            </a:r>
            <a:r>
              <a:rPr lang="en-US" sz="1200">
                <a:solidFill>
                  <a:schemeClr val="tx1"/>
                </a:solidFill>
              </a:rPr>
              <a:t>Comments on coverage updates, email alerts for tracked payers and brands, geo filters, and advanced table sorting.</a:t>
            </a:r>
          </a:p>
        </p:txBody>
      </p:sp>
      <p:sp>
        <p:nvSpPr>
          <p:cNvPr id="28" name="Rectangle: Top Corners Rounded 27">
            <a:extLst>
              <a:ext uri="{FF2B5EF4-FFF2-40B4-BE49-F238E27FC236}">
                <a16:creationId xmlns:a16="http://schemas.microsoft.com/office/drawing/2014/main" id="{0156761C-B2C7-A1E3-4D23-8C20F2ADFF7B}"/>
              </a:ext>
            </a:extLst>
          </p:cNvPr>
          <p:cNvSpPr/>
          <p:nvPr/>
        </p:nvSpPr>
        <p:spPr>
          <a:xfrm>
            <a:off x="8146302" y="2142244"/>
            <a:ext cx="3794642" cy="330506"/>
          </a:xfrm>
          <a:prstGeom prst="round2SameRect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i="0" kern="1200">
                <a:solidFill>
                  <a:schemeClr val="bg1"/>
                </a:solidFill>
                <a:effectLst/>
                <a:latin typeface="Grandview" panose="020B0502040204020203" pitchFamily="34" charset="0"/>
                <a:ea typeface="+mn-ea"/>
                <a:cs typeface="+mn-cs"/>
              </a:rPr>
              <a:t>Release 3*  |  Weeks 25–36  |  Scale &amp; Vendor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F46028-661E-76CD-74C8-EEAFC919EF21}"/>
              </a:ext>
            </a:extLst>
          </p:cNvPr>
          <p:cNvSpPr txBox="1"/>
          <p:nvPr/>
        </p:nvSpPr>
        <p:spPr>
          <a:xfrm>
            <a:off x="8146303" y="2471269"/>
            <a:ext cx="3794642" cy="3945502"/>
          </a:xfrm>
          <a:prstGeom prst="rect">
            <a:avLst/>
          </a:prstGeom>
          <a:gradFill>
            <a:gsLst>
              <a:gs pos="0">
                <a:srgbClr val="D2D0E1"/>
              </a:gs>
              <a:gs pos="100000">
                <a:srgbClr val="EDD3D4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 b="1" i="0">
                <a:solidFill>
                  <a:srgbClr val="000000"/>
                </a:solidFill>
                <a:effectLst/>
                <a:latin typeface="Grandview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Aft>
                <a:spcPts val="400"/>
              </a:spcAft>
            </a:pPr>
            <a:endParaRPr lang="en-US" sz="120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0C060A2-6982-1707-B4D5-6D54FF6993F0}"/>
              </a:ext>
            </a:extLst>
          </p:cNvPr>
          <p:cNvSpPr/>
          <p:nvPr/>
        </p:nvSpPr>
        <p:spPr>
          <a:xfrm>
            <a:off x="8299285" y="2540953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Full Rx Brand Rollout: </a:t>
            </a:r>
            <a:r>
              <a:rPr lang="en-US" sz="1200">
                <a:solidFill>
                  <a:schemeClr val="tx1"/>
                </a:solidFill>
              </a:rPr>
              <a:t>Coverage intelligence extended to all Amgen commercial Rx brands, with Unity Catalog schema extended and Genie Spaces updated with full brand context.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B2987EE-59B7-9C3C-D599-CF453EE8034C}"/>
              </a:ext>
            </a:extLst>
          </p:cNvPr>
          <p:cNvSpPr/>
          <p:nvPr/>
        </p:nvSpPr>
        <p:spPr>
          <a:xfrm>
            <a:off x="8299285" y="4496605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Advanced Genie Q&amp;A: </a:t>
            </a:r>
            <a:r>
              <a:rPr lang="en-US" sz="1200">
                <a:solidFill>
                  <a:schemeClr val="tx1"/>
                </a:solidFill>
              </a:rPr>
              <a:t>Cross-source, cross-brand synthesis with multi-payer query support and automated briefing generation with source citations.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AD74958-7FBE-0800-B4C7-2217D9F06919}"/>
              </a:ext>
            </a:extLst>
          </p:cNvPr>
          <p:cNvSpPr/>
          <p:nvPr/>
        </p:nvSpPr>
        <p:spPr>
          <a:xfrm>
            <a:off x="8299285" y="3518779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Vendor Upload Portal: </a:t>
            </a:r>
            <a:r>
              <a:rPr lang="en-US" sz="1200">
                <a:solidFill>
                  <a:schemeClr val="tx1"/>
                </a:solidFill>
              </a:rPr>
              <a:t>External vendor submission portal with validation workflows, internal review gate before publication, and configurable access tiers.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CA09DBC-0109-A6DF-A1DE-D3AEFFC9CE52}"/>
              </a:ext>
            </a:extLst>
          </p:cNvPr>
          <p:cNvSpPr/>
          <p:nvPr/>
        </p:nvSpPr>
        <p:spPr>
          <a:xfrm>
            <a:off x="8299285" y="5474432"/>
            <a:ext cx="3528000" cy="792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Platform Maturity &amp; Audit: </a:t>
            </a:r>
            <a:r>
              <a:rPr lang="en-US" sz="1200">
                <a:solidFill>
                  <a:schemeClr val="tx1"/>
                </a:solidFill>
              </a:rPr>
              <a:t>Audit trail for all submission and publication events, full data lineage, load testing, and final documentation and handover pack.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89F360-157C-77AC-66B6-BEF3A33734E8}"/>
              </a:ext>
            </a:extLst>
          </p:cNvPr>
          <p:cNvSpPr txBox="1"/>
          <p:nvPr/>
        </p:nvSpPr>
        <p:spPr>
          <a:xfrm>
            <a:off x="-1" y="1422304"/>
            <a:ext cx="12192000" cy="524483"/>
          </a:xfrm>
          <a:prstGeom prst="rect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 b="1" i="0">
                <a:solidFill>
                  <a:schemeClr val="bg1"/>
                </a:solidFill>
                <a:effectLst/>
                <a:latin typeface="Grandview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Release 1 delivers the core MVP. Release 2 activates Genie AI and source intelligence. Release 3 scales to the full Amgen commercial portfolio.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1A1DE2-0653-36D5-7F4D-5E4ACC6C4E28}"/>
              </a:ext>
            </a:extLst>
          </p:cNvPr>
          <p:cNvSpPr txBox="1"/>
          <p:nvPr/>
        </p:nvSpPr>
        <p:spPr>
          <a:xfrm>
            <a:off x="9606117" y="1103020"/>
            <a:ext cx="27333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>
                <a:solidFill>
                  <a:schemeClr val="bg1"/>
                </a:solidFill>
              </a:rPr>
              <a:t>*To be scoped during the initial workshop</a:t>
            </a:r>
            <a:endParaRPr lang="en-IN" sz="10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547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ADF996-0A56-E06E-0E8F-A73306D1D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709938"/>
          </a:xfrm>
        </p:spPr>
        <p:txBody>
          <a:bodyPr/>
          <a:lstStyle/>
          <a:p>
            <a:r>
              <a:rPr lang="en-US" sz="2400"/>
              <a:t>Formulary IQ High-Level Architecture</a:t>
            </a:r>
          </a:p>
          <a:p>
            <a:r>
              <a:rPr lang="en-US" sz="1800"/>
              <a:t>Databricks-Native App with AI Layer for Secure, Semantic Coverage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4A46F-61CF-13DE-23CB-4C0E6B2A6AD0}"/>
              </a:ext>
            </a:extLst>
          </p:cNvPr>
          <p:cNvSpPr txBox="1"/>
          <p:nvPr/>
        </p:nvSpPr>
        <p:spPr>
          <a:xfrm>
            <a:off x="0" y="1489339"/>
            <a:ext cx="12185254" cy="446361"/>
          </a:xfrm>
          <a:prstGeom prst="rect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 b="1" i="0">
                <a:solidFill>
                  <a:schemeClr val="bg1"/>
                </a:solidFill>
                <a:effectLst/>
                <a:latin typeface="Grandview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We utilize an approved framework from the Enterprise Architecture team for all AI product developments.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D4DBEFA-6620-BE56-464B-BD5BFA5BD876}"/>
              </a:ext>
            </a:extLst>
          </p:cNvPr>
          <p:cNvSpPr txBox="1"/>
          <p:nvPr/>
        </p:nvSpPr>
        <p:spPr>
          <a:xfrm>
            <a:off x="220936" y="5048729"/>
            <a:ext cx="8326395" cy="1349038"/>
          </a:xfrm>
          <a:prstGeom prst="roundRect">
            <a:avLst>
              <a:gd name="adj" fmla="val 4288"/>
            </a:avLst>
          </a:prstGeom>
          <a:gradFill>
            <a:gsLst>
              <a:gs pos="0">
                <a:srgbClr val="812B47">
                  <a:alpha val="5000"/>
                </a:srgbClr>
              </a:gs>
              <a:gs pos="100000">
                <a:srgbClr val="0B0E5F">
                  <a:alpha val="5000"/>
                </a:srgbClr>
              </a:gs>
            </a:gsLst>
            <a:lin ang="10800000" scaled="0"/>
          </a:gradFill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>
              <a:spcBef>
                <a:spcPts val="600"/>
              </a:spcBef>
              <a:spcAft>
                <a:spcPts val="600"/>
              </a:spcAft>
              <a:buFont typeface="Grandview" panose="020B0604020202020204" pitchFamily="34" charset="0"/>
              <a:buChar char="•"/>
              <a:defRPr sz="1200" b="0" i="0"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>
              <a:spcBef>
                <a:spcPts val="0"/>
              </a:spcBef>
            </a:pPr>
            <a:endParaRPr lang="en-US" b="1"/>
          </a:p>
          <a:p>
            <a:pPr>
              <a:spcBef>
                <a:spcPts val="0"/>
              </a:spcBef>
            </a:pPr>
            <a:r>
              <a:rPr lang="en-US" b="1"/>
              <a:t>Databricks Core: </a:t>
            </a:r>
            <a:r>
              <a:rPr lang="en-US"/>
              <a:t>Unity Catalog as governed data layer for all structured coverage tables and document volumes.</a:t>
            </a:r>
          </a:p>
          <a:p>
            <a:pPr>
              <a:spcBef>
                <a:spcPts val="0"/>
              </a:spcBef>
            </a:pPr>
            <a:r>
              <a:rPr lang="en-US" b="1"/>
              <a:t>RAG AI Layer: </a:t>
            </a:r>
            <a:r>
              <a:rPr lang="en-US"/>
              <a:t>Closed-loop models for semantic search, source comparison, and conflict detection.</a:t>
            </a:r>
          </a:p>
          <a:p>
            <a:pPr>
              <a:spcBef>
                <a:spcPts val="0"/>
              </a:spcBef>
            </a:pPr>
            <a:r>
              <a:rPr lang="en-US" b="1"/>
              <a:t>RBAC Security: </a:t>
            </a:r>
            <a:r>
              <a:rPr lang="en-US"/>
              <a:t>Databricks/enterprise SSO with query-time row-level security enforced for sensitive payer data.</a:t>
            </a:r>
          </a:p>
          <a:p>
            <a:pPr>
              <a:spcBef>
                <a:spcPts val="0"/>
              </a:spcBef>
            </a:pPr>
            <a:r>
              <a:rPr lang="en-US" b="1"/>
              <a:t>Integrations: </a:t>
            </a:r>
            <a:r>
              <a:rPr lang="en-US"/>
              <a:t>Auto-ingest from vendor APIs; React frontend hosted natively on Databricks Apps.</a:t>
            </a:r>
          </a:p>
        </p:txBody>
      </p:sp>
      <p:grpSp>
        <p:nvGrpSpPr>
          <p:cNvPr id="186" name="Graphic 239">
            <a:extLst>
              <a:ext uri="{FF2B5EF4-FFF2-40B4-BE49-F238E27FC236}">
                <a16:creationId xmlns:a16="http://schemas.microsoft.com/office/drawing/2014/main" id="{2655EE21-1B91-18A1-CE40-3355A8DA5097}"/>
              </a:ext>
            </a:extLst>
          </p:cNvPr>
          <p:cNvGrpSpPr/>
          <p:nvPr/>
        </p:nvGrpSpPr>
        <p:grpSpPr>
          <a:xfrm>
            <a:off x="165700" y="2424574"/>
            <a:ext cx="1191558" cy="2070214"/>
            <a:chOff x="744921" y="2607780"/>
            <a:chExt cx="778932" cy="1072253"/>
          </a:xfrm>
        </p:grpSpPr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BA0098BB-4021-9758-5356-096886119780}"/>
                </a:ext>
              </a:extLst>
            </p:cNvPr>
            <p:cNvSpPr/>
            <p:nvPr/>
          </p:nvSpPr>
          <p:spPr>
            <a:xfrm>
              <a:off x="760228" y="2623087"/>
              <a:ext cx="763625" cy="1056946"/>
            </a:xfrm>
            <a:custGeom>
              <a:avLst/>
              <a:gdLst>
                <a:gd name="csX0" fmla="*/ 46116 w 763625"/>
                <a:gd name="csY0" fmla="*/ 273 h 1056946"/>
                <a:gd name="csX1" fmla="*/ 717899 w 763625"/>
                <a:gd name="csY1" fmla="*/ 273 h 1056946"/>
                <a:gd name="csX2" fmla="*/ 763820 w 763625"/>
                <a:gd name="csY2" fmla="*/ 46194 h 1056946"/>
                <a:gd name="csX3" fmla="*/ 763820 w 763625"/>
                <a:gd name="csY3" fmla="*/ 1011298 h 1056946"/>
                <a:gd name="csX4" fmla="*/ 717899 w 763625"/>
                <a:gd name="csY4" fmla="*/ 1057219 h 1056946"/>
                <a:gd name="csX5" fmla="*/ 46116 w 763625"/>
                <a:gd name="csY5" fmla="*/ 1057219 h 1056946"/>
                <a:gd name="csX6" fmla="*/ 195 w 763625"/>
                <a:gd name="csY6" fmla="*/ 1011298 h 1056946"/>
                <a:gd name="csX7" fmla="*/ 195 w 763625"/>
                <a:gd name="csY7" fmla="*/ 46194 h 1056946"/>
                <a:gd name="csX8" fmla="*/ 46116 w 763625"/>
                <a:gd name="csY8" fmla="*/ 273 h 1056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63625" h="1056946">
                  <a:moveTo>
                    <a:pt x="46116" y="273"/>
                  </a:moveTo>
                  <a:cubicBezTo>
                    <a:pt x="255429" y="273"/>
                    <a:pt x="464742" y="273"/>
                    <a:pt x="717899" y="273"/>
                  </a:cubicBezTo>
                  <a:cubicBezTo>
                    <a:pt x="748513" y="273"/>
                    <a:pt x="763820" y="15580"/>
                    <a:pt x="763820" y="46194"/>
                  </a:cubicBezTo>
                  <a:cubicBezTo>
                    <a:pt x="763820" y="349787"/>
                    <a:pt x="763820" y="653380"/>
                    <a:pt x="763820" y="1011298"/>
                  </a:cubicBezTo>
                  <a:cubicBezTo>
                    <a:pt x="763820" y="1041912"/>
                    <a:pt x="748513" y="1057219"/>
                    <a:pt x="717899" y="1057219"/>
                  </a:cubicBezTo>
                  <a:cubicBezTo>
                    <a:pt x="559154" y="1057219"/>
                    <a:pt x="400409" y="1057219"/>
                    <a:pt x="46116" y="1057219"/>
                  </a:cubicBezTo>
                  <a:cubicBezTo>
                    <a:pt x="15502" y="1057219"/>
                    <a:pt x="195" y="1041912"/>
                    <a:pt x="195" y="1011298"/>
                  </a:cubicBezTo>
                  <a:cubicBezTo>
                    <a:pt x="195" y="779592"/>
                    <a:pt x="195" y="547886"/>
                    <a:pt x="195" y="46194"/>
                  </a:cubicBezTo>
                  <a:cubicBezTo>
                    <a:pt x="195" y="15580"/>
                    <a:pt x="15502" y="273"/>
                    <a:pt x="46116" y="273"/>
                  </a:cubicBezTo>
                </a:path>
              </a:pathLst>
            </a:custGeom>
            <a:solidFill>
              <a:srgbClr val="F8F4F6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FCD69415-B167-5AD8-56EC-9202BFEC9084}"/>
                </a:ext>
              </a:extLst>
            </p:cNvPr>
            <p:cNvSpPr/>
            <p:nvPr/>
          </p:nvSpPr>
          <p:spPr>
            <a:xfrm>
              <a:off x="744921" y="2607780"/>
              <a:ext cx="763625" cy="1056946"/>
            </a:xfrm>
            <a:custGeom>
              <a:avLst/>
              <a:gdLst>
                <a:gd name="csX0" fmla="*/ 46116 w 763625"/>
                <a:gd name="csY0" fmla="*/ 273 h 1056946"/>
                <a:gd name="csX1" fmla="*/ 717899 w 763625"/>
                <a:gd name="csY1" fmla="*/ 273 h 1056946"/>
                <a:gd name="csX2" fmla="*/ 737990 w 763625"/>
                <a:gd name="csY2" fmla="*/ 3143 h 1056946"/>
                <a:gd name="csX3" fmla="*/ 745882 w 763625"/>
                <a:gd name="csY3" fmla="*/ 6731 h 1056946"/>
                <a:gd name="csX4" fmla="*/ 757363 w 763625"/>
                <a:gd name="csY4" fmla="*/ 18211 h 1056946"/>
                <a:gd name="csX5" fmla="*/ 763820 w 763625"/>
                <a:gd name="csY5" fmla="*/ 46194 h 1056946"/>
                <a:gd name="csX6" fmla="*/ 763820 w 763625"/>
                <a:gd name="csY6" fmla="*/ 1011298 h 1056946"/>
                <a:gd name="csX7" fmla="*/ 760950 w 763625"/>
                <a:gd name="csY7" fmla="*/ 1031388 h 1056946"/>
                <a:gd name="csX8" fmla="*/ 757363 w 763625"/>
                <a:gd name="csY8" fmla="*/ 1039281 h 1056946"/>
                <a:gd name="csX9" fmla="*/ 745882 w 763625"/>
                <a:gd name="csY9" fmla="*/ 1050761 h 1056946"/>
                <a:gd name="csX10" fmla="*/ 717899 w 763625"/>
                <a:gd name="csY10" fmla="*/ 1057219 h 1056946"/>
                <a:gd name="csX11" fmla="*/ 46116 w 763625"/>
                <a:gd name="csY11" fmla="*/ 1057219 h 1056946"/>
                <a:gd name="csX12" fmla="*/ 26025 w 763625"/>
                <a:gd name="csY12" fmla="*/ 1054349 h 1056946"/>
                <a:gd name="csX13" fmla="*/ 18133 w 763625"/>
                <a:gd name="csY13" fmla="*/ 1050761 h 1056946"/>
                <a:gd name="csX14" fmla="*/ 6652 w 763625"/>
                <a:gd name="csY14" fmla="*/ 1039281 h 1056946"/>
                <a:gd name="csX15" fmla="*/ 195 w 763625"/>
                <a:gd name="csY15" fmla="*/ 1011298 h 1056946"/>
                <a:gd name="csX16" fmla="*/ 195 w 763625"/>
                <a:gd name="csY16" fmla="*/ 46194 h 1056946"/>
                <a:gd name="csX17" fmla="*/ 3065 w 763625"/>
                <a:gd name="csY17" fmla="*/ 26103 h 1056946"/>
                <a:gd name="csX18" fmla="*/ 11675 w 763625"/>
                <a:gd name="csY18" fmla="*/ 11753 h 1056946"/>
                <a:gd name="csX19" fmla="*/ 26025 w 763625"/>
                <a:gd name="csY19" fmla="*/ 3143 h 1056946"/>
                <a:gd name="csX20" fmla="*/ 46116 w 763625"/>
                <a:gd name="csY20" fmla="*/ 273 h 1056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763625" h="1056946">
                  <a:moveTo>
                    <a:pt x="46116" y="273"/>
                  </a:moveTo>
                  <a:lnTo>
                    <a:pt x="717899" y="273"/>
                  </a:lnTo>
                  <a:lnTo>
                    <a:pt x="737990" y="3143"/>
                  </a:lnTo>
                  <a:lnTo>
                    <a:pt x="745882" y="6731"/>
                  </a:lnTo>
                  <a:lnTo>
                    <a:pt x="757363" y="18211"/>
                  </a:lnTo>
                  <a:lnTo>
                    <a:pt x="763820" y="46194"/>
                  </a:lnTo>
                  <a:lnTo>
                    <a:pt x="763820" y="1011298"/>
                  </a:lnTo>
                  <a:lnTo>
                    <a:pt x="760950" y="1031388"/>
                  </a:lnTo>
                  <a:lnTo>
                    <a:pt x="757363" y="1039281"/>
                  </a:lnTo>
                  <a:lnTo>
                    <a:pt x="745882" y="1050761"/>
                  </a:lnTo>
                  <a:lnTo>
                    <a:pt x="717899" y="1057219"/>
                  </a:lnTo>
                  <a:lnTo>
                    <a:pt x="46116" y="1057219"/>
                  </a:lnTo>
                  <a:lnTo>
                    <a:pt x="26025" y="1054349"/>
                  </a:lnTo>
                  <a:lnTo>
                    <a:pt x="18133" y="1050761"/>
                  </a:lnTo>
                  <a:lnTo>
                    <a:pt x="6652" y="1039281"/>
                  </a:lnTo>
                  <a:lnTo>
                    <a:pt x="195" y="1011298"/>
                  </a:lnTo>
                  <a:lnTo>
                    <a:pt x="195" y="46194"/>
                  </a:lnTo>
                  <a:lnTo>
                    <a:pt x="3065" y="26103"/>
                  </a:lnTo>
                  <a:lnTo>
                    <a:pt x="11675" y="11753"/>
                  </a:lnTo>
                  <a:lnTo>
                    <a:pt x="26025" y="3143"/>
                  </a:lnTo>
                  <a:lnTo>
                    <a:pt x="46116" y="273"/>
                  </a:lnTo>
                </a:path>
              </a:pathLst>
            </a:custGeom>
            <a:solidFill>
              <a:srgbClr val="F8F4F6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ADBB3F07-C417-44A4-6DDD-84226EC75BA3}"/>
                </a:ext>
              </a:extLst>
            </p:cNvPr>
            <p:cNvSpPr/>
            <p:nvPr/>
          </p:nvSpPr>
          <p:spPr>
            <a:xfrm>
              <a:off x="744921" y="2607780"/>
              <a:ext cx="763625" cy="1056946"/>
            </a:xfrm>
            <a:custGeom>
              <a:avLst/>
              <a:gdLst>
                <a:gd name="csX0" fmla="*/ 46116 w 763625"/>
                <a:gd name="csY0" fmla="*/ 273 h 1056946"/>
                <a:gd name="csX1" fmla="*/ 717899 w 763625"/>
                <a:gd name="csY1" fmla="*/ 273 h 1056946"/>
                <a:gd name="csX2" fmla="*/ 763820 w 763625"/>
                <a:gd name="csY2" fmla="*/ 46194 h 1056946"/>
                <a:gd name="csX3" fmla="*/ 763820 w 763625"/>
                <a:gd name="csY3" fmla="*/ 46194 h 1056946"/>
                <a:gd name="csX4" fmla="*/ 763820 w 763625"/>
                <a:gd name="csY4" fmla="*/ 1011298 h 1056946"/>
                <a:gd name="csX5" fmla="*/ 717899 w 763625"/>
                <a:gd name="csY5" fmla="*/ 1057219 h 1056946"/>
                <a:gd name="csX6" fmla="*/ 717899 w 763625"/>
                <a:gd name="csY6" fmla="*/ 1057219 h 1056946"/>
                <a:gd name="csX7" fmla="*/ 46116 w 763625"/>
                <a:gd name="csY7" fmla="*/ 1057219 h 1056946"/>
                <a:gd name="csX8" fmla="*/ 195 w 763625"/>
                <a:gd name="csY8" fmla="*/ 1011298 h 1056946"/>
                <a:gd name="csX9" fmla="*/ 195 w 763625"/>
                <a:gd name="csY9" fmla="*/ 1011298 h 1056946"/>
                <a:gd name="csX10" fmla="*/ 195 w 763625"/>
                <a:gd name="csY10" fmla="*/ 46194 h 1056946"/>
                <a:gd name="csX11" fmla="*/ 46116 w 763625"/>
                <a:gd name="csY11" fmla="*/ 273 h 1056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63625" h="1056946">
                  <a:moveTo>
                    <a:pt x="46116" y="273"/>
                  </a:moveTo>
                  <a:cubicBezTo>
                    <a:pt x="255429" y="273"/>
                    <a:pt x="464742" y="273"/>
                    <a:pt x="717899" y="273"/>
                  </a:cubicBezTo>
                  <a:cubicBezTo>
                    <a:pt x="748513" y="273"/>
                    <a:pt x="763820" y="15580"/>
                    <a:pt x="763820" y="46194"/>
                  </a:cubicBezTo>
                  <a:moveTo>
                    <a:pt x="763820" y="46194"/>
                  </a:moveTo>
                  <a:cubicBezTo>
                    <a:pt x="763820" y="349787"/>
                    <a:pt x="763820" y="653380"/>
                    <a:pt x="763820" y="1011298"/>
                  </a:cubicBezTo>
                  <a:cubicBezTo>
                    <a:pt x="763820" y="1041912"/>
                    <a:pt x="748513" y="1057219"/>
                    <a:pt x="717899" y="1057219"/>
                  </a:cubicBezTo>
                  <a:moveTo>
                    <a:pt x="717899" y="1057219"/>
                  </a:moveTo>
                  <a:cubicBezTo>
                    <a:pt x="559154" y="1057219"/>
                    <a:pt x="400409" y="1057219"/>
                    <a:pt x="46116" y="1057219"/>
                  </a:cubicBezTo>
                  <a:cubicBezTo>
                    <a:pt x="15502" y="1057219"/>
                    <a:pt x="195" y="1041912"/>
                    <a:pt x="195" y="1011298"/>
                  </a:cubicBezTo>
                  <a:moveTo>
                    <a:pt x="195" y="1011298"/>
                  </a:moveTo>
                  <a:cubicBezTo>
                    <a:pt x="195" y="779592"/>
                    <a:pt x="195" y="547886"/>
                    <a:pt x="195" y="46194"/>
                  </a:cubicBezTo>
                  <a:cubicBezTo>
                    <a:pt x="195" y="15580"/>
                    <a:pt x="15502" y="273"/>
                    <a:pt x="46116" y="273"/>
                  </a:cubicBezTo>
                </a:path>
              </a:pathLst>
            </a:custGeom>
            <a:noFill/>
            <a:ln w="5023" cap="flat">
              <a:solidFill>
                <a:srgbClr val="0B0E5F"/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187" name="Graphic 239">
            <a:extLst>
              <a:ext uri="{FF2B5EF4-FFF2-40B4-BE49-F238E27FC236}">
                <a16:creationId xmlns:a16="http://schemas.microsoft.com/office/drawing/2014/main" id="{03D7BA1B-C480-1876-383C-C5016DBBACD0}"/>
              </a:ext>
            </a:extLst>
          </p:cNvPr>
          <p:cNvGrpSpPr/>
          <p:nvPr/>
        </p:nvGrpSpPr>
        <p:grpSpPr>
          <a:xfrm>
            <a:off x="192878" y="2495718"/>
            <a:ext cx="1080852" cy="167419"/>
            <a:chOff x="773622" y="2636481"/>
            <a:chExt cx="656476" cy="120159"/>
          </a:xfrm>
        </p:grpSpPr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3C4F068-0F3D-86AE-68D7-8D6BF355222C}"/>
                </a:ext>
              </a:extLst>
            </p:cNvPr>
            <p:cNvSpPr/>
            <p:nvPr/>
          </p:nvSpPr>
          <p:spPr>
            <a:xfrm>
              <a:off x="773622" y="2636481"/>
              <a:ext cx="656476" cy="120159"/>
            </a:xfrm>
            <a:custGeom>
              <a:avLst/>
              <a:gdLst>
                <a:gd name="csX0" fmla="*/ 7856 w 656476"/>
                <a:gd name="csY0" fmla="*/ 280 h 120159"/>
                <a:gd name="csX1" fmla="*/ 649026 w 656476"/>
                <a:gd name="csY1" fmla="*/ 280 h 120159"/>
                <a:gd name="csX2" fmla="*/ 654766 w 656476"/>
                <a:gd name="csY2" fmla="*/ 2194 h 120159"/>
                <a:gd name="csX3" fmla="*/ 656679 w 656476"/>
                <a:gd name="csY3" fmla="*/ 7934 h 120159"/>
                <a:gd name="csX4" fmla="*/ 656679 w 656476"/>
                <a:gd name="csY4" fmla="*/ 112787 h 120159"/>
                <a:gd name="csX5" fmla="*/ 654766 w 656476"/>
                <a:gd name="csY5" fmla="*/ 118527 h 120159"/>
                <a:gd name="csX6" fmla="*/ 649026 w 656476"/>
                <a:gd name="csY6" fmla="*/ 120440 h 120159"/>
                <a:gd name="csX7" fmla="*/ 7856 w 656476"/>
                <a:gd name="csY7" fmla="*/ 120440 h 120159"/>
                <a:gd name="csX8" fmla="*/ 2116 w 656476"/>
                <a:gd name="csY8" fmla="*/ 118527 h 120159"/>
                <a:gd name="csX9" fmla="*/ 202 w 656476"/>
                <a:gd name="csY9" fmla="*/ 112787 h 120159"/>
                <a:gd name="csX10" fmla="*/ 202 w 656476"/>
                <a:gd name="csY10" fmla="*/ 7934 h 120159"/>
                <a:gd name="csX11" fmla="*/ 2116 w 656476"/>
                <a:gd name="csY11" fmla="*/ 2194 h 120159"/>
                <a:gd name="csX12" fmla="*/ 7856 w 656476"/>
                <a:gd name="csY12" fmla="*/ 280 h 12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56476" h="120159">
                  <a:moveTo>
                    <a:pt x="7856" y="280"/>
                  </a:moveTo>
                  <a:lnTo>
                    <a:pt x="649026" y="280"/>
                  </a:lnTo>
                  <a:lnTo>
                    <a:pt x="654766" y="2194"/>
                  </a:lnTo>
                  <a:lnTo>
                    <a:pt x="656679" y="7934"/>
                  </a:lnTo>
                  <a:lnTo>
                    <a:pt x="656679" y="112787"/>
                  </a:lnTo>
                  <a:lnTo>
                    <a:pt x="654766" y="118527"/>
                  </a:lnTo>
                  <a:lnTo>
                    <a:pt x="649026" y="120440"/>
                  </a:lnTo>
                  <a:lnTo>
                    <a:pt x="7856" y="120440"/>
                  </a:lnTo>
                  <a:lnTo>
                    <a:pt x="2116" y="118527"/>
                  </a:lnTo>
                  <a:lnTo>
                    <a:pt x="202" y="112787"/>
                  </a:lnTo>
                  <a:lnTo>
                    <a:pt x="202" y="7934"/>
                  </a:lnTo>
                  <a:lnTo>
                    <a:pt x="2116" y="2194"/>
                  </a:lnTo>
                  <a:lnTo>
                    <a:pt x="7856" y="280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DF42ABB3-8B60-4D0F-06C9-C65FEE26F8F4}"/>
                </a:ext>
              </a:extLst>
            </p:cNvPr>
            <p:cNvSpPr/>
            <p:nvPr/>
          </p:nvSpPr>
          <p:spPr>
            <a:xfrm>
              <a:off x="773622" y="2636481"/>
              <a:ext cx="656476" cy="120159"/>
            </a:xfrm>
            <a:custGeom>
              <a:avLst/>
              <a:gdLst>
                <a:gd name="csX0" fmla="*/ 7856 w 656476"/>
                <a:gd name="csY0" fmla="*/ 280 h 120159"/>
                <a:gd name="csX1" fmla="*/ 649026 w 656476"/>
                <a:gd name="csY1" fmla="*/ 280 h 120159"/>
                <a:gd name="csX2" fmla="*/ 656679 w 656476"/>
                <a:gd name="csY2" fmla="*/ 7934 h 120159"/>
                <a:gd name="csX3" fmla="*/ 656679 w 656476"/>
                <a:gd name="csY3" fmla="*/ 7934 h 120159"/>
                <a:gd name="csX4" fmla="*/ 656679 w 656476"/>
                <a:gd name="csY4" fmla="*/ 112787 h 120159"/>
                <a:gd name="csX5" fmla="*/ 649026 w 656476"/>
                <a:gd name="csY5" fmla="*/ 120440 h 120159"/>
                <a:gd name="csX6" fmla="*/ 649026 w 656476"/>
                <a:gd name="csY6" fmla="*/ 120440 h 120159"/>
                <a:gd name="csX7" fmla="*/ 7856 w 656476"/>
                <a:gd name="csY7" fmla="*/ 120440 h 120159"/>
                <a:gd name="csX8" fmla="*/ 202 w 656476"/>
                <a:gd name="csY8" fmla="*/ 112787 h 120159"/>
                <a:gd name="csX9" fmla="*/ 202 w 656476"/>
                <a:gd name="csY9" fmla="*/ 112787 h 120159"/>
                <a:gd name="csX10" fmla="*/ 202 w 656476"/>
                <a:gd name="csY10" fmla="*/ 7934 h 120159"/>
                <a:gd name="csX11" fmla="*/ 7856 w 656476"/>
                <a:gd name="csY11" fmla="*/ 280 h 12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56476" h="120159">
                  <a:moveTo>
                    <a:pt x="7856" y="280"/>
                  </a:moveTo>
                  <a:cubicBezTo>
                    <a:pt x="237657" y="280"/>
                    <a:pt x="467457" y="280"/>
                    <a:pt x="649026" y="280"/>
                  </a:cubicBezTo>
                  <a:cubicBezTo>
                    <a:pt x="654128" y="280"/>
                    <a:pt x="656679" y="2832"/>
                    <a:pt x="656679" y="7934"/>
                  </a:cubicBezTo>
                  <a:moveTo>
                    <a:pt x="656679" y="7934"/>
                  </a:moveTo>
                  <a:cubicBezTo>
                    <a:pt x="656679" y="45869"/>
                    <a:pt x="656679" y="83803"/>
                    <a:pt x="656679" y="112787"/>
                  </a:cubicBezTo>
                  <a:cubicBezTo>
                    <a:pt x="656679" y="117889"/>
                    <a:pt x="654128" y="120440"/>
                    <a:pt x="649026" y="120440"/>
                  </a:cubicBezTo>
                  <a:moveTo>
                    <a:pt x="649026" y="120440"/>
                  </a:moveTo>
                  <a:cubicBezTo>
                    <a:pt x="467771" y="120440"/>
                    <a:pt x="286516" y="120440"/>
                    <a:pt x="7856" y="120440"/>
                  </a:cubicBezTo>
                  <a:cubicBezTo>
                    <a:pt x="2753" y="120440"/>
                    <a:pt x="202" y="117889"/>
                    <a:pt x="202" y="112787"/>
                  </a:cubicBezTo>
                  <a:moveTo>
                    <a:pt x="202" y="112787"/>
                  </a:moveTo>
                  <a:cubicBezTo>
                    <a:pt x="202" y="72279"/>
                    <a:pt x="202" y="31771"/>
                    <a:pt x="202" y="7934"/>
                  </a:cubicBezTo>
                  <a:cubicBezTo>
                    <a:pt x="202" y="2832"/>
                    <a:pt x="2753" y="280"/>
                    <a:pt x="7856" y="280"/>
                  </a:cubicBezTo>
                </a:path>
              </a:pathLst>
            </a:custGeom>
            <a:noFill/>
            <a:ln w="1674" cap="flat">
              <a:solidFill>
                <a:srgbClr val="0B0E5F"/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188" name="Freeform: Shape 187">
            <a:extLst>
              <a:ext uri="{FF2B5EF4-FFF2-40B4-BE49-F238E27FC236}">
                <a16:creationId xmlns:a16="http://schemas.microsoft.com/office/drawing/2014/main" id="{A5F24F7F-084E-F5BE-A11B-99CC6EB1591D}"/>
              </a:ext>
            </a:extLst>
          </p:cNvPr>
          <p:cNvSpPr/>
          <p:nvPr/>
        </p:nvSpPr>
        <p:spPr>
          <a:xfrm>
            <a:off x="223062" y="2520831"/>
            <a:ext cx="115830" cy="117192"/>
          </a:xfrm>
          <a:custGeom>
            <a:avLst/>
            <a:gdLst>
              <a:gd name="csX0" fmla="*/ 40719 w 46261"/>
              <a:gd name="csY0" fmla="*/ 26781 h 48216"/>
              <a:gd name="csX1" fmla="*/ 41058 w 46261"/>
              <a:gd name="csY1" fmla="*/ 24268 h 48216"/>
              <a:gd name="csX2" fmla="*/ 44733 w 46261"/>
              <a:gd name="csY2" fmla="*/ 27210 h 48216"/>
              <a:gd name="csX3" fmla="*/ 40721 w 46261"/>
              <a:gd name="csY3" fmla="*/ 26781 h 48216"/>
              <a:gd name="csX4" fmla="*/ 39052 w 46261"/>
              <a:gd name="csY4" fmla="*/ 26285 h 48216"/>
              <a:gd name="csX5" fmla="*/ 23829 w 46261"/>
              <a:gd name="csY5" fmla="*/ 20087 h 48216"/>
              <a:gd name="csX6" fmla="*/ 23834 w 46261"/>
              <a:gd name="csY6" fmla="*/ 20053 h 48216"/>
              <a:gd name="csX7" fmla="*/ 21763 w 46261"/>
              <a:gd name="csY7" fmla="*/ 17981 h 48216"/>
              <a:gd name="csX8" fmla="*/ 19691 w 46261"/>
              <a:gd name="csY8" fmla="*/ 20053 h 48216"/>
              <a:gd name="csX9" fmla="*/ 21763 w 46261"/>
              <a:gd name="csY9" fmla="*/ 22125 h 48216"/>
              <a:gd name="csX10" fmla="*/ 23061 w 46261"/>
              <a:gd name="csY10" fmla="*/ 21630 h 48216"/>
              <a:gd name="csX11" fmla="*/ 38818 w 46261"/>
              <a:gd name="csY11" fmla="*/ 28024 h 48216"/>
              <a:gd name="csX12" fmla="*/ 36789 w 46261"/>
              <a:gd name="csY12" fmla="*/ 43070 h 48216"/>
              <a:gd name="csX13" fmla="*/ 21723 w 46261"/>
              <a:gd name="csY13" fmla="*/ 46772 h 48216"/>
              <a:gd name="csX14" fmla="*/ 6648 w 46261"/>
              <a:gd name="csY14" fmla="*/ 42956 h 48216"/>
              <a:gd name="csX15" fmla="*/ 2407 w 46261"/>
              <a:gd name="csY15" fmla="*/ 11581 h 48216"/>
              <a:gd name="csX16" fmla="*/ 21721 w 46261"/>
              <a:gd name="csY16" fmla="*/ 15775 h 48216"/>
              <a:gd name="csX17" fmla="*/ 41039 w 46261"/>
              <a:gd name="csY17" fmla="*/ 11579 h 48216"/>
              <a:gd name="csX18" fmla="*/ 39052 w 46261"/>
              <a:gd name="csY18" fmla="*/ 26285 h 48216"/>
              <a:gd name="csX19" fmla="*/ 1925 w 46261"/>
              <a:gd name="csY19" fmla="*/ 8009 h 48216"/>
              <a:gd name="csX20" fmla="*/ 21721 w 46261"/>
              <a:gd name="csY20" fmla="*/ 1999 h 48216"/>
              <a:gd name="csX21" fmla="*/ 41525 w 46261"/>
              <a:gd name="csY21" fmla="*/ 8009 h 48216"/>
              <a:gd name="csX22" fmla="*/ 41525 w 46261"/>
              <a:gd name="csY22" fmla="*/ 8204 h 48216"/>
              <a:gd name="csX23" fmla="*/ 21721 w 46261"/>
              <a:gd name="csY23" fmla="*/ 14053 h 48216"/>
              <a:gd name="csX24" fmla="*/ 1949 w 46261"/>
              <a:gd name="csY24" fmla="*/ 8205 h 48216"/>
              <a:gd name="csX25" fmla="*/ 1923 w 46261"/>
              <a:gd name="csY25" fmla="*/ 8007 h 48216"/>
              <a:gd name="csX26" fmla="*/ 43247 w 46261"/>
              <a:gd name="csY26" fmla="*/ 8026 h 48216"/>
              <a:gd name="csX27" fmla="*/ 21721 w 46261"/>
              <a:gd name="csY27" fmla="*/ 277 h 48216"/>
              <a:gd name="csX28" fmla="*/ 196 w 46261"/>
              <a:gd name="csY28" fmla="*/ 8026 h 48216"/>
              <a:gd name="csX29" fmla="*/ 196 w 46261"/>
              <a:gd name="csY29" fmla="*/ 8142 h 48216"/>
              <a:gd name="csX30" fmla="*/ 4933 w 46261"/>
              <a:gd name="csY30" fmla="*/ 43070 h 48216"/>
              <a:gd name="csX31" fmla="*/ 21723 w 46261"/>
              <a:gd name="csY31" fmla="*/ 48494 h 48216"/>
              <a:gd name="csX32" fmla="*/ 38501 w 46261"/>
              <a:gd name="csY32" fmla="*/ 43185 h 48216"/>
              <a:gd name="csX33" fmla="*/ 40485 w 46261"/>
              <a:gd name="csY33" fmla="*/ 28501 h 48216"/>
              <a:gd name="csX34" fmla="*/ 43922 w 46261"/>
              <a:gd name="csY34" fmla="*/ 29066 h 48216"/>
              <a:gd name="csX35" fmla="*/ 46050 w 46261"/>
              <a:gd name="csY35" fmla="*/ 28320 h 48216"/>
              <a:gd name="csX36" fmla="*/ 46424 w 46261"/>
              <a:gd name="csY36" fmla="*/ 26891 h 48216"/>
              <a:gd name="csX37" fmla="*/ 41335 w 46261"/>
              <a:gd name="csY37" fmla="*/ 22440 h 48216"/>
              <a:gd name="csX38" fmla="*/ 41301 w 46261"/>
              <a:gd name="csY38" fmla="*/ 22484 h 48216"/>
              <a:gd name="csX39" fmla="*/ 43247 w 46261"/>
              <a:gd name="csY39" fmla="*/ 8142 h 48216"/>
              <a:gd name="csX40" fmla="*/ 43247 w 46261"/>
              <a:gd name="csY40" fmla="*/ 8026 h 482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46261" h="48216">
                <a:moveTo>
                  <a:pt x="40719" y="26781"/>
                </a:moveTo>
                <a:lnTo>
                  <a:pt x="41058" y="24268"/>
                </a:lnTo>
                <a:cubicBezTo>
                  <a:pt x="44661" y="26335"/>
                  <a:pt x="44735" y="27186"/>
                  <a:pt x="44733" y="27210"/>
                </a:cubicBezTo>
                <a:cubicBezTo>
                  <a:pt x="44726" y="27215"/>
                  <a:pt x="44123" y="27697"/>
                  <a:pt x="40721" y="26781"/>
                </a:cubicBezTo>
                <a:close/>
                <a:moveTo>
                  <a:pt x="39052" y="26285"/>
                </a:moveTo>
                <a:cubicBezTo>
                  <a:pt x="34158" y="24740"/>
                  <a:pt x="27583" y="21856"/>
                  <a:pt x="23829" y="20087"/>
                </a:cubicBezTo>
                <a:cubicBezTo>
                  <a:pt x="23829" y="20075"/>
                  <a:pt x="23834" y="20065"/>
                  <a:pt x="23834" y="20053"/>
                </a:cubicBezTo>
                <a:cubicBezTo>
                  <a:pt x="23834" y="18911"/>
                  <a:pt x="22904" y="17981"/>
                  <a:pt x="21763" y="17981"/>
                </a:cubicBezTo>
                <a:cubicBezTo>
                  <a:pt x="20621" y="17981"/>
                  <a:pt x="19691" y="18911"/>
                  <a:pt x="19691" y="20053"/>
                </a:cubicBezTo>
                <a:cubicBezTo>
                  <a:pt x="19691" y="21196"/>
                  <a:pt x="20621" y="22125"/>
                  <a:pt x="21763" y="22125"/>
                </a:cubicBezTo>
                <a:cubicBezTo>
                  <a:pt x="22262" y="22125"/>
                  <a:pt x="22703" y="21925"/>
                  <a:pt x="23061" y="21630"/>
                </a:cubicBezTo>
                <a:cubicBezTo>
                  <a:pt x="25248" y="22653"/>
                  <a:pt x="33044" y="26238"/>
                  <a:pt x="38818" y="28024"/>
                </a:cubicBezTo>
                <a:lnTo>
                  <a:pt x="36789" y="43070"/>
                </a:lnTo>
                <a:cubicBezTo>
                  <a:pt x="36789" y="44561"/>
                  <a:pt x="30462" y="46772"/>
                  <a:pt x="21723" y="46772"/>
                </a:cubicBezTo>
                <a:cubicBezTo>
                  <a:pt x="12984" y="46772"/>
                  <a:pt x="6657" y="44561"/>
                  <a:pt x="6648" y="42956"/>
                </a:cubicBezTo>
                <a:lnTo>
                  <a:pt x="2407" y="11581"/>
                </a:lnTo>
                <a:cubicBezTo>
                  <a:pt x="6151" y="14319"/>
                  <a:pt x="14100" y="15775"/>
                  <a:pt x="21721" y="15775"/>
                </a:cubicBezTo>
                <a:cubicBezTo>
                  <a:pt x="29343" y="15775"/>
                  <a:pt x="37294" y="14320"/>
                  <a:pt x="41039" y="11579"/>
                </a:cubicBezTo>
                <a:lnTo>
                  <a:pt x="39052" y="26285"/>
                </a:lnTo>
                <a:close/>
                <a:moveTo>
                  <a:pt x="1925" y="8009"/>
                </a:moveTo>
                <a:cubicBezTo>
                  <a:pt x="1971" y="6494"/>
                  <a:pt x="8983" y="1999"/>
                  <a:pt x="21721" y="1999"/>
                </a:cubicBezTo>
                <a:cubicBezTo>
                  <a:pt x="34456" y="1999"/>
                  <a:pt x="41473" y="6494"/>
                  <a:pt x="41525" y="8009"/>
                </a:cubicBezTo>
                <a:lnTo>
                  <a:pt x="41525" y="8204"/>
                </a:lnTo>
                <a:cubicBezTo>
                  <a:pt x="41198" y="11007"/>
                  <a:pt x="33150" y="14053"/>
                  <a:pt x="21721" y="14053"/>
                </a:cubicBezTo>
                <a:cubicBezTo>
                  <a:pt x="10292" y="14053"/>
                  <a:pt x="2280" y="11007"/>
                  <a:pt x="1949" y="8205"/>
                </a:cubicBezTo>
                <a:lnTo>
                  <a:pt x="1923" y="8007"/>
                </a:lnTo>
                <a:close/>
                <a:moveTo>
                  <a:pt x="43247" y="8026"/>
                </a:moveTo>
                <a:cubicBezTo>
                  <a:pt x="43247" y="4866"/>
                  <a:pt x="34862" y="277"/>
                  <a:pt x="21721" y="277"/>
                </a:cubicBezTo>
                <a:cubicBezTo>
                  <a:pt x="8582" y="277"/>
                  <a:pt x="196" y="4866"/>
                  <a:pt x="196" y="8026"/>
                </a:cubicBezTo>
                <a:lnTo>
                  <a:pt x="196" y="8142"/>
                </a:lnTo>
                <a:lnTo>
                  <a:pt x="4933" y="43070"/>
                </a:lnTo>
                <a:cubicBezTo>
                  <a:pt x="4933" y="46593"/>
                  <a:pt x="13581" y="48494"/>
                  <a:pt x="21723" y="48494"/>
                </a:cubicBezTo>
                <a:cubicBezTo>
                  <a:pt x="29860" y="48494"/>
                  <a:pt x="38509" y="46593"/>
                  <a:pt x="38501" y="43185"/>
                </a:cubicBezTo>
                <a:lnTo>
                  <a:pt x="40485" y="28501"/>
                </a:lnTo>
                <a:cubicBezTo>
                  <a:pt x="41898" y="28870"/>
                  <a:pt x="43042" y="29066"/>
                  <a:pt x="43922" y="29066"/>
                </a:cubicBezTo>
                <a:cubicBezTo>
                  <a:pt x="44943" y="29066"/>
                  <a:pt x="45634" y="28818"/>
                  <a:pt x="46050" y="28320"/>
                </a:cubicBezTo>
                <a:cubicBezTo>
                  <a:pt x="46389" y="27927"/>
                  <a:pt x="46527" y="27400"/>
                  <a:pt x="46424" y="26891"/>
                </a:cubicBezTo>
                <a:cubicBezTo>
                  <a:pt x="46188" y="25619"/>
                  <a:pt x="44619" y="24246"/>
                  <a:pt x="41335" y="22440"/>
                </a:cubicBezTo>
                <a:lnTo>
                  <a:pt x="41301" y="22484"/>
                </a:lnTo>
                <a:lnTo>
                  <a:pt x="43247" y="8142"/>
                </a:lnTo>
                <a:lnTo>
                  <a:pt x="43247" y="8026"/>
                </a:lnTo>
                <a:close/>
              </a:path>
            </a:pathLst>
          </a:custGeom>
          <a:solidFill>
            <a:srgbClr val="FFFFFF"/>
          </a:solidFill>
          <a:ln w="1722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DC7602B-EE8E-1435-925F-F97301319A22}"/>
              </a:ext>
            </a:extLst>
          </p:cNvPr>
          <p:cNvSpPr txBox="1"/>
          <p:nvPr/>
        </p:nvSpPr>
        <p:spPr>
          <a:xfrm>
            <a:off x="223063" y="2457097"/>
            <a:ext cx="102526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1000" b="1"/>
              <a:t>DATA SOURCES</a:t>
            </a:r>
          </a:p>
        </p:txBody>
      </p:sp>
      <p:sp>
        <p:nvSpPr>
          <p:cNvPr id="192" name="Freeform: Shape 191">
            <a:extLst>
              <a:ext uri="{FF2B5EF4-FFF2-40B4-BE49-F238E27FC236}">
                <a16:creationId xmlns:a16="http://schemas.microsoft.com/office/drawing/2014/main" id="{D4EC6335-E5B4-78B5-E93F-EE9ED6FD4DA7}"/>
              </a:ext>
            </a:extLst>
          </p:cNvPr>
          <p:cNvSpPr/>
          <p:nvPr/>
        </p:nvSpPr>
        <p:spPr>
          <a:xfrm>
            <a:off x="1634870" y="2450273"/>
            <a:ext cx="3963008" cy="2049897"/>
          </a:xfrm>
          <a:custGeom>
            <a:avLst/>
            <a:gdLst>
              <a:gd name="csX0" fmla="*/ 46534 w 3963008"/>
              <a:gd name="csY0" fmla="*/ 216 h 1544472"/>
              <a:gd name="csX1" fmla="*/ 3917701 w 3963008"/>
              <a:gd name="csY1" fmla="*/ 216 h 1544472"/>
              <a:gd name="csX2" fmla="*/ 3963622 w 3963008"/>
              <a:gd name="csY2" fmla="*/ 46137 h 1544472"/>
              <a:gd name="csX3" fmla="*/ 3963622 w 3963008"/>
              <a:gd name="csY3" fmla="*/ 1498768 h 1544472"/>
              <a:gd name="csX4" fmla="*/ 3917701 w 3963008"/>
              <a:gd name="csY4" fmla="*/ 1544689 h 1544472"/>
              <a:gd name="csX5" fmla="*/ 46534 w 3963008"/>
              <a:gd name="csY5" fmla="*/ 1544689 h 1544472"/>
              <a:gd name="csX6" fmla="*/ 613 w 3963008"/>
              <a:gd name="csY6" fmla="*/ 1498768 h 1544472"/>
              <a:gd name="csX7" fmla="*/ 613 w 3963008"/>
              <a:gd name="csY7" fmla="*/ 46137 h 1544472"/>
              <a:gd name="csX8" fmla="*/ 46534 w 3963008"/>
              <a:gd name="csY8" fmla="*/ 216 h 15444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63008" h="1544472">
                <a:moveTo>
                  <a:pt x="46534" y="216"/>
                </a:moveTo>
                <a:cubicBezTo>
                  <a:pt x="1093443" y="216"/>
                  <a:pt x="2140352" y="216"/>
                  <a:pt x="3917701" y="216"/>
                </a:cubicBezTo>
                <a:cubicBezTo>
                  <a:pt x="3948315" y="216"/>
                  <a:pt x="3963622" y="15523"/>
                  <a:pt x="3963622" y="46137"/>
                </a:cubicBezTo>
                <a:cubicBezTo>
                  <a:pt x="3963622" y="395256"/>
                  <a:pt x="3963622" y="744374"/>
                  <a:pt x="3963622" y="1498768"/>
                </a:cubicBezTo>
                <a:cubicBezTo>
                  <a:pt x="3963622" y="1529382"/>
                  <a:pt x="3948315" y="1544689"/>
                  <a:pt x="3917701" y="1544689"/>
                </a:cubicBezTo>
                <a:cubicBezTo>
                  <a:pt x="2595299" y="1544689"/>
                  <a:pt x="1272896" y="1544689"/>
                  <a:pt x="46534" y="1544689"/>
                </a:cubicBezTo>
                <a:cubicBezTo>
                  <a:pt x="15920" y="1544689"/>
                  <a:pt x="613" y="1529382"/>
                  <a:pt x="613" y="1498768"/>
                </a:cubicBezTo>
                <a:cubicBezTo>
                  <a:pt x="613" y="933573"/>
                  <a:pt x="613" y="368378"/>
                  <a:pt x="613" y="46137"/>
                </a:cubicBezTo>
                <a:cubicBezTo>
                  <a:pt x="613" y="15523"/>
                  <a:pt x="15920" y="216"/>
                  <a:pt x="46534" y="216"/>
                </a:cubicBezTo>
              </a:path>
            </a:pathLst>
          </a:custGeom>
          <a:solidFill>
            <a:srgbClr val="F8F4F6"/>
          </a:solidFill>
          <a:ln w="0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93" name="Freeform: Shape 192">
            <a:extLst>
              <a:ext uri="{FF2B5EF4-FFF2-40B4-BE49-F238E27FC236}">
                <a16:creationId xmlns:a16="http://schemas.microsoft.com/office/drawing/2014/main" id="{D9EC7771-1AA8-D764-72AB-B60C36308873}"/>
              </a:ext>
            </a:extLst>
          </p:cNvPr>
          <p:cNvSpPr/>
          <p:nvPr/>
        </p:nvSpPr>
        <p:spPr>
          <a:xfrm>
            <a:off x="1619563" y="2429957"/>
            <a:ext cx="3963008" cy="2049897"/>
          </a:xfrm>
          <a:custGeom>
            <a:avLst/>
            <a:gdLst>
              <a:gd name="csX0" fmla="*/ 46534 w 3963008"/>
              <a:gd name="csY0" fmla="*/ 216 h 1544472"/>
              <a:gd name="csX1" fmla="*/ 3917701 w 3963008"/>
              <a:gd name="csY1" fmla="*/ 216 h 1544472"/>
              <a:gd name="csX2" fmla="*/ 3937792 w 3963008"/>
              <a:gd name="csY2" fmla="*/ 3086 h 1544472"/>
              <a:gd name="csX3" fmla="*/ 3945684 w 3963008"/>
              <a:gd name="csY3" fmla="*/ 6674 h 1544472"/>
              <a:gd name="csX4" fmla="*/ 3957165 w 3963008"/>
              <a:gd name="csY4" fmla="*/ 18154 h 1544472"/>
              <a:gd name="csX5" fmla="*/ 3963622 w 3963008"/>
              <a:gd name="csY5" fmla="*/ 46137 h 1544472"/>
              <a:gd name="csX6" fmla="*/ 3963622 w 3963008"/>
              <a:gd name="csY6" fmla="*/ 1498768 h 1544472"/>
              <a:gd name="csX7" fmla="*/ 3960752 w 3963008"/>
              <a:gd name="csY7" fmla="*/ 1518859 h 1544472"/>
              <a:gd name="csX8" fmla="*/ 3957165 w 3963008"/>
              <a:gd name="csY8" fmla="*/ 1526751 h 1544472"/>
              <a:gd name="csX9" fmla="*/ 3945684 w 3963008"/>
              <a:gd name="csY9" fmla="*/ 1538232 h 1544472"/>
              <a:gd name="csX10" fmla="*/ 3917701 w 3963008"/>
              <a:gd name="csY10" fmla="*/ 1544689 h 1544472"/>
              <a:gd name="csX11" fmla="*/ 46534 w 3963008"/>
              <a:gd name="csY11" fmla="*/ 1544689 h 1544472"/>
              <a:gd name="csX12" fmla="*/ 26444 w 3963008"/>
              <a:gd name="csY12" fmla="*/ 1541819 h 1544472"/>
              <a:gd name="csX13" fmla="*/ 18551 w 3963008"/>
              <a:gd name="csY13" fmla="*/ 1538232 h 1544472"/>
              <a:gd name="csX14" fmla="*/ 7071 w 3963008"/>
              <a:gd name="csY14" fmla="*/ 1526751 h 1544472"/>
              <a:gd name="csX15" fmla="*/ 613 w 3963008"/>
              <a:gd name="csY15" fmla="*/ 1498768 h 1544472"/>
              <a:gd name="csX16" fmla="*/ 613 w 3963008"/>
              <a:gd name="csY16" fmla="*/ 46137 h 1544472"/>
              <a:gd name="csX17" fmla="*/ 3483 w 3963008"/>
              <a:gd name="csY17" fmla="*/ 26047 h 1544472"/>
              <a:gd name="csX18" fmla="*/ 12093 w 3963008"/>
              <a:gd name="csY18" fmla="*/ 11697 h 1544472"/>
              <a:gd name="csX19" fmla="*/ 26444 w 3963008"/>
              <a:gd name="csY19" fmla="*/ 3086 h 1544472"/>
              <a:gd name="csX20" fmla="*/ 46534 w 3963008"/>
              <a:gd name="csY20" fmla="*/ 216 h 15444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963008" h="1544472">
                <a:moveTo>
                  <a:pt x="46534" y="216"/>
                </a:moveTo>
                <a:lnTo>
                  <a:pt x="3917701" y="216"/>
                </a:lnTo>
                <a:lnTo>
                  <a:pt x="3937792" y="3086"/>
                </a:lnTo>
                <a:lnTo>
                  <a:pt x="3945684" y="6674"/>
                </a:lnTo>
                <a:lnTo>
                  <a:pt x="3957165" y="18154"/>
                </a:lnTo>
                <a:lnTo>
                  <a:pt x="3963622" y="46137"/>
                </a:lnTo>
                <a:lnTo>
                  <a:pt x="3963622" y="1498768"/>
                </a:lnTo>
                <a:lnTo>
                  <a:pt x="3960752" y="1518859"/>
                </a:lnTo>
                <a:lnTo>
                  <a:pt x="3957165" y="1526751"/>
                </a:lnTo>
                <a:lnTo>
                  <a:pt x="3945684" y="1538232"/>
                </a:lnTo>
                <a:lnTo>
                  <a:pt x="3917701" y="1544689"/>
                </a:lnTo>
                <a:lnTo>
                  <a:pt x="46534" y="1544689"/>
                </a:lnTo>
                <a:lnTo>
                  <a:pt x="26444" y="1541819"/>
                </a:lnTo>
                <a:lnTo>
                  <a:pt x="18551" y="1538232"/>
                </a:lnTo>
                <a:lnTo>
                  <a:pt x="7071" y="1526751"/>
                </a:lnTo>
                <a:lnTo>
                  <a:pt x="613" y="1498768"/>
                </a:lnTo>
                <a:lnTo>
                  <a:pt x="613" y="46137"/>
                </a:lnTo>
                <a:lnTo>
                  <a:pt x="3483" y="26047"/>
                </a:lnTo>
                <a:lnTo>
                  <a:pt x="12093" y="11697"/>
                </a:lnTo>
                <a:lnTo>
                  <a:pt x="26444" y="3086"/>
                </a:lnTo>
                <a:lnTo>
                  <a:pt x="46534" y="216"/>
                </a:lnTo>
              </a:path>
            </a:pathLst>
          </a:custGeom>
          <a:solidFill>
            <a:srgbClr val="F8F4F6"/>
          </a:solidFill>
          <a:ln w="0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94" name="Freeform: Shape 193">
            <a:extLst>
              <a:ext uri="{FF2B5EF4-FFF2-40B4-BE49-F238E27FC236}">
                <a16:creationId xmlns:a16="http://schemas.microsoft.com/office/drawing/2014/main" id="{9C82668C-F521-2D11-1B63-4EC65A8FBCA9}"/>
              </a:ext>
            </a:extLst>
          </p:cNvPr>
          <p:cNvSpPr/>
          <p:nvPr/>
        </p:nvSpPr>
        <p:spPr>
          <a:xfrm>
            <a:off x="1619563" y="2429957"/>
            <a:ext cx="3963008" cy="2049897"/>
          </a:xfrm>
          <a:custGeom>
            <a:avLst/>
            <a:gdLst>
              <a:gd name="csX0" fmla="*/ 46534 w 3963008"/>
              <a:gd name="csY0" fmla="*/ 216 h 1544472"/>
              <a:gd name="csX1" fmla="*/ 3917701 w 3963008"/>
              <a:gd name="csY1" fmla="*/ 216 h 1544472"/>
              <a:gd name="csX2" fmla="*/ 3963622 w 3963008"/>
              <a:gd name="csY2" fmla="*/ 46137 h 1544472"/>
              <a:gd name="csX3" fmla="*/ 3963622 w 3963008"/>
              <a:gd name="csY3" fmla="*/ 46137 h 1544472"/>
              <a:gd name="csX4" fmla="*/ 3963622 w 3963008"/>
              <a:gd name="csY4" fmla="*/ 1498768 h 1544472"/>
              <a:gd name="csX5" fmla="*/ 3917701 w 3963008"/>
              <a:gd name="csY5" fmla="*/ 1544689 h 1544472"/>
              <a:gd name="csX6" fmla="*/ 3917701 w 3963008"/>
              <a:gd name="csY6" fmla="*/ 1544689 h 1544472"/>
              <a:gd name="csX7" fmla="*/ 46534 w 3963008"/>
              <a:gd name="csY7" fmla="*/ 1544689 h 1544472"/>
              <a:gd name="csX8" fmla="*/ 613 w 3963008"/>
              <a:gd name="csY8" fmla="*/ 1498768 h 1544472"/>
              <a:gd name="csX9" fmla="*/ 613 w 3963008"/>
              <a:gd name="csY9" fmla="*/ 1498768 h 1544472"/>
              <a:gd name="csX10" fmla="*/ 613 w 3963008"/>
              <a:gd name="csY10" fmla="*/ 46137 h 1544472"/>
              <a:gd name="csX11" fmla="*/ 46534 w 3963008"/>
              <a:gd name="csY11" fmla="*/ 216 h 15444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963008" h="1544472">
                <a:moveTo>
                  <a:pt x="46534" y="216"/>
                </a:moveTo>
                <a:cubicBezTo>
                  <a:pt x="1093443" y="216"/>
                  <a:pt x="2140352" y="216"/>
                  <a:pt x="3917701" y="216"/>
                </a:cubicBezTo>
                <a:cubicBezTo>
                  <a:pt x="3948315" y="216"/>
                  <a:pt x="3963622" y="15523"/>
                  <a:pt x="3963622" y="46137"/>
                </a:cubicBezTo>
                <a:moveTo>
                  <a:pt x="3963622" y="46137"/>
                </a:moveTo>
                <a:cubicBezTo>
                  <a:pt x="3963622" y="395256"/>
                  <a:pt x="3963622" y="744374"/>
                  <a:pt x="3963622" y="1498768"/>
                </a:cubicBezTo>
                <a:cubicBezTo>
                  <a:pt x="3963622" y="1529382"/>
                  <a:pt x="3948315" y="1544689"/>
                  <a:pt x="3917701" y="1544689"/>
                </a:cubicBezTo>
                <a:moveTo>
                  <a:pt x="3917701" y="1544689"/>
                </a:moveTo>
                <a:cubicBezTo>
                  <a:pt x="2595299" y="1544689"/>
                  <a:pt x="1272896" y="1544689"/>
                  <a:pt x="46534" y="1544689"/>
                </a:cubicBezTo>
                <a:cubicBezTo>
                  <a:pt x="15920" y="1544689"/>
                  <a:pt x="613" y="1529382"/>
                  <a:pt x="613" y="1498768"/>
                </a:cubicBezTo>
                <a:moveTo>
                  <a:pt x="613" y="1498768"/>
                </a:moveTo>
                <a:cubicBezTo>
                  <a:pt x="613" y="933573"/>
                  <a:pt x="613" y="368378"/>
                  <a:pt x="613" y="46137"/>
                </a:cubicBezTo>
                <a:cubicBezTo>
                  <a:pt x="613" y="15523"/>
                  <a:pt x="15920" y="216"/>
                  <a:pt x="46534" y="216"/>
                </a:cubicBezTo>
              </a:path>
            </a:pathLst>
          </a:custGeom>
          <a:noFill/>
          <a:ln w="5023" cap="flat">
            <a:solidFill>
              <a:srgbClr val="812B47"/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195" name="Graphic 239">
            <a:extLst>
              <a:ext uri="{FF2B5EF4-FFF2-40B4-BE49-F238E27FC236}">
                <a16:creationId xmlns:a16="http://schemas.microsoft.com/office/drawing/2014/main" id="{DC383C63-3BFB-7F54-48AB-3A17D32377A4}"/>
              </a:ext>
            </a:extLst>
          </p:cNvPr>
          <p:cNvGrpSpPr/>
          <p:nvPr/>
        </p:nvGrpSpPr>
        <p:grpSpPr>
          <a:xfrm>
            <a:off x="1645844" y="2496064"/>
            <a:ext cx="1009571" cy="180436"/>
            <a:chOff x="2375299" y="2420142"/>
            <a:chExt cx="598787" cy="120159"/>
          </a:xfrm>
        </p:grpSpPr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26193432-D85B-55E1-38E1-5587017F39BC}"/>
                </a:ext>
              </a:extLst>
            </p:cNvPr>
            <p:cNvSpPr/>
            <p:nvPr/>
          </p:nvSpPr>
          <p:spPr>
            <a:xfrm>
              <a:off x="2375299" y="2420142"/>
              <a:ext cx="598787" cy="120159"/>
            </a:xfrm>
            <a:custGeom>
              <a:avLst/>
              <a:gdLst>
                <a:gd name="csX0" fmla="*/ 8274 w 598787"/>
                <a:gd name="csY0" fmla="*/ 224 h 120159"/>
                <a:gd name="csX1" fmla="*/ 591755 w 598787"/>
                <a:gd name="csY1" fmla="*/ 224 h 120159"/>
                <a:gd name="csX2" fmla="*/ 597495 w 598787"/>
                <a:gd name="csY2" fmla="*/ 2137 h 120159"/>
                <a:gd name="csX3" fmla="*/ 599409 w 598787"/>
                <a:gd name="csY3" fmla="*/ 7877 h 120159"/>
                <a:gd name="csX4" fmla="*/ 599409 w 598787"/>
                <a:gd name="csY4" fmla="*/ 112730 h 120159"/>
                <a:gd name="csX5" fmla="*/ 597495 w 598787"/>
                <a:gd name="csY5" fmla="*/ 118470 h 120159"/>
                <a:gd name="csX6" fmla="*/ 591755 w 598787"/>
                <a:gd name="csY6" fmla="*/ 120384 h 120159"/>
                <a:gd name="csX7" fmla="*/ 8274 w 598787"/>
                <a:gd name="csY7" fmla="*/ 120384 h 120159"/>
                <a:gd name="csX8" fmla="*/ 2534 w 598787"/>
                <a:gd name="csY8" fmla="*/ 118470 h 120159"/>
                <a:gd name="csX9" fmla="*/ 621 w 598787"/>
                <a:gd name="csY9" fmla="*/ 112730 h 120159"/>
                <a:gd name="csX10" fmla="*/ 621 w 598787"/>
                <a:gd name="csY10" fmla="*/ 7877 h 120159"/>
                <a:gd name="csX11" fmla="*/ 2534 w 598787"/>
                <a:gd name="csY11" fmla="*/ 2137 h 120159"/>
                <a:gd name="csX12" fmla="*/ 8274 w 598787"/>
                <a:gd name="csY12" fmla="*/ 224 h 12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98787" h="120159">
                  <a:moveTo>
                    <a:pt x="8274" y="224"/>
                  </a:moveTo>
                  <a:lnTo>
                    <a:pt x="591755" y="224"/>
                  </a:lnTo>
                  <a:lnTo>
                    <a:pt x="597495" y="2137"/>
                  </a:lnTo>
                  <a:lnTo>
                    <a:pt x="599409" y="7877"/>
                  </a:lnTo>
                  <a:lnTo>
                    <a:pt x="599409" y="112730"/>
                  </a:lnTo>
                  <a:lnTo>
                    <a:pt x="597495" y="118470"/>
                  </a:lnTo>
                  <a:lnTo>
                    <a:pt x="591755" y="120384"/>
                  </a:lnTo>
                  <a:lnTo>
                    <a:pt x="8274" y="120384"/>
                  </a:lnTo>
                  <a:lnTo>
                    <a:pt x="2534" y="118470"/>
                  </a:lnTo>
                  <a:lnTo>
                    <a:pt x="621" y="112730"/>
                  </a:lnTo>
                  <a:lnTo>
                    <a:pt x="621" y="7877"/>
                  </a:lnTo>
                  <a:lnTo>
                    <a:pt x="2534" y="2137"/>
                  </a:lnTo>
                  <a:lnTo>
                    <a:pt x="8274" y="224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391FAE33-3122-F5DA-1A12-B7DCF7F8D2FA}"/>
                </a:ext>
              </a:extLst>
            </p:cNvPr>
            <p:cNvSpPr/>
            <p:nvPr/>
          </p:nvSpPr>
          <p:spPr>
            <a:xfrm>
              <a:off x="2375299" y="2420142"/>
              <a:ext cx="598787" cy="120159"/>
            </a:xfrm>
            <a:custGeom>
              <a:avLst/>
              <a:gdLst>
                <a:gd name="csX0" fmla="*/ 8274 w 598787"/>
                <a:gd name="csY0" fmla="*/ 224 h 120159"/>
                <a:gd name="csX1" fmla="*/ 591755 w 598787"/>
                <a:gd name="csY1" fmla="*/ 224 h 120159"/>
                <a:gd name="csX2" fmla="*/ 599409 w 598787"/>
                <a:gd name="csY2" fmla="*/ 7877 h 120159"/>
                <a:gd name="csX3" fmla="*/ 599409 w 598787"/>
                <a:gd name="csY3" fmla="*/ 7877 h 120159"/>
                <a:gd name="csX4" fmla="*/ 599409 w 598787"/>
                <a:gd name="csY4" fmla="*/ 112730 h 120159"/>
                <a:gd name="csX5" fmla="*/ 591755 w 598787"/>
                <a:gd name="csY5" fmla="*/ 120384 h 120159"/>
                <a:gd name="csX6" fmla="*/ 591755 w 598787"/>
                <a:gd name="csY6" fmla="*/ 120384 h 120159"/>
                <a:gd name="csX7" fmla="*/ 8274 w 598787"/>
                <a:gd name="csY7" fmla="*/ 120384 h 120159"/>
                <a:gd name="csX8" fmla="*/ 621 w 598787"/>
                <a:gd name="csY8" fmla="*/ 112730 h 120159"/>
                <a:gd name="csX9" fmla="*/ 621 w 598787"/>
                <a:gd name="csY9" fmla="*/ 112730 h 120159"/>
                <a:gd name="csX10" fmla="*/ 621 w 598787"/>
                <a:gd name="csY10" fmla="*/ 7877 h 120159"/>
                <a:gd name="csX11" fmla="*/ 8274 w 598787"/>
                <a:gd name="csY11" fmla="*/ 224 h 12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598787" h="120159">
                  <a:moveTo>
                    <a:pt x="8274" y="224"/>
                  </a:moveTo>
                  <a:cubicBezTo>
                    <a:pt x="162816" y="224"/>
                    <a:pt x="317359" y="224"/>
                    <a:pt x="591755" y="224"/>
                  </a:cubicBezTo>
                  <a:cubicBezTo>
                    <a:pt x="596858" y="224"/>
                    <a:pt x="599409" y="2775"/>
                    <a:pt x="599409" y="7877"/>
                  </a:cubicBezTo>
                  <a:moveTo>
                    <a:pt x="599409" y="7877"/>
                  </a:moveTo>
                  <a:cubicBezTo>
                    <a:pt x="599409" y="49497"/>
                    <a:pt x="599409" y="91116"/>
                    <a:pt x="599409" y="112730"/>
                  </a:cubicBezTo>
                  <a:cubicBezTo>
                    <a:pt x="599409" y="117832"/>
                    <a:pt x="596858" y="120384"/>
                    <a:pt x="591755" y="120384"/>
                  </a:cubicBezTo>
                  <a:moveTo>
                    <a:pt x="591755" y="120384"/>
                  </a:moveTo>
                  <a:cubicBezTo>
                    <a:pt x="366219" y="120384"/>
                    <a:pt x="140684" y="120384"/>
                    <a:pt x="8274" y="120384"/>
                  </a:cubicBezTo>
                  <a:cubicBezTo>
                    <a:pt x="3172" y="120384"/>
                    <a:pt x="621" y="117832"/>
                    <a:pt x="621" y="112730"/>
                  </a:cubicBezTo>
                  <a:moveTo>
                    <a:pt x="621" y="112730"/>
                  </a:moveTo>
                  <a:cubicBezTo>
                    <a:pt x="621" y="73800"/>
                    <a:pt x="621" y="34869"/>
                    <a:pt x="621" y="7877"/>
                  </a:cubicBezTo>
                  <a:cubicBezTo>
                    <a:pt x="621" y="2775"/>
                    <a:pt x="3172" y="224"/>
                    <a:pt x="8274" y="224"/>
                  </a:cubicBezTo>
                </a:path>
              </a:pathLst>
            </a:custGeom>
            <a:noFill/>
            <a:ln w="1674" cap="flat">
              <a:solidFill>
                <a:srgbClr val="812B47"/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196" name="Freeform: Shape 195">
            <a:extLst>
              <a:ext uri="{FF2B5EF4-FFF2-40B4-BE49-F238E27FC236}">
                <a16:creationId xmlns:a16="http://schemas.microsoft.com/office/drawing/2014/main" id="{937AC9CE-4735-7920-8E46-E2159FBC0F23}"/>
              </a:ext>
            </a:extLst>
          </p:cNvPr>
          <p:cNvSpPr/>
          <p:nvPr/>
        </p:nvSpPr>
        <p:spPr>
          <a:xfrm>
            <a:off x="1665044" y="2503684"/>
            <a:ext cx="153260" cy="166436"/>
          </a:xfrm>
          <a:custGeom>
            <a:avLst/>
            <a:gdLst>
              <a:gd name="csX0" fmla="*/ 623 w 63428"/>
              <a:gd name="csY0" fmla="*/ 40937 h 68881"/>
              <a:gd name="csX1" fmla="*/ 32337 w 63428"/>
              <a:gd name="csY1" fmla="*/ 58786 h 68881"/>
              <a:gd name="csX2" fmla="*/ 60805 w 63428"/>
              <a:gd name="csY2" fmla="*/ 42858 h 68881"/>
              <a:gd name="csX3" fmla="*/ 60805 w 63428"/>
              <a:gd name="csY3" fmla="*/ 49200 h 68881"/>
              <a:gd name="csX4" fmla="*/ 32337 w 63428"/>
              <a:gd name="csY4" fmla="*/ 65270 h 68881"/>
              <a:gd name="csX5" fmla="*/ 2247 w 63428"/>
              <a:gd name="csY5" fmla="*/ 48164 h 68881"/>
              <a:gd name="csX6" fmla="*/ 626 w 63428"/>
              <a:gd name="csY6" fmla="*/ 49048 h 68881"/>
              <a:gd name="csX7" fmla="*/ 626 w 63428"/>
              <a:gd name="csY7" fmla="*/ 51258 h 68881"/>
              <a:gd name="csX8" fmla="*/ 32337 w 63428"/>
              <a:gd name="csY8" fmla="*/ 69110 h 68881"/>
              <a:gd name="csX9" fmla="*/ 64051 w 63428"/>
              <a:gd name="csY9" fmla="*/ 51264 h 68881"/>
              <a:gd name="csX10" fmla="*/ 64051 w 63428"/>
              <a:gd name="csY10" fmla="*/ 38874 h 68881"/>
              <a:gd name="csX11" fmla="*/ 62573 w 63428"/>
              <a:gd name="csY11" fmla="*/ 37987 h 68881"/>
              <a:gd name="csX12" fmla="*/ 32337 w 63428"/>
              <a:gd name="csY12" fmla="*/ 55098 h 68881"/>
              <a:gd name="csX13" fmla="*/ 4018 w 63428"/>
              <a:gd name="csY13" fmla="*/ 38874 h 68881"/>
              <a:gd name="csX14" fmla="*/ 4018 w 63428"/>
              <a:gd name="csY14" fmla="*/ 32531 h 68881"/>
              <a:gd name="csX15" fmla="*/ 32337 w 63428"/>
              <a:gd name="csY15" fmla="*/ 48460 h 68881"/>
              <a:gd name="csX16" fmla="*/ 64051 w 63428"/>
              <a:gd name="csY16" fmla="*/ 30614 h 68881"/>
              <a:gd name="csX17" fmla="*/ 64051 w 63428"/>
              <a:gd name="csY17" fmla="*/ 18367 h 68881"/>
              <a:gd name="csX18" fmla="*/ 62573 w 63428"/>
              <a:gd name="csY18" fmla="*/ 17483 h 68881"/>
              <a:gd name="csX19" fmla="*/ 32337 w 63428"/>
              <a:gd name="csY19" fmla="*/ 34595 h 68881"/>
              <a:gd name="csX20" fmla="*/ 5493 w 63428"/>
              <a:gd name="csY20" fmla="*/ 19403 h 68881"/>
              <a:gd name="csX21" fmla="*/ 32337 w 63428"/>
              <a:gd name="csY21" fmla="*/ 4212 h 68881"/>
              <a:gd name="csX22" fmla="*/ 54608 w 63428"/>
              <a:gd name="csY22" fmla="*/ 16749 h 68881"/>
              <a:gd name="csX23" fmla="*/ 56526 w 63428"/>
              <a:gd name="csY23" fmla="*/ 15569 h 68881"/>
              <a:gd name="csX24" fmla="*/ 56526 w 63428"/>
              <a:gd name="csY24" fmla="*/ 13945 h 68881"/>
              <a:gd name="csX25" fmla="*/ 32337 w 63428"/>
              <a:gd name="csY25" fmla="*/ 229 h 68881"/>
              <a:gd name="csX26" fmla="*/ 623 w 63428"/>
              <a:gd name="csY26" fmla="*/ 18224 h 68881"/>
              <a:gd name="csX27" fmla="*/ 623 w 63428"/>
              <a:gd name="csY27" fmla="*/ 20290 h 68881"/>
              <a:gd name="csX28" fmla="*/ 32337 w 63428"/>
              <a:gd name="csY28" fmla="*/ 38133 h 68881"/>
              <a:gd name="csX29" fmla="*/ 60805 w 63428"/>
              <a:gd name="csY29" fmla="*/ 22205 h 68881"/>
              <a:gd name="csX30" fmla="*/ 60805 w 63428"/>
              <a:gd name="csY30" fmla="*/ 28691 h 68881"/>
              <a:gd name="csX31" fmla="*/ 32337 w 63428"/>
              <a:gd name="csY31" fmla="*/ 44772 h 68881"/>
              <a:gd name="csX32" fmla="*/ 2247 w 63428"/>
              <a:gd name="csY32" fmla="*/ 27666 h 68881"/>
              <a:gd name="csX33" fmla="*/ 626 w 63428"/>
              <a:gd name="csY33" fmla="*/ 28550 h 68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63428" h="68881">
                <a:moveTo>
                  <a:pt x="623" y="40937"/>
                </a:moveTo>
                <a:lnTo>
                  <a:pt x="32337" y="58786"/>
                </a:lnTo>
                <a:lnTo>
                  <a:pt x="60805" y="42858"/>
                </a:lnTo>
                <a:lnTo>
                  <a:pt x="60805" y="49200"/>
                </a:lnTo>
                <a:lnTo>
                  <a:pt x="32337" y="65270"/>
                </a:lnTo>
                <a:lnTo>
                  <a:pt x="2247" y="48164"/>
                </a:lnTo>
                <a:lnTo>
                  <a:pt x="626" y="49048"/>
                </a:lnTo>
                <a:lnTo>
                  <a:pt x="626" y="51258"/>
                </a:lnTo>
                <a:lnTo>
                  <a:pt x="32337" y="69110"/>
                </a:lnTo>
                <a:lnTo>
                  <a:pt x="64051" y="51264"/>
                </a:lnTo>
                <a:lnTo>
                  <a:pt x="64051" y="38874"/>
                </a:lnTo>
                <a:lnTo>
                  <a:pt x="62573" y="37987"/>
                </a:lnTo>
                <a:lnTo>
                  <a:pt x="32337" y="55098"/>
                </a:lnTo>
                <a:lnTo>
                  <a:pt x="4018" y="38874"/>
                </a:lnTo>
                <a:lnTo>
                  <a:pt x="4018" y="32531"/>
                </a:lnTo>
                <a:lnTo>
                  <a:pt x="32337" y="48460"/>
                </a:lnTo>
                <a:lnTo>
                  <a:pt x="64051" y="30614"/>
                </a:lnTo>
                <a:lnTo>
                  <a:pt x="64051" y="18367"/>
                </a:lnTo>
                <a:lnTo>
                  <a:pt x="62573" y="17483"/>
                </a:lnTo>
                <a:lnTo>
                  <a:pt x="32337" y="34595"/>
                </a:lnTo>
                <a:lnTo>
                  <a:pt x="5493" y="19403"/>
                </a:lnTo>
                <a:lnTo>
                  <a:pt x="32337" y="4212"/>
                </a:lnTo>
                <a:lnTo>
                  <a:pt x="54608" y="16749"/>
                </a:lnTo>
                <a:lnTo>
                  <a:pt x="56526" y="15569"/>
                </a:lnTo>
                <a:lnTo>
                  <a:pt x="56526" y="13945"/>
                </a:lnTo>
                <a:lnTo>
                  <a:pt x="32337" y="229"/>
                </a:lnTo>
                <a:lnTo>
                  <a:pt x="623" y="18224"/>
                </a:lnTo>
                <a:lnTo>
                  <a:pt x="623" y="20290"/>
                </a:lnTo>
                <a:lnTo>
                  <a:pt x="32337" y="38133"/>
                </a:lnTo>
                <a:lnTo>
                  <a:pt x="60805" y="22205"/>
                </a:lnTo>
                <a:lnTo>
                  <a:pt x="60805" y="28691"/>
                </a:lnTo>
                <a:lnTo>
                  <a:pt x="32337" y="44772"/>
                </a:lnTo>
                <a:lnTo>
                  <a:pt x="2247" y="27666"/>
                </a:lnTo>
                <a:lnTo>
                  <a:pt x="626" y="28550"/>
                </a:lnTo>
                <a:close/>
              </a:path>
            </a:pathLst>
          </a:custGeom>
          <a:solidFill>
            <a:srgbClr val="242424"/>
          </a:solidFill>
          <a:ln w="5581" cap="flat">
            <a:solidFill>
              <a:srgbClr val="242424"/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197" name="Graphic 239">
            <a:extLst>
              <a:ext uri="{FF2B5EF4-FFF2-40B4-BE49-F238E27FC236}">
                <a16:creationId xmlns:a16="http://schemas.microsoft.com/office/drawing/2014/main" id="{7AA2F86E-8C41-5D6C-F5C1-1DF170D7AE74}"/>
              </a:ext>
            </a:extLst>
          </p:cNvPr>
          <p:cNvGrpSpPr>
            <a:grpSpLocks noChangeAspect="1"/>
          </p:cNvGrpSpPr>
          <p:nvPr/>
        </p:nvGrpSpPr>
        <p:grpSpPr>
          <a:xfrm>
            <a:off x="1771571" y="3320890"/>
            <a:ext cx="233176" cy="259077"/>
            <a:chOff x="2574815" y="3224268"/>
            <a:chExt cx="143502" cy="159447"/>
          </a:xfrm>
          <a:solidFill>
            <a:schemeClr val="bg1"/>
          </a:solidFill>
        </p:grpSpPr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8E8A2307-B47A-FFD0-F164-9617539A6C16}"/>
                </a:ext>
              </a:extLst>
            </p:cNvPr>
            <p:cNvSpPr/>
            <p:nvPr/>
          </p:nvSpPr>
          <p:spPr>
            <a:xfrm>
              <a:off x="2574815" y="3224268"/>
              <a:ext cx="143502" cy="47834"/>
            </a:xfrm>
            <a:prstGeom prst="ellipse">
              <a:avLst/>
            </a:pr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7BB9179E-0AE2-8DD0-D5BC-B536845FAE70}"/>
                </a:ext>
              </a:extLst>
            </p:cNvPr>
            <p:cNvSpPr/>
            <p:nvPr/>
          </p:nvSpPr>
          <p:spPr>
            <a:xfrm>
              <a:off x="2574815" y="3303992"/>
              <a:ext cx="143502" cy="23917"/>
            </a:xfrm>
            <a:custGeom>
              <a:avLst/>
              <a:gdLst>
                <a:gd name="csX0" fmla="*/ 144182 w 143502"/>
                <a:gd name="csY0" fmla="*/ 444 h 23917"/>
                <a:gd name="csX1" fmla="*/ 72431 w 143502"/>
                <a:gd name="csY1" fmla="*/ 24362 h 23917"/>
                <a:gd name="csX2" fmla="*/ 680 w 143502"/>
                <a:gd name="csY2" fmla="*/ 444 h 23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3502" h="23917">
                  <a:moveTo>
                    <a:pt x="144182" y="444"/>
                  </a:moveTo>
                  <a:cubicBezTo>
                    <a:pt x="144182" y="13679"/>
                    <a:pt x="112293" y="24362"/>
                    <a:pt x="72431" y="24362"/>
                  </a:cubicBezTo>
                  <a:cubicBezTo>
                    <a:pt x="32569" y="24362"/>
                    <a:pt x="680" y="13679"/>
                    <a:pt x="680" y="444"/>
                  </a:cubicBez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8E127289-BC77-E7AC-589B-754E744CE9A0}"/>
                </a:ext>
              </a:extLst>
            </p:cNvPr>
            <p:cNvSpPr/>
            <p:nvPr/>
          </p:nvSpPr>
          <p:spPr>
            <a:xfrm>
              <a:off x="2574815" y="3248185"/>
              <a:ext cx="143502" cy="135530"/>
            </a:xfrm>
            <a:custGeom>
              <a:avLst/>
              <a:gdLst>
                <a:gd name="csX0" fmla="*/ 680 w 143502"/>
                <a:gd name="csY0" fmla="*/ 444 h 135530"/>
                <a:gd name="csX1" fmla="*/ 680 w 143502"/>
                <a:gd name="csY1" fmla="*/ 112058 h 135530"/>
                <a:gd name="csX2" fmla="*/ 72431 w 143502"/>
                <a:gd name="csY2" fmla="*/ 135975 h 135530"/>
                <a:gd name="csX3" fmla="*/ 144182 w 143502"/>
                <a:gd name="csY3" fmla="*/ 112058 h 135530"/>
                <a:gd name="csX4" fmla="*/ 144182 w 143502"/>
                <a:gd name="csY4" fmla="*/ 444 h 1355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502" h="135530">
                  <a:moveTo>
                    <a:pt x="680" y="444"/>
                  </a:moveTo>
                  <a:lnTo>
                    <a:pt x="680" y="112058"/>
                  </a:lnTo>
                  <a:cubicBezTo>
                    <a:pt x="680" y="125292"/>
                    <a:pt x="32569" y="135975"/>
                    <a:pt x="72431" y="135975"/>
                  </a:cubicBezTo>
                  <a:cubicBezTo>
                    <a:pt x="112293" y="135975"/>
                    <a:pt x="144182" y="125292"/>
                    <a:pt x="144182" y="112058"/>
                  </a:cubicBezTo>
                  <a:lnTo>
                    <a:pt x="144182" y="444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198" name="Graphic 239">
            <a:extLst>
              <a:ext uri="{FF2B5EF4-FFF2-40B4-BE49-F238E27FC236}">
                <a16:creationId xmlns:a16="http://schemas.microsoft.com/office/drawing/2014/main" id="{9C21977C-2940-06C0-2F90-6C982FE80CC6}"/>
              </a:ext>
            </a:extLst>
          </p:cNvPr>
          <p:cNvGrpSpPr>
            <a:grpSpLocks noChangeAspect="1"/>
          </p:cNvGrpSpPr>
          <p:nvPr/>
        </p:nvGrpSpPr>
        <p:grpSpPr>
          <a:xfrm>
            <a:off x="2564686" y="3320890"/>
            <a:ext cx="233176" cy="259077"/>
            <a:chOff x="3876870" y="3224268"/>
            <a:chExt cx="143502" cy="159447"/>
          </a:xfrm>
          <a:solidFill>
            <a:schemeClr val="bg1"/>
          </a:solidFill>
        </p:grpSpPr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28A28036-DBAA-C4C6-62F5-93A64B6F8FC3}"/>
                </a:ext>
              </a:extLst>
            </p:cNvPr>
            <p:cNvSpPr/>
            <p:nvPr/>
          </p:nvSpPr>
          <p:spPr>
            <a:xfrm>
              <a:off x="3876870" y="3224268"/>
              <a:ext cx="143502" cy="47834"/>
            </a:xfrm>
            <a:prstGeom prst="ellipse">
              <a:avLst/>
            </a:pr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55BC305E-9178-BDCF-F895-807FBB0F4189}"/>
                </a:ext>
              </a:extLst>
            </p:cNvPr>
            <p:cNvSpPr/>
            <p:nvPr/>
          </p:nvSpPr>
          <p:spPr>
            <a:xfrm>
              <a:off x="3876870" y="3303992"/>
              <a:ext cx="143502" cy="23917"/>
            </a:xfrm>
            <a:custGeom>
              <a:avLst/>
              <a:gdLst>
                <a:gd name="csX0" fmla="*/ 144523 w 143502"/>
                <a:gd name="csY0" fmla="*/ 444 h 23917"/>
                <a:gd name="csX1" fmla="*/ 72771 w 143502"/>
                <a:gd name="csY1" fmla="*/ 24362 h 23917"/>
                <a:gd name="csX2" fmla="*/ 1020 w 143502"/>
                <a:gd name="csY2" fmla="*/ 444 h 23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3502" h="23917">
                  <a:moveTo>
                    <a:pt x="144523" y="444"/>
                  </a:moveTo>
                  <a:cubicBezTo>
                    <a:pt x="144523" y="13679"/>
                    <a:pt x="112633" y="24362"/>
                    <a:pt x="72771" y="24362"/>
                  </a:cubicBezTo>
                  <a:cubicBezTo>
                    <a:pt x="32909" y="24362"/>
                    <a:pt x="1020" y="13679"/>
                    <a:pt x="1020" y="444"/>
                  </a:cubicBez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5BA33FC7-760E-E935-CC61-FFD80A477D65}"/>
                </a:ext>
              </a:extLst>
            </p:cNvPr>
            <p:cNvSpPr/>
            <p:nvPr/>
          </p:nvSpPr>
          <p:spPr>
            <a:xfrm>
              <a:off x="3876870" y="3248185"/>
              <a:ext cx="143502" cy="135530"/>
            </a:xfrm>
            <a:custGeom>
              <a:avLst/>
              <a:gdLst>
                <a:gd name="csX0" fmla="*/ 1020 w 143502"/>
                <a:gd name="csY0" fmla="*/ 444 h 135530"/>
                <a:gd name="csX1" fmla="*/ 1020 w 143502"/>
                <a:gd name="csY1" fmla="*/ 112058 h 135530"/>
                <a:gd name="csX2" fmla="*/ 72771 w 143502"/>
                <a:gd name="csY2" fmla="*/ 135975 h 135530"/>
                <a:gd name="csX3" fmla="*/ 144523 w 143502"/>
                <a:gd name="csY3" fmla="*/ 112058 h 135530"/>
                <a:gd name="csX4" fmla="*/ 144523 w 143502"/>
                <a:gd name="csY4" fmla="*/ 444 h 1355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502" h="135530">
                  <a:moveTo>
                    <a:pt x="1020" y="444"/>
                  </a:moveTo>
                  <a:lnTo>
                    <a:pt x="1020" y="112058"/>
                  </a:lnTo>
                  <a:cubicBezTo>
                    <a:pt x="1020" y="125292"/>
                    <a:pt x="32909" y="135975"/>
                    <a:pt x="72771" y="135975"/>
                  </a:cubicBezTo>
                  <a:cubicBezTo>
                    <a:pt x="112633" y="135975"/>
                    <a:pt x="144523" y="125292"/>
                    <a:pt x="144523" y="112058"/>
                  </a:cubicBezTo>
                  <a:lnTo>
                    <a:pt x="144523" y="444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199" name="Graphic 239">
            <a:extLst>
              <a:ext uri="{FF2B5EF4-FFF2-40B4-BE49-F238E27FC236}">
                <a16:creationId xmlns:a16="http://schemas.microsoft.com/office/drawing/2014/main" id="{16A1E009-A0AC-8556-5972-C789585ED0EB}"/>
              </a:ext>
            </a:extLst>
          </p:cNvPr>
          <p:cNvGrpSpPr>
            <a:grpSpLocks noChangeAspect="1"/>
          </p:cNvGrpSpPr>
          <p:nvPr/>
        </p:nvGrpSpPr>
        <p:grpSpPr>
          <a:xfrm>
            <a:off x="3942635" y="3320890"/>
            <a:ext cx="233176" cy="259077"/>
            <a:chOff x="4918134" y="3224268"/>
            <a:chExt cx="143502" cy="159447"/>
          </a:xfrm>
          <a:solidFill>
            <a:schemeClr val="bg1"/>
          </a:solidFill>
        </p:grpSpPr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2A7B33B1-5FD9-2837-5E99-207A5DC05D35}"/>
                </a:ext>
              </a:extLst>
            </p:cNvPr>
            <p:cNvSpPr/>
            <p:nvPr/>
          </p:nvSpPr>
          <p:spPr>
            <a:xfrm>
              <a:off x="4918134" y="3224268"/>
              <a:ext cx="143502" cy="47834"/>
            </a:xfrm>
            <a:prstGeom prst="ellipse">
              <a:avLst/>
            </a:pr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48845DB4-7832-7908-F1E7-092D77392C1A}"/>
                </a:ext>
              </a:extLst>
            </p:cNvPr>
            <p:cNvSpPr/>
            <p:nvPr/>
          </p:nvSpPr>
          <p:spPr>
            <a:xfrm>
              <a:off x="4918134" y="3303992"/>
              <a:ext cx="143502" cy="23917"/>
            </a:xfrm>
            <a:custGeom>
              <a:avLst/>
              <a:gdLst>
                <a:gd name="csX0" fmla="*/ 144795 w 143502"/>
                <a:gd name="csY0" fmla="*/ 444 h 23917"/>
                <a:gd name="csX1" fmla="*/ 73043 w 143502"/>
                <a:gd name="csY1" fmla="*/ 24362 h 23917"/>
                <a:gd name="csX2" fmla="*/ 1292 w 143502"/>
                <a:gd name="csY2" fmla="*/ 444 h 23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3502" h="23917">
                  <a:moveTo>
                    <a:pt x="144795" y="444"/>
                  </a:moveTo>
                  <a:cubicBezTo>
                    <a:pt x="144795" y="13679"/>
                    <a:pt x="112905" y="24362"/>
                    <a:pt x="73043" y="24362"/>
                  </a:cubicBezTo>
                  <a:cubicBezTo>
                    <a:pt x="33181" y="24362"/>
                    <a:pt x="1292" y="13679"/>
                    <a:pt x="1292" y="444"/>
                  </a:cubicBez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928E0C65-C3E0-B5D0-EB52-CE4A851ED4F1}"/>
                </a:ext>
              </a:extLst>
            </p:cNvPr>
            <p:cNvSpPr/>
            <p:nvPr/>
          </p:nvSpPr>
          <p:spPr>
            <a:xfrm>
              <a:off x="4918134" y="3248185"/>
              <a:ext cx="143502" cy="135530"/>
            </a:xfrm>
            <a:custGeom>
              <a:avLst/>
              <a:gdLst>
                <a:gd name="csX0" fmla="*/ 1292 w 143502"/>
                <a:gd name="csY0" fmla="*/ 444 h 135530"/>
                <a:gd name="csX1" fmla="*/ 1292 w 143502"/>
                <a:gd name="csY1" fmla="*/ 112058 h 135530"/>
                <a:gd name="csX2" fmla="*/ 73043 w 143502"/>
                <a:gd name="csY2" fmla="*/ 135975 h 135530"/>
                <a:gd name="csX3" fmla="*/ 144795 w 143502"/>
                <a:gd name="csY3" fmla="*/ 112058 h 135530"/>
                <a:gd name="csX4" fmla="*/ 144795 w 143502"/>
                <a:gd name="csY4" fmla="*/ 444 h 1355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502" h="135530">
                  <a:moveTo>
                    <a:pt x="1292" y="444"/>
                  </a:moveTo>
                  <a:lnTo>
                    <a:pt x="1292" y="112058"/>
                  </a:lnTo>
                  <a:cubicBezTo>
                    <a:pt x="1292" y="125292"/>
                    <a:pt x="33181" y="135975"/>
                    <a:pt x="73043" y="135975"/>
                  </a:cubicBezTo>
                  <a:cubicBezTo>
                    <a:pt x="112905" y="135975"/>
                    <a:pt x="144795" y="125292"/>
                    <a:pt x="144795" y="112058"/>
                  </a:cubicBezTo>
                  <a:lnTo>
                    <a:pt x="144795" y="444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200" name="Graphic 239">
            <a:extLst>
              <a:ext uri="{FF2B5EF4-FFF2-40B4-BE49-F238E27FC236}">
                <a16:creationId xmlns:a16="http://schemas.microsoft.com/office/drawing/2014/main" id="{874EEA1B-6545-8327-03E6-B433C49AF5EB}"/>
              </a:ext>
            </a:extLst>
          </p:cNvPr>
          <p:cNvGrpSpPr>
            <a:grpSpLocks noChangeAspect="1"/>
          </p:cNvGrpSpPr>
          <p:nvPr/>
        </p:nvGrpSpPr>
        <p:grpSpPr>
          <a:xfrm>
            <a:off x="5142427" y="3298662"/>
            <a:ext cx="259168" cy="259007"/>
            <a:chOff x="6023237" y="3179623"/>
            <a:chExt cx="159501" cy="159404"/>
          </a:xfrm>
          <a:solidFill>
            <a:schemeClr val="bg1"/>
          </a:solidFill>
        </p:grpSpPr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7D89A621-AA8A-010C-42CA-64BDA8BAE219}"/>
                </a:ext>
              </a:extLst>
            </p:cNvPr>
            <p:cNvSpPr/>
            <p:nvPr/>
          </p:nvSpPr>
          <p:spPr>
            <a:xfrm>
              <a:off x="6023237" y="3179623"/>
              <a:ext cx="79750" cy="159404"/>
            </a:xfrm>
            <a:custGeom>
              <a:avLst/>
              <a:gdLst>
                <a:gd name="csX0" fmla="*/ 61397 w 79750"/>
                <a:gd name="csY0" fmla="*/ 431 h 159404"/>
                <a:gd name="csX1" fmla="*/ 81328 w 79750"/>
                <a:gd name="csY1" fmla="*/ 20362 h 159404"/>
                <a:gd name="csX2" fmla="*/ 81328 w 79750"/>
                <a:gd name="csY2" fmla="*/ 139948 h 159404"/>
                <a:gd name="csX3" fmla="*/ 61354 w 79750"/>
                <a:gd name="csY3" fmla="*/ 159836 h 159404"/>
                <a:gd name="csX4" fmla="*/ 41785 w 79750"/>
                <a:gd name="csY4" fmla="*/ 143456 h 159404"/>
                <a:gd name="csX5" fmla="*/ 17999 w 79750"/>
                <a:gd name="csY5" fmla="*/ 128332 h 159404"/>
                <a:gd name="csX6" fmla="*/ 18187 w 79750"/>
                <a:gd name="csY6" fmla="*/ 118901 h 159404"/>
                <a:gd name="csX7" fmla="*/ 2730 w 79750"/>
                <a:gd name="csY7" fmla="*/ 88815 h 159404"/>
                <a:gd name="csX8" fmla="*/ 15476 w 79750"/>
                <a:gd name="csY8" fmla="*/ 74415 h 159404"/>
                <a:gd name="csX9" fmla="*/ 15304 w 79750"/>
                <a:gd name="csY9" fmla="*/ 46229 h 159404"/>
                <a:gd name="csX10" fmla="*/ 25999 w 79750"/>
                <a:gd name="csY10" fmla="*/ 40612 h 159404"/>
                <a:gd name="csX11" fmla="*/ 41128 w 79750"/>
                <a:gd name="csY11" fmla="*/ 16829 h 159404"/>
                <a:gd name="csX12" fmla="*/ 41785 w 79750"/>
                <a:gd name="csY12" fmla="*/ 16695 h 159404"/>
                <a:gd name="csX13" fmla="*/ 61397 w 79750"/>
                <a:gd name="csY13" fmla="*/ 431 h 159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9750" h="159404">
                  <a:moveTo>
                    <a:pt x="61397" y="431"/>
                  </a:moveTo>
                  <a:cubicBezTo>
                    <a:pt x="72404" y="431"/>
                    <a:pt x="81328" y="9355"/>
                    <a:pt x="81328" y="20362"/>
                  </a:cubicBezTo>
                  <a:lnTo>
                    <a:pt x="81328" y="139948"/>
                  </a:lnTo>
                  <a:cubicBezTo>
                    <a:pt x="81304" y="150955"/>
                    <a:pt x="72361" y="159859"/>
                    <a:pt x="61354" y="159836"/>
                  </a:cubicBezTo>
                  <a:cubicBezTo>
                    <a:pt x="51732" y="159815"/>
                    <a:pt x="43499" y="152923"/>
                    <a:pt x="41785" y="143456"/>
                  </a:cubicBezTo>
                  <a:cubicBezTo>
                    <a:pt x="31040" y="145848"/>
                    <a:pt x="20391" y="139076"/>
                    <a:pt x="17999" y="128332"/>
                  </a:cubicBezTo>
                  <a:cubicBezTo>
                    <a:pt x="17306" y="125218"/>
                    <a:pt x="17370" y="121984"/>
                    <a:pt x="18187" y="118901"/>
                  </a:cubicBezTo>
                  <a:cubicBezTo>
                    <a:pt x="5610" y="114861"/>
                    <a:pt x="-1310" y="101391"/>
                    <a:pt x="2730" y="88815"/>
                  </a:cubicBezTo>
                  <a:cubicBezTo>
                    <a:pt x="4777" y="82443"/>
                    <a:pt x="9400" y="77220"/>
                    <a:pt x="15476" y="74415"/>
                  </a:cubicBezTo>
                  <a:cubicBezTo>
                    <a:pt x="7645" y="66679"/>
                    <a:pt x="7568" y="54059"/>
                    <a:pt x="15304" y="46229"/>
                  </a:cubicBezTo>
                  <a:cubicBezTo>
                    <a:pt x="18203" y="43295"/>
                    <a:pt x="21939" y="41333"/>
                    <a:pt x="25999" y="40612"/>
                  </a:cubicBezTo>
                  <a:cubicBezTo>
                    <a:pt x="23610" y="29867"/>
                    <a:pt x="30383" y="19219"/>
                    <a:pt x="41128" y="16829"/>
                  </a:cubicBezTo>
                  <a:cubicBezTo>
                    <a:pt x="41346" y="16781"/>
                    <a:pt x="41565" y="16736"/>
                    <a:pt x="41785" y="16695"/>
                  </a:cubicBezTo>
                  <a:cubicBezTo>
                    <a:pt x="43551" y="7257"/>
                    <a:pt x="51795" y="421"/>
                    <a:pt x="61397" y="431"/>
                  </a:cubicBezTo>
                  <a:close/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4F6788A6-794A-EF7D-499E-6A517C05AD8F}"/>
                </a:ext>
              </a:extLst>
            </p:cNvPr>
            <p:cNvSpPr/>
            <p:nvPr/>
          </p:nvSpPr>
          <p:spPr>
            <a:xfrm>
              <a:off x="6102988" y="3179623"/>
              <a:ext cx="79750" cy="159404"/>
            </a:xfrm>
            <a:custGeom>
              <a:avLst/>
              <a:gdLst>
                <a:gd name="csX0" fmla="*/ 21519 w 79750"/>
                <a:gd name="csY0" fmla="*/ 431 h 159404"/>
                <a:gd name="csX1" fmla="*/ 1588 w 79750"/>
                <a:gd name="csY1" fmla="*/ 20362 h 159404"/>
                <a:gd name="csX2" fmla="*/ 1588 w 79750"/>
                <a:gd name="csY2" fmla="*/ 139948 h 159404"/>
                <a:gd name="csX3" fmla="*/ 21562 w 79750"/>
                <a:gd name="csY3" fmla="*/ 159836 h 159404"/>
                <a:gd name="csX4" fmla="*/ 41131 w 79750"/>
                <a:gd name="csY4" fmla="*/ 143456 h 159404"/>
                <a:gd name="csX5" fmla="*/ 64917 w 79750"/>
                <a:gd name="csY5" fmla="*/ 128332 h 159404"/>
                <a:gd name="csX6" fmla="*/ 64730 w 79750"/>
                <a:gd name="csY6" fmla="*/ 118901 h 159404"/>
                <a:gd name="csX7" fmla="*/ 80186 w 79750"/>
                <a:gd name="csY7" fmla="*/ 88815 h 159404"/>
                <a:gd name="csX8" fmla="*/ 67440 w 79750"/>
                <a:gd name="csY8" fmla="*/ 74415 h 159404"/>
                <a:gd name="csX9" fmla="*/ 67612 w 79750"/>
                <a:gd name="csY9" fmla="*/ 46229 h 159404"/>
                <a:gd name="csX10" fmla="*/ 56917 w 79750"/>
                <a:gd name="csY10" fmla="*/ 40612 h 159404"/>
                <a:gd name="csX11" fmla="*/ 41788 w 79750"/>
                <a:gd name="csY11" fmla="*/ 16829 h 159404"/>
                <a:gd name="csX12" fmla="*/ 41131 w 79750"/>
                <a:gd name="csY12" fmla="*/ 16695 h 159404"/>
                <a:gd name="csX13" fmla="*/ 21519 w 79750"/>
                <a:gd name="csY13" fmla="*/ 431 h 159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9750" h="159404">
                  <a:moveTo>
                    <a:pt x="21519" y="431"/>
                  </a:moveTo>
                  <a:cubicBezTo>
                    <a:pt x="10512" y="431"/>
                    <a:pt x="1588" y="9355"/>
                    <a:pt x="1588" y="20362"/>
                  </a:cubicBezTo>
                  <a:lnTo>
                    <a:pt x="1588" y="139948"/>
                  </a:lnTo>
                  <a:cubicBezTo>
                    <a:pt x="1612" y="150955"/>
                    <a:pt x="10555" y="159859"/>
                    <a:pt x="21562" y="159836"/>
                  </a:cubicBezTo>
                  <a:cubicBezTo>
                    <a:pt x="31184" y="159815"/>
                    <a:pt x="39417" y="152923"/>
                    <a:pt x="41131" y="143456"/>
                  </a:cubicBezTo>
                  <a:cubicBezTo>
                    <a:pt x="51876" y="145848"/>
                    <a:pt x="62525" y="139076"/>
                    <a:pt x="64917" y="128332"/>
                  </a:cubicBezTo>
                  <a:cubicBezTo>
                    <a:pt x="65610" y="125218"/>
                    <a:pt x="65546" y="121984"/>
                    <a:pt x="64730" y="118901"/>
                  </a:cubicBezTo>
                  <a:cubicBezTo>
                    <a:pt x="77306" y="114861"/>
                    <a:pt x="84226" y="101391"/>
                    <a:pt x="80186" y="88815"/>
                  </a:cubicBezTo>
                  <a:cubicBezTo>
                    <a:pt x="78139" y="82443"/>
                    <a:pt x="73516" y="77220"/>
                    <a:pt x="67440" y="74415"/>
                  </a:cubicBezTo>
                  <a:cubicBezTo>
                    <a:pt x="75271" y="66679"/>
                    <a:pt x="75348" y="54059"/>
                    <a:pt x="67612" y="46229"/>
                  </a:cubicBezTo>
                  <a:cubicBezTo>
                    <a:pt x="64713" y="43295"/>
                    <a:pt x="60977" y="41333"/>
                    <a:pt x="56917" y="40612"/>
                  </a:cubicBezTo>
                  <a:cubicBezTo>
                    <a:pt x="59306" y="29867"/>
                    <a:pt x="52533" y="19219"/>
                    <a:pt x="41788" y="16829"/>
                  </a:cubicBezTo>
                  <a:cubicBezTo>
                    <a:pt x="41570" y="16781"/>
                    <a:pt x="41351" y="16736"/>
                    <a:pt x="41131" y="16695"/>
                  </a:cubicBezTo>
                  <a:cubicBezTo>
                    <a:pt x="39365" y="7257"/>
                    <a:pt x="31121" y="421"/>
                    <a:pt x="21519" y="431"/>
                  </a:cubicBezTo>
                  <a:close/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201" name="Graphic 239">
            <a:extLst>
              <a:ext uri="{FF2B5EF4-FFF2-40B4-BE49-F238E27FC236}">
                <a16:creationId xmlns:a16="http://schemas.microsoft.com/office/drawing/2014/main" id="{2D0C4FF0-B2CA-BDD2-8D8B-387C1063CD3D}"/>
              </a:ext>
            </a:extLst>
          </p:cNvPr>
          <p:cNvGrpSpPr>
            <a:grpSpLocks noChangeAspect="1"/>
          </p:cNvGrpSpPr>
          <p:nvPr/>
        </p:nvGrpSpPr>
        <p:grpSpPr>
          <a:xfrm>
            <a:off x="4504852" y="3965314"/>
            <a:ext cx="259077" cy="155437"/>
            <a:chOff x="5531959" y="3513825"/>
            <a:chExt cx="159447" cy="95668"/>
          </a:xfrm>
          <a:solidFill>
            <a:schemeClr val="bg1"/>
          </a:solidFill>
        </p:grpSpPr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B7999019-74CF-C8F7-C594-68C92C438872}"/>
                </a:ext>
              </a:extLst>
            </p:cNvPr>
            <p:cNvSpPr/>
            <p:nvPr/>
          </p:nvSpPr>
          <p:spPr>
            <a:xfrm>
              <a:off x="5643572" y="3513825"/>
              <a:ext cx="47834" cy="95668"/>
            </a:xfrm>
            <a:custGeom>
              <a:avLst/>
              <a:gdLst>
                <a:gd name="csX0" fmla="*/ 1462 w 47834"/>
                <a:gd name="csY0" fmla="*/ 96179 h 95668"/>
                <a:gd name="csX1" fmla="*/ 49296 w 47834"/>
                <a:gd name="csY1" fmla="*/ 48344 h 95668"/>
                <a:gd name="csX2" fmla="*/ 1462 w 47834"/>
                <a:gd name="csY2" fmla="*/ 510 h 95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7834" h="95668">
                  <a:moveTo>
                    <a:pt x="1462" y="96179"/>
                  </a:moveTo>
                  <a:lnTo>
                    <a:pt x="49296" y="48344"/>
                  </a:lnTo>
                  <a:lnTo>
                    <a:pt x="1462" y="510"/>
                  </a:lnTo>
                </a:path>
              </a:pathLst>
            </a:custGeom>
            <a:grpFill/>
            <a:ln w="558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6DE1458F-4D9A-93AB-2761-F3AE0C0BB873}"/>
                </a:ext>
              </a:extLst>
            </p:cNvPr>
            <p:cNvSpPr/>
            <p:nvPr/>
          </p:nvSpPr>
          <p:spPr>
            <a:xfrm>
              <a:off x="5531959" y="3513825"/>
              <a:ext cx="47834" cy="95668"/>
            </a:xfrm>
            <a:custGeom>
              <a:avLst/>
              <a:gdLst>
                <a:gd name="csX0" fmla="*/ 49281 w 47834"/>
                <a:gd name="csY0" fmla="*/ 510 h 95668"/>
                <a:gd name="csX1" fmla="*/ 1447 w 47834"/>
                <a:gd name="csY1" fmla="*/ 48344 h 95668"/>
                <a:gd name="csX2" fmla="*/ 49281 w 47834"/>
                <a:gd name="csY2" fmla="*/ 96179 h 95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7834" h="95668">
                  <a:moveTo>
                    <a:pt x="49281" y="510"/>
                  </a:moveTo>
                  <a:lnTo>
                    <a:pt x="1447" y="48344"/>
                  </a:lnTo>
                  <a:lnTo>
                    <a:pt x="49281" y="96179"/>
                  </a:lnTo>
                </a:path>
              </a:pathLst>
            </a:custGeom>
            <a:grpFill/>
            <a:ln w="558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02" name="TextBox 201">
            <a:extLst>
              <a:ext uri="{FF2B5EF4-FFF2-40B4-BE49-F238E27FC236}">
                <a16:creationId xmlns:a16="http://schemas.microsoft.com/office/drawing/2014/main" id="{41766198-B6FB-2FEB-1F75-E8B72F417588}"/>
              </a:ext>
            </a:extLst>
          </p:cNvPr>
          <p:cNvSpPr txBox="1"/>
          <p:nvPr/>
        </p:nvSpPr>
        <p:spPr>
          <a:xfrm>
            <a:off x="1851294" y="2460855"/>
            <a:ext cx="78380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b="1"/>
              <a:t>DATABRICKS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1B27BA7-DEC0-04ED-D3B6-ADA26454628B}"/>
              </a:ext>
            </a:extLst>
          </p:cNvPr>
          <p:cNvSpPr txBox="1"/>
          <p:nvPr/>
        </p:nvSpPr>
        <p:spPr>
          <a:xfrm>
            <a:off x="2423913" y="3551489"/>
            <a:ext cx="545598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Delta Silver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04A6F12-2184-B4B4-0AC6-DD3FF05C9164}"/>
              </a:ext>
            </a:extLst>
          </p:cNvPr>
          <p:cNvSpPr txBox="1"/>
          <p:nvPr/>
        </p:nvSpPr>
        <p:spPr>
          <a:xfrm>
            <a:off x="3822003" y="3551489"/>
            <a:ext cx="481866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Data Product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295017E-3D37-5FA9-AEDA-B79198AD2260}"/>
              </a:ext>
            </a:extLst>
          </p:cNvPr>
          <p:cNvSpPr txBox="1"/>
          <p:nvPr/>
        </p:nvSpPr>
        <p:spPr>
          <a:xfrm>
            <a:off x="4261583" y="4102819"/>
            <a:ext cx="705043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Embedding Job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412F6994-21CB-F846-F4E3-FD37A48D47CA}"/>
              </a:ext>
            </a:extLst>
          </p:cNvPr>
          <p:cNvSpPr txBox="1"/>
          <p:nvPr/>
        </p:nvSpPr>
        <p:spPr>
          <a:xfrm>
            <a:off x="5104980" y="3580550"/>
            <a:ext cx="40605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AI Job</a:t>
            </a:r>
          </a:p>
        </p:txBody>
      </p:sp>
      <p:grpSp>
        <p:nvGrpSpPr>
          <p:cNvPr id="208" name="Graphic 239">
            <a:extLst>
              <a:ext uri="{FF2B5EF4-FFF2-40B4-BE49-F238E27FC236}">
                <a16:creationId xmlns:a16="http://schemas.microsoft.com/office/drawing/2014/main" id="{BE82818B-C607-40FA-90DE-F2B55444DA69}"/>
              </a:ext>
            </a:extLst>
          </p:cNvPr>
          <p:cNvGrpSpPr/>
          <p:nvPr/>
        </p:nvGrpSpPr>
        <p:grpSpPr>
          <a:xfrm>
            <a:off x="6523392" y="2951198"/>
            <a:ext cx="1028344" cy="956137"/>
            <a:chOff x="6577479" y="2617730"/>
            <a:chExt cx="855131" cy="697232"/>
          </a:xfrm>
        </p:grpSpPr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B5EBF04D-ACF6-AEAA-46D2-E20EC868B945}"/>
                </a:ext>
              </a:extLst>
            </p:cNvPr>
            <p:cNvSpPr/>
            <p:nvPr/>
          </p:nvSpPr>
          <p:spPr>
            <a:xfrm>
              <a:off x="6592786" y="2633037"/>
              <a:ext cx="839824" cy="681925"/>
            </a:xfrm>
            <a:custGeom>
              <a:avLst/>
              <a:gdLst>
                <a:gd name="csX0" fmla="*/ 47640 w 839824"/>
                <a:gd name="csY0" fmla="*/ 276 h 681925"/>
                <a:gd name="csX1" fmla="*/ 795622 w 839824"/>
                <a:gd name="csY1" fmla="*/ 276 h 681925"/>
                <a:gd name="csX2" fmla="*/ 841543 w 839824"/>
                <a:gd name="csY2" fmla="*/ 46196 h 681925"/>
                <a:gd name="csX3" fmla="*/ 841543 w 839824"/>
                <a:gd name="csY3" fmla="*/ 636280 h 681925"/>
                <a:gd name="csX4" fmla="*/ 795622 w 839824"/>
                <a:gd name="csY4" fmla="*/ 682201 h 681925"/>
                <a:gd name="csX5" fmla="*/ 47640 w 839824"/>
                <a:gd name="csY5" fmla="*/ 682201 h 681925"/>
                <a:gd name="csX6" fmla="*/ 1719 w 839824"/>
                <a:gd name="csY6" fmla="*/ 636280 h 681925"/>
                <a:gd name="csX7" fmla="*/ 1719 w 839824"/>
                <a:gd name="csY7" fmla="*/ 46196 h 681925"/>
                <a:gd name="csX8" fmla="*/ 47640 w 839824"/>
                <a:gd name="csY8" fmla="*/ 276 h 6819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39824" h="681925">
                  <a:moveTo>
                    <a:pt x="47640" y="276"/>
                  </a:moveTo>
                  <a:cubicBezTo>
                    <a:pt x="227098" y="276"/>
                    <a:pt x="406556" y="276"/>
                    <a:pt x="795622" y="276"/>
                  </a:cubicBezTo>
                  <a:cubicBezTo>
                    <a:pt x="826236" y="276"/>
                    <a:pt x="841543" y="15582"/>
                    <a:pt x="841543" y="46196"/>
                  </a:cubicBezTo>
                  <a:cubicBezTo>
                    <a:pt x="841543" y="209153"/>
                    <a:pt x="841543" y="372110"/>
                    <a:pt x="841543" y="636280"/>
                  </a:cubicBezTo>
                  <a:cubicBezTo>
                    <a:pt x="841543" y="666894"/>
                    <a:pt x="826236" y="682201"/>
                    <a:pt x="795622" y="682201"/>
                  </a:cubicBezTo>
                  <a:cubicBezTo>
                    <a:pt x="574992" y="682201"/>
                    <a:pt x="354362" y="682201"/>
                    <a:pt x="47640" y="682201"/>
                  </a:cubicBezTo>
                  <a:cubicBezTo>
                    <a:pt x="17026" y="682201"/>
                    <a:pt x="1719" y="666894"/>
                    <a:pt x="1719" y="636280"/>
                  </a:cubicBezTo>
                  <a:cubicBezTo>
                    <a:pt x="1719" y="423319"/>
                    <a:pt x="1719" y="210359"/>
                    <a:pt x="1719" y="46196"/>
                  </a:cubicBezTo>
                  <a:cubicBezTo>
                    <a:pt x="1719" y="15582"/>
                    <a:pt x="17026" y="276"/>
                    <a:pt x="47640" y="276"/>
                  </a:cubicBezTo>
                </a:path>
              </a:pathLst>
            </a:custGeom>
            <a:solidFill>
              <a:srgbClr val="F8F4F6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A7EDC5E9-00F4-1C0A-025E-38BE5C2304BF}"/>
                </a:ext>
              </a:extLst>
            </p:cNvPr>
            <p:cNvSpPr/>
            <p:nvPr/>
          </p:nvSpPr>
          <p:spPr>
            <a:xfrm>
              <a:off x="6577479" y="2617730"/>
              <a:ext cx="839824" cy="681925"/>
            </a:xfrm>
            <a:custGeom>
              <a:avLst/>
              <a:gdLst>
                <a:gd name="csX0" fmla="*/ 47640 w 839824"/>
                <a:gd name="csY0" fmla="*/ 276 h 681925"/>
                <a:gd name="csX1" fmla="*/ 795622 w 839824"/>
                <a:gd name="csY1" fmla="*/ 276 h 681925"/>
                <a:gd name="csX2" fmla="*/ 815712 w 839824"/>
                <a:gd name="csY2" fmla="*/ 3146 h 681925"/>
                <a:gd name="csX3" fmla="*/ 830063 w 839824"/>
                <a:gd name="csY3" fmla="*/ 11756 h 681925"/>
                <a:gd name="csX4" fmla="*/ 838673 w 839824"/>
                <a:gd name="csY4" fmla="*/ 26106 h 681925"/>
                <a:gd name="csX5" fmla="*/ 841543 w 839824"/>
                <a:gd name="csY5" fmla="*/ 46196 h 681925"/>
                <a:gd name="csX6" fmla="*/ 841543 w 839824"/>
                <a:gd name="csY6" fmla="*/ 636280 h 681925"/>
                <a:gd name="csX7" fmla="*/ 838673 w 839824"/>
                <a:gd name="csY7" fmla="*/ 656370 h 681925"/>
                <a:gd name="csX8" fmla="*/ 830063 w 839824"/>
                <a:gd name="csY8" fmla="*/ 670721 h 681925"/>
                <a:gd name="csX9" fmla="*/ 815712 w 839824"/>
                <a:gd name="csY9" fmla="*/ 679331 h 681925"/>
                <a:gd name="csX10" fmla="*/ 795622 w 839824"/>
                <a:gd name="csY10" fmla="*/ 682201 h 681925"/>
                <a:gd name="csX11" fmla="*/ 47640 w 839824"/>
                <a:gd name="csY11" fmla="*/ 682201 h 681925"/>
                <a:gd name="csX12" fmla="*/ 27549 w 839824"/>
                <a:gd name="csY12" fmla="*/ 679331 h 681925"/>
                <a:gd name="csX13" fmla="*/ 13199 w 839824"/>
                <a:gd name="csY13" fmla="*/ 670721 h 681925"/>
                <a:gd name="csX14" fmla="*/ 4589 w 839824"/>
                <a:gd name="csY14" fmla="*/ 656370 h 681925"/>
                <a:gd name="csX15" fmla="*/ 1719 w 839824"/>
                <a:gd name="csY15" fmla="*/ 636280 h 681925"/>
                <a:gd name="csX16" fmla="*/ 1719 w 839824"/>
                <a:gd name="csY16" fmla="*/ 46196 h 681925"/>
                <a:gd name="csX17" fmla="*/ 4589 w 839824"/>
                <a:gd name="csY17" fmla="*/ 26106 h 681925"/>
                <a:gd name="csX18" fmla="*/ 13199 w 839824"/>
                <a:gd name="csY18" fmla="*/ 11756 h 681925"/>
                <a:gd name="csX19" fmla="*/ 27549 w 839824"/>
                <a:gd name="csY19" fmla="*/ 3146 h 681925"/>
                <a:gd name="csX20" fmla="*/ 47640 w 839824"/>
                <a:gd name="csY20" fmla="*/ 276 h 6819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839824" h="681925">
                  <a:moveTo>
                    <a:pt x="47640" y="276"/>
                  </a:moveTo>
                  <a:lnTo>
                    <a:pt x="795622" y="276"/>
                  </a:lnTo>
                  <a:lnTo>
                    <a:pt x="815712" y="3146"/>
                  </a:lnTo>
                  <a:lnTo>
                    <a:pt x="830063" y="11756"/>
                  </a:lnTo>
                  <a:lnTo>
                    <a:pt x="838673" y="26106"/>
                  </a:lnTo>
                  <a:lnTo>
                    <a:pt x="841543" y="46196"/>
                  </a:lnTo>
                  <a:lnTo>
                    <a:pt x="841543" y="636280"/>
                  </a:lnTo>
                  <a:lnTo>
                    <a:pt x="838673" y="656370"/>
                  </a:lnTo>
                  <a:lnTo>
                    <a:pt x="830063" y="670721"/>
                  </a:lnTo>
                  <a:lnTo>
                    <a:pt x="815712" y="679331"/>
                  </a:lnTo>
                  <a:lnTo>
                    <a:pt x="795622" y="682201"/>
                  </a:lnTo>
                  <a:lnTo>
                    <a:pt x="47640" y="682201"/>
                  </a:lnTo>
                  <a:lnTo>
                    <a:pt x="27549" y="679331"/>
                  </a:lnTo>
                  <a:lnTo>
                    <a:pt x="13199" y="670721"/>
                  </a:lnTo>
                  <a:lnTo>
                    <a:pt x="4589" y="656370"/>
                  </a:lnTo>
                  <a:lnTo>
                    <a:pt x="1719" y="636280"/>
                  </a:lnTo>
                  <a:lnTo>
                    <a:pt x="1719" y="46196"/>
                  </a:lnTo>
                  <a:lnTo>
                    <a:pt x="4589" y="26106"/>
                  </a:lnTo>
                  <a:lnTo>
                    <a:pt x="13199" y="11756"/>
                  </a:lnTo>
                  <a:lnTo>
                    <a:pt x="27549" y="3146"/>
                  </a:lnTo>
                  <a:lnTo>
                    <a:pt x="47640" y="276"/>
                  </a:lnTo>
                </a:path>
              </a:pathLst>
            </a:custGeom>
            <a:solidFill>
              <a:srgbClr val="F8F4F6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588F5707-1BFA-DB50-0412-5EFB56A07F1B}"/>
                </a:ext>
              </a:extLst>
            </p:cNvPr>
            <p:cNvSpPr/>
            <p:nvPr/>
          </p:nvSpPr>
          <p:spPr>
            <a:xfrm>
              <a:off x="6577479" y="2617730"/>
              <a:ext cx="839824" cy="681925"/>
            </a:xfrm>
            <a:custGeom>
              <a:avLst/>
              <a:gdLst>
                <a:gd name="csX0" fmla="*/ 47640 w 839824"/>
                <a:gd name="csY0" fmla="*/ 276 h 681925"/>
                <a:gd name="csX1" fmla="*/ 795622 w 839824"/>
                <a:gd name="csY1" fmla="*/ 276 h 681925"/>
                <a:gd name="csX2" fmla="*/ 841543 w 839824"/>
                <a:gd name="csY2" fmla="*/ 46196 h 681925"/>
                <a:gd name="csX3" fmla="*/ 841543 w 839824"/>
                <a:gd name="csY3" fmla="*/ 46196 h 681925"/>
                <a:gd name="csX4" fmla="*/ 841543 w 839824"/>
                <a:gd name="csY4" fmla="*/ 636280 h 681925"/>
                <a:gd name="csX5" fmla="*/ 795622 w 839824"/>
                <a:gd name="csY5" fmla="*/ 682201 h 681925"/>
                <a:gd name="csX6" fmla="*/ 795622 w 839824"/>
                <a:gd name="csY6" fmla="*/ 682201 h 681925"/>
                <a:gd name="csX7" fmla="*/ 47640 w 839824"/>
                <a:gd name="csY7" fmla="*/ 682201 h 681925"/>
                <a:gd name="csX8" fmla="*/ 1719 w 839824"/>
                <a:gd name="csY8" fmla="*/ 636280 h 681925"/>
                <a:gd name="csX9" fmla="*/ 1719 w 839824"/>
                <a:gd name="csY9" fmla="*/ 636280 h 681925"/>
                <a:gd name="csX10" fmla="*/ 1719 w 839824"/>
                <a:gd name="csY10" fmla="*/ 46196 h 681925"/>
                <a:gd name="csX11" fmla="*/ 47640 w 839824"/>
                <a:gd name="csY11" fmla="*/ 276 h 6819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839824" h="681925">
                  <a:moveTo>
                    <a:pt x="47640" y="276"/>
                  </a:moveTo>
                  <a:cubicBezTo>
                    <a:pt x="227098" y="276"/>
                    <a:pt x="406556" y="276"/>
                    <a:pt x="795622" y="276"/>
                  </a:cubicBezTo>
                  <a:cubicBezTo>
                    <a:pt x="826236" y="276"/>
                    <a:pt x="841543" y="15582"/>
                    <a:pt x="841543" y="46196"/>
                  </a:cubicBezTo>
                  <a:moveTo>
                    <a:pt x="841543" y="46196"/>
                  </a:moveTo>
                  <a:cubicBezTo>
                    <a:pt x="841543" y="209153"/>
                    <a:pt x="841543" y="372110"/>
                    <a:pt x="841543" y="636280"/>
                  </a:cubicBezTo>
                  <a:cubicBezTo>
                    <a:pt x="841543" y="666894"/>
                    <a:pt x="826236" y="682201"/>
                    <a:pt x="795622" y="682201"/>
                  </a:cubicBezTo>
                  <a:moveTo>
                    <a:pt x="795622" y="682201"/>
                  </a:moveTo>
                  <a:cubicBezTo>
                    <a:pt x="574992" y="682201"/>
                    <a:pt x="354362" y="682201"/>
                    <a:pt x="47640" y="682201"/>
                  </a:cubicBezTo>
                  <a:cubicBezTo>
                    <a:pt x="17026" y="682201"/>
                    <a:pt x="1719" y="666894"/>
                    <a:pt x="1719" y="636280"/>
                  </a:cubicBezTo>
                  <a:moveTo>
                    <a:pt x="1719" y="636280"/>
                  </a:moveTo>
                  <a:cubicBezTo>
                    <a:pt x="1719" y="423319"/>
                    <a:pt x="1719" y="210359"/>
                    <a:pt x="1719" y="46196"/>
                  </a:cubicBezTo>
                  <a:cubicBezTo>
                    <a:pt x="1719" y="15582"/>
                    <a:pt x="17026" y="276"/>
                    <a:pt x="47640" y="276"/>
                  </a:cubicBezTo>
                </a:path>
              </a:pathLst>
            </a:custGeom>
            <a:noFill/>
            <a:ln w="5023" cap="flat">
              <a:solidFill>
                <a:srgbClr val="2C165E"/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209" name="Graphic 239">
            <a:extLst>
              <a:ext uri="{FF2B5EF4-FFF2-40B4-BE49-F238E27FC236}">
                <a16:creationId xmlns:a16="http://schemas.microsoft.com/office/drawing/2014/main" id="{7AFE3026-27E7-DD86-6722-645927F84448}"/>
              </a:ext>
            </a:extLst>
          </p:cNvPr>
          <p:cNvGrpSpPr/>
          <p:nvPr/>
        </p:nvGrpSpPr>
        <p:grpSpPr>
          <a:xfrm>
            <a:off x="6536144" y="2993390"/>
            <a:ext cx="945120" cy="360099"/>
            <a:chOff x="6606180" y="2646430"/>
            <a:chExt cx="732675" cy="120159"/>
          </a:xfrm>
        </p:grpSpPr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D2E5C68A-E990-50AC-C765-C525E8CE8859}"/>
                </a:ext>
              </a:extLst>
            </p:cNvPr>
            <p:cNvSpPr/>
            <p:nvPr/>
          </p:nvSpPr>
          <p:spPr>
            <a:xfrm>
              <a:off x="6606180" y="2646430"/>
              <a:ext cx="732675" cy="120159"/>
            </a:xfrm>
            <a:custGeom>
              <a:avLst/>
              <a:gdLst>
                <a:gd name="csX0" fmla="*/ 9380 w 732675"/>
                <a:gd name="csY0" fmla="*/ 283 h 120159"/>
                <a:gd name="csX1" fmla="*/ 726748 w 732675"/>
                <a:gd name="csY1" fmla="*/ 283 h 120159"/>
                <a:gd name="csX2" fmla="*/ 732488 w 732675"/>
                <a:gd name="csY2" fmla="*/ 2196 h 120159"/>
                <a:gd name="csX3" fmla="*/ 734402 w 732675"/>
                <a:gd name="csY3" fmla="*/ 7936 h 120159"/>
                <a:gd name="csX4" fmla="*/ 734402 w 732675"/>
                <a:gd name="csY4" fmla="*/ 112789 h 120159"/>
                <a:gd name="csX5" fmla="*/ 732488 w 732675"/>
                <a:gd name="csY5" fmla="*/ 118529 h 120159"/>
                <a:gd name="csX6" fmla="*/ 726748 w 732675"/>
                <a:gd name="csY6" fmla="*/ 120443 h 120159"/>
                <a:gd name="csX7" fmla="*/ 9380 w 732675"/>
                <a:gd name="csY7" fmla="*/ 120443 h 120159"/>
                <a:gd name="csX8" fmla="*/ 3640 w 732675"/>
                <a:gd name="csY8" fmla="*/ 118529 h 120159"/>
                <a:gd name="csX9" fmla="*/ 1726 w 732675"/>
                <a:gd name="csY9" fmla="*/ 112789 h 120159"/>
                <a:gd name="csX10" fmla="*/ 1726 w 732675"/>
                <a:gd name="csY10" fmla="*/ 7936 h 120159"/>
                <a:gd name="csX11" fmla="*/ 3640 w 732675"/>
                <a:gd name="csY11" fmla="*/ 2196 h 120159"/>
                <a:gd name="csX12" fmla="*/ 9380 w 732675"/>
                <a:gd name="csY12" fmla="*/ 283 h 12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32675" h="120159">
                  <a:moveTo>
                    <a:pt x="9380" y="283"/>
                  </a:moveTo>
                  <a:lnTo>
                    <a:pt x="726748" y="283"/>
                  </a:lnTo>
                  <a:lnTo>
                    <a:pt x="732488" y="2196"/>
                  </a:lnTo>
                  <a:lnTo>
                    <a:pt x="734402" y="7936"/>
                  </a:lnTo>
                  <a:lnTo>
                    <a:pt x="734402" y="112789"/>
                  </a:lnTo>
                  <a:lnTo>
                    <a:pt x="732488" y="118529"/>
                  </a:lnTo>
                  <a:lnTo>
                    <a:pt x="726748" y="120443"/>
                  </a:lnTo>
                  <a:lnTo>
                    <a:pt x="9380" y="120443"/>
                  </a:lnTo>
                  <a:lnTo>
                    <a:pt x="3640" y="118529"/>
                  </a:lnTo>
                  <a:lnTo>
                    <a:pt x="1726" y="112789"/>
                  </a:lnTo>
                  <a:lnTo>
                    <a:pt x="1726" y="7936"/>
                  </a:lnTo>
                  <a:lnTo>
                    <a:pt x="3640" y="2196"/>
                  </a:lnTo>
                  <a:lnTo>
                    <a:pt x="9380" y="283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6BD92DE7-28AB-5477-C421-98AF88322AFB}"/>
                </a:ext>
              </a:extLst>
            </p:cNvPr>
            <p:cNvSpPr/>
            <p:nvPr/>
          </p:nvSpPr>
          <p:spPr>
            <a:xfrm>
              <a:off x="6606180" y="2646430"/>
              <a:ext cx="732675" cy="120159"/>
            </a:xfrm>
            <a:custGeom>
              <a:avLst/>
              <a:gdLst>
                <a:gd name="csX0" fmla="*/ 9380 w 732675"/>
                <a:gd name="csY0" fmla="*/ 283 h 120159"/>
                <a:gd name="csX1" fmla="*/ 726748 w 732675"/>
                <a:gd name="csY1" fmla="*/ 283 h 120159"/>
                <a:gd name="csX2" fmla="*/ 734402 w 732675"/>
                <a:gd name="csY2" fmla="*/ 7936 h 120159"/>
                <a:gd name="csX3" fmla="*/ 734402 w 732675"/>
                <a:gd name="csY3" fmla="*/ 7936 h 120159"/>
                <a:gd name="csX4" fmla="*/ 734402 w 732675"/>
                <a:gd name="csY4" fmla="*/ 112789 h 120159"/>
                <a:gd name="csX5" fmla="*/ 726748 w 732675"/>
                <a:gd name="csY5" fmla="*/ 120443 h 120159"/>
                <a:gd name="csX6" fmla="*/ 726748 w 732675"/>
                <a:gd name="csY6" fmla="*/ 120443 h 120159"/>
                <a:gd name="csX7" fmla="*/ 9380 w 732675"/>
                <a:gd name="csY7" fmla="*/ 120443 h 120159"/>
                <a:gd name="csX8" fmla="*/ 1726 w 732675"/>
                <a:gd name="csY8" fmla="*/ 112789 h 120159"/>
                <a:gd name="csX9" fmla="*/ 1726 w 732675"/>
                <a:gd name="csY9" fmla="*/ 112789 h 120159"/>
                <a:gd name="csX10" fmla="*/ 1726 w 732675"/>
                <a:gd name="csY10" fmla="*/ 7936 h 120159"/>
                <a:gd name="csX11" fmla="*/ 9380 w 732675"/>
                <a:gd name="csY11" fmla="*/ 283 h 12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32675" h="120159">
                  <a:moveTo>
                    <a:pt x="9380" y="283"/>
                  </a:moveTo>
                  <a:cubicBezTo>
                    <a:pt x="187346" y="283"/>
                    <a:pt x="365313" y="283"/>
                    <a:pt x="726748" y="283"/>
                  </a:cubicBezTo>
                  <a:cubicBezTo>
                    <a:pt x="731851" y="283"/>
                    <a:pt x="734402" y="2834"/>
                    <a:pt x="734402" y="7936"/>
                  </a:cubicBezTo>
                  <a:moveTo>
                    <a:pt x="734402" y="7936"/>
                  </a:moveTo>
                  <a:cubicBezTo>
                    <a:pt x="734402" y="46351"/>
                    <a:pt x="734402" y="84765"/>
                    <a:pt x="734402" y="112789"/>
                  </a:cubicBezTo>
                  <a:cubicBezTo>
                    <a:pt x="734402" y="117892"/>
                    <a:pt x="731851" y="120443"/>
                    <a:pt x="726748" y="120443"/>
                  </a:cubicBezTo>
                  <a:moveTo>
                    <a:pt x="726748" y="120443"/>
                  </a:moveTo>
                  <a:cubicBezTo>
                    <a:pt x="522085" y="120443"/>
                    <a:pt x="317422" y="120443"/>
                    <a:pt x="9380" y="120443"/>
                  </a:cubicBezTo>
                  <a:cubicBezTo>
                    <a:pt x="4277" y="120443"/>
                    <a:pt x="1726" y="117892"/>
                    <a:pt x="1726" y="112789"/>
                  </a:cubicBezTo>
                  <a:moveTo>
                    <a:pt x="1726" y="112789"/>
                  </a:moveTo>
                  <a:cubicBezTo>
                    <a:pt x="1726" y="81869"/>
                    <a:pt x="1726" y="50948"/>
                    <a:pt x="1726" y="7936"/>
                  </a:cubicBezTo>
                  <a:cubicBezTo>
                    <a:pt x="1726" y="2834"/>
                    <a:pt x="4277" y="283"/>
                    <a:pt x="9380" y="283"/>
                  </a:cubicBezTo>
                </a:path>
              </a:pathLst>
            </a:custGeom>
            <a:noFill/>
            <a:ln w="1674" cap="flat">
              <a:solidFill>
                <a:srgbClr val="2C165E"/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FDCCE432-C89B-08A4-01BF-1D198102771E}"/>
              </a:ext>
            </a:extLst>
          </p:cNvPr>
          <p:cNvSpPr/>
          <p:nvPr/>
        </p:nvSpPr>
        <p:spPr>
          <a:xfrm>
            <a:off x="6549868" y="3084361"/>
            <a:ext cx="152949" cy="166098"/>
          </a:xfrm>
          <a:custGeom>
            <a:avLst/>
            <a:gdLst>
              <a:gd name="csX0" fmla="*/ 1728 w 63428"/>
              <a:gd name="csY0" fmla="*/ 40997 h 68881"/>
              <a:gd name="csX1" fmla="*/ 33442 w 63428"/>
              <a:gd name="csY1" fmla="*/ 58845 h 68881"/>
              <a:gd name="csX2" fmla="*/ 61911 w 63428"/>
              <a:gd name="csY2" fmla="*/ 42917 h 68881"/>
              <a:gd name="csX3" fmla="*/ 61911 w 63428"/>
              <a:gd name="csY3" fmla="*/ 49259 h 68881"/>
              <a:gd name="csX4" fmla="*/ 33442 w 63428"/>
              <a:gd name="csY4" fmla="*/ 65329 h 68881"/>
              <a:gd name="csX5" fmla="*/ 3353 w 63428"/>
              <a:gd name="csY5" fmla="*/ 48223 h 68881"/>
              <a:gd name="csX6" fmla="*/ 1731 w 63428"/>
              <a:gd name="csY6" fmla="*/ 49107 h 68881"/>
              <a:gd name="csX7" fmla="*/ 1731 w 63428"/>
              <a:gd name="csY7" fmla="*/ 51317 h 68881"/>
              <a:gd name="csX8" fmla="*/ 33442 w 63428"/>
              <a:gd name="csY8" fmla="*/ 69169 h 68881"/>
              <a:gd name="csX9" fmla="*/ 65157 w 63428"/>
              <a:gd name="csY9" fmla="*/ 51323 h 68881"/>
              <a:gd name="csX10" fmla="*/ 65157 w 63428"/>
              <a:gd name="csY10" fmla="*/ 38933 h 68881"/>
              <a:gd name="csX11" fmla="*/ 63678 w 63428"/>
              <a:gd name="csY11" fmla="*/ 38046 h 68881"/>
              <a:gd name="csX12" fmla="*/ 33442 w 63428"/>
              <a:gd name="csY12" fmla="*/ 55157 h 68881"/>
              <a:gd name="csX13" fmla="*/ 5124 w 63428"/>
              <a:gd name="csY13" fmla="*/ 38933 h 68881"/>
              <a:gd name="csX14" fmla="*/ 5124 w 63428"/>
              <a:gd name="csY14" fmla="*/ 32590 h 68881"/>
              <a:gd name="csX15" fmla="*/ 33442 w 63428"/>
              <a:gd name="csY15" fmla="*/ 48519 h 68881"/>
              <a:gd name="csX16" fmla="*/ 65157 w 63428"/>
              <a:gd name="csY16" fmla="*/ 30673 h 68881"/>
              <a:gd name="csX17" fmla="*/ 65157 w 63428"/>
              <a:gd name="csY17" fmla="*/ 18426 h 68881"/>
              <a:gd name="csX18" fmla="*/ 63678 w 63428"/>
              <a:gd name="csY18" fmla="*/ 17542 h 68881"/>
              <a:gd name="csX19" fmla="*/ 33442 w 63428"/>
              <a:gd name="csY19" fmla="*/ 34654 h 68881"/>
              <a:gd name="csX20" fmla="*/ 6599 w 63428"/>
              <a:gd name="csY20" fmla="*/ 19463 h 68881"/>
              <a:gd name="csX21" fmla="*/ 33442 w 63428"/>
              <a:gd name="csY21" fmla="*/ 4271 h 68881"/>
              <a:gd name="csX22" fmla="*/ 55714 w 63428"/>
              <a:gd name="csY22" fmla="*/ 16808 h 68881"/>
              <a:gd name="csX23" fmla="*/ 57631 w 63428"/>
              <a:gd name="csY23" fmla="*/ 15628 h 68881"/>
              <a:gd name="csX24" fmla="*/ 57631 w 63428"/>
              <a:gd name="csY24" fmla="*/ 14004 h 68881"/>
              <a:gd name="csX25" fmla="*/ 33442 w 63428"/>
              <a:gd name="csY25" fmla="*/ 288 h 68881"/>
              <a:gd name="csX26" fmla="*/ 1728 w 63428"/>
              <a:gd name="csY26" fmla="*/ 18283 h 68881"/>
              <a:gd name="csX27" fmla="*/ 1728 w 63428"/>
              <a:gd name="csY27" fmla="*/ 20349 h 68881"/>
              <a:gd name="csX28" fmla="*/ 33442 w 63428"/>
              <a:gd name="csY28" fmla="*/ 38193 h 68881"/>
              <a:gd name="csX29" fmla="*/ 61911 w 63428"/>
              <a:gd name="csY29" fmla="*/ 22264 h 68881"/>
              <a:gd name="csX30" fmla="*/ 61911 w 63428"/>
              <a:gd name="csY30" fmla="*/ 28750 h 68881"/>
              <a:gd name="csX31" fmla="*/ 33442 w 63428"/>
              <a:gd name="csY31" fmla="*/ 44831 h 68881"/>
              <a:gd name="csX32" fmla="*/ 3353 w 63428"/>
              <a:gd name="csY32" fmla="*/ 27725 h 68881"/>
              <a:gd name="csX33" fmla="*/ 1731 w 63428"/>
              <a:gd name="csY33" fmla="*/ 28609 h 68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63428" h="68881">
                <a:moveTo>
                  <a:pt x="1728" y="40997"/>
                </a:moveTo>
                <a:lnTo>
                  <a:pt x="33442" y="58845"/>
                </a:lnTo>
                <a:lnTo>
                  <a:pt x="61911" y="42917"/>
                </a:lnTo>
                <a:lnTo>
                  <a:pt x="61911" y="49259"/>
                </a:lnTo>
                <a:lnTo>
                  <a:pt x="33442" y="65329"/>
                </a:lnTo>
                <a:lnTo>
                  <a:pt x="3353" y="48223"/>
                </a:lnTo>
                <a:lnTo>
                  <a:pt x="1731" y="49107"/>
                </a:lnTo>
                <a:lnTo>
                  <a:pt x="1731" y="51317"/>
                </a:lnTo>
                <a:lnTo>
                  <a:pt x="33442" y="69169"/>
                </a:lnTo>
                <a:lnTo>
                  <a:pt x="65157" y="51323"/>
                </a:lnTo>
                <a:lnTo>
                  <a:pt x="65157" y="38933"/>
                </a:lnTo>
                <a:lnTo>
                  <a:pt x="63678" y="38046"/>
                </a:lnTo>
                <a:lnTo>
                  <a:pt x="33442" y="55157"/>
                </a:lnTo>
                <a:lnTo>
                  <a:pt x="5124" y="38933"/>
                </a:lnTo>
                <a:lnTo>
                  <a:pt x="5124" y="32590"/>
                </a:lnTo>
                <a:lnTo>
                  <a:pt x="33442" y="48519"/>
                </a:lnTo>
                <a:lnTo>
                  <a:pt x="65157" y="30673"/>
                </a:lnTo>
                <a:lnTo>
                  <a:pt x="65157" y="18426"/>
                </a:lnTo>
                <a:lnTo>
                  <a:pt x="63678" y="17542"/>
                </a:lnTo>
                <a:lnTo>
                  <a:pt x="33442" y="34654"/>
                </a:lnTo>
                <a:lnTo>
                  <a:pt x="6599" y="19463"/>
                </a:lnTo>
                <a:lnTo>
                  <a:pt x="33442" y="4271"/>
                </a:lnTo>
                <a:lnTo>
                  <a:pt x="55714" y="16808"/>
                </a:lnTo>
                <a:lnTo>
                  <a:pt x="57631" y="15628"/>
                </a:lnTo>
                <a:lnTo>
                  <a:pt x="57631" y="14004"/>
                </a:lnTo>
                <a:lnTo>
                  <a:pt x="33442" y="288"/>
                </a:lnTo>
                <a:lnTo>
                  <a:pt x="1728" y="18283"/>
                </a:lnTo>
                <a:lnTo>
                  <a:pt x="1728" y="20349"/>
                </a:lnTo>
                <a:lnTo>
                  <a:pt x="33442" y="38193"/>
                </a:lnTo>
                <a:lnTo>
                  <a:pt x="61911" y="22264"/>
                </a:lnTo>
                <a:lnTo>
                  <a:pt x="61911" y="28750"/>
                </a:lnTo>
                <a:lnTo>
                  <a:pt x="33442" y="44831"/>
                </a:lnTo>
                <a:lnTo>
                  <a:pt x="3353" y="27725"/>
                </a:lnTo>
                <a:lnTo>
                  <a:pt x="1731" y="28609"/>
                </a:lnTo>
                <a:close/>
              </a:path>
            </a:pathLst>
          </a:custGeom>
          <a:solidFill>
            <a:srgbClr val="242424"/>
          </a:solidFill>
          <a:ln w="5581" cap="flat">
            <a:solidFill>
              <a:srgbClr val="242424"/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211" name="Freeform: Shape 210">
            <a:extLst>
              <a:ext uri="{FF2B5EF4-FFF2-40B4-BE49-F238E27FC236}">
                <a16:creationId xmlns:a16="http://schemas.microsoft.com/office/drawing/2014/main" id="{EA8A028B-6AF8-17B5-F950-7C956D4D046B}"/>
              </a:ext>
            </a:extLst>
          </p:cNvPr>
          <p:cNvSpPr>
            <a:spLocks noChangeAspect="1"/>
          </p:cNvSpPr>
          <p:nvPr/>
        </p:nvSpPr>
        <p:spPr>
          <a:xfrm>
            <a:off x="6932791" y="3385291"/>
            <a:ext cx="207264" cy="259078"/>
          </a:xfrm>
          <a:custGeom>
            <a:avLst/>
            <a:gdLst>
              <a:gd name="csX0" fmla="*/ 65596 w 127558"/>
              <a:gd name="csY0" fmla="*/ 159791 h 159447"/>
              <a:gd name="csX1" fmla="*/ 129375 w 127558"/>
              <a:gd name="csY1" fmla="*/ 80068 h 159447"/>
              <a:gd name="csX2" fmla="*/ 129375 w 127558"/>
              <a:gd name="csY2" fmla="*/ 24261 h 159447"/>
              <a:gd name="csX3" fmla="*/ 65596 w 127558"/>
              <a:gd name="csY3" fmla="*/ 344 h 159447"/>
              <a:gd name="csX4" fmla="*/ 1817 w 127558"/>
              <a:gd name="csY4" fmla="*/ 24261 h 159447"/>
              <a:gd name="csX5" fmla="*/ 1817 w 127558"/>
              <a:gd name="csY5" fmla="*/ 80068 h 159447"/>
              <a:gd name="csX6" fmla="*/ 65596 w 127558"/>
              <a:gd name="csY6" fmla="*/ 159791 h 1594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7558" h="159447">
                <a:moveTo>
                  <a:pt x="65596" y="159791"/>
                </a:moveTo>
                <a:cubicBezTo>
                  <a:pt x="65596" y="159791"/>
                  <a:pt x="129375" y="127902"/>
                  <a:pt x="129375" y="80068"/>
                </a:cubicBezTo>
                <a:lnTo>
                  <a:pt x="129375" y="24261"/>
                </a:lnTo>
                <a:lnTo>
                  <a:pt x="65596" y="344"/>
                </a:lnTo>
                <a:lnTo>
                  <a:pt x="1817" y="24261"/>
                </a:lnTo>
                <a:lnTo>
                  <a:pt x="1817" y="80068"/>
                </a:lnTo>
                <a:cubicBezTo>
                  <a:pt x="1817" y="127902"/>
                  <a:pt x="65596" y="159791"/>
                  <a:pt x="65596" y="159791"/>
                </a:cubicBezTo>
                <a:close/>
              </a:path>
            </a:pathLst>
          </a:custGeom>
          <a:solidFill>
            <a:schemeClr val="bg1"/>
          </a:solidFill>
          <a:ln w="5581" cap="rnd">
            <a:solidFill>
              <a:srgbClr val="242424"/>
            </a:solidFill>
            <a:prstDash val="solid"/>
            <a:round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212" name="Graphic 239">
            <a:extLst>
              <a:ext uri="{FF2B5EF4-FFF2-40B4-BE49-F238E27FC236}">
                <a16:creationId xmlns:a16="http://schemas.microsoft.com/office/drawing/2014/main" id="{B3701EF3-1831-6DA7-5400-2502377251E0}"/>
              </a:ext>
            </a:extLst>
          </p:cNvPr>
          <p:cNvGrpSpPr>
            <a:grpSpLocks noChangeAspect="1"/>
          </p:cNvGrpSpPr>
          <p:nvPr/>
        </p:nvGrpSpPr>
        <p:grpSpPr>
          <a:xfrm>
            <a:off x="8207755" y="3414735"/>
            <a:ext cx="233176" cy="259077"/>
            <a:chOff x="8240887" y="2845676"/>
            <a:chExt cx="143502" cy="159447"/>
          </a:xfrm>
          <a:solidFill>
            <a:schemeClr val="bg1"/>
          </a:solidFill>
        </p:grpSpPr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3B365DC2-1E8A-83A1-2B1B-F9D3D56E7C8A}"/>
                </a:ext>
              </a:extLst>
            </p:cNvPr>
            <p:cNvSpPr/>
            <p:nvPr/>
          </p:nvSpPr>
          <p:spPr>
            <a:xfrm>
              <a:off x="8240887" y="2845676"/>
              <a:ext cx="143502" cy="47834"/>
            </a:xfrm>
            <a:prstGeom prst="ellipse">
              <a:avLst/>
            </a:prstGeom>
            <a:grpFill/>
            <a:ln w="5581" cap="rnd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F0D7831-4D61-CDC6-5EA5-70AF7A82916D}"/>
                </a:ext>
              </a:extLst>
            </p:cNvPr>
            <p:cNvSpPr/>
            <p:nvPr/>
          </p:nvSpPr>
          <p:spPr>
            <a:xfrm>
              <a:off x="8240887" y="2925400"/>
              <a:ext cx="143502" cy="23917"/>
            </a:xfrm>
            <a:custGeom>
              <a:avLst/>
              <a:gdLst>
                <a:gd name="csX0" fmla="*/ 145663 w 143502"/>
                <a:gd name="csY0" fmla="*/ 346 h 23917"/>
                <a:gd name="csX1" fmla="*/ 73912 w 143502"/>
                <a:gd name="csY1" fmla="*/ 24263 h 23917"/>
                <a:gd name="csX2" fmla="*/ 2160 w 143502"/>
                <a:gd name="csY2" fmla="*/ 346 h 23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3502" h="23917">
                  <a:moveTo>
                    <a:pt x="145663" y="346"/>
                  </a:moveTo>
                  <a:cubicBezTo>
                    <a:pt x="145663" y="13580"/>
                    <a:pt x="113774" y="24263"/>
                    <a:pt x="73912" y="24263"/>
                  </a:cubicBezTo>
                  <a:cubicBezTo>
                    <a:pt x="34050" y="24263"/>
                    <a:pt x="2160" y="13580"/>
                    <a:pt x="2160" y="346"/>
                  </a:cubicBezTo>
                </a:path>
              </a:pathLst>
            </a:custGeom>
            <a:grpFill/>
            <a:ln w="5581" cap="rnd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79EA551E-F907-6A97-62FF-1DDFEB96F003}"/>
                </a:ext>
              </a:extLst>
            </p:cNvPr>
            <p:cNvSpPr/>
            <p:nvPr/>
          </p:nvSpPr>
          <p:spPr>
            <a:xfrm>
              <a:off x="8240887" y="2869593"/>
              <a:ext cx="143502" cy="135530"/>
            </a:xfrm>
            <a:custGeom>
              <a:avLst/>
              <a:gdLst>
                <a:gd name="csX0" fmla="*/ 2160 w 143502"/>
                <a:gd name="csY0" fmla="*/ 346 h 135530"/>
                <a:gd name="csX1" fmla="*/ 2160 w 143502"/>
                <a:gd name="csY1" fmla="*/ 111959 h 135530"/>
                <a:gd name="csX2" fmla="*/ 73912 w 143502"/>
                <a:gd name="csY2" fmla="*/ 135876 h 135530"/>
                <a:gd name="csX3" fmla="*/ 145663 w 143502"/>
                <a:gd name="csY3" fmla="*/ 111959 h 135530"/>
                <a:gd name="csX4" fmla="*/ 145663 w 143502"/>
                <a:gd name="csY4" fmla="*/ 346 h 1355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502" h="135530">
                  <a:moveTo>
                    <a:pt x="2160" y="346"/>
                  </a:moveTo>
                  <a:lnTo>
                    <a:pt x="2160" y="111959"/>
                  </a:lnTo>
                  <a:cubicBezTo>
                    <a:pt x="2160" y="125193"/>
                    <a:pt x="34050" y="135876"/>
                    <a:pt x="73912" y="135876"/>
                  </a:cubicBezTo>
                  <a:cubicBezTo>
                    <a:pt x="113774" y="135876"/>
                    <a:pt x="145663" y="125193"/>
                    <a:pt x="145663" y="111959"/>
                  </a:cubicBezTo>
                  <a:lnTo>
                    <a:pt x="145663" y="346"/>
                  </a:lnTo>
                </a:path>
              </a:pathLst>
            </a:custGeom>
            <a:grpFill/>
            <a:ln w="5581" cap="rnd">
              <a:solidFill>
                <a:schemeClr val="tx1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13" name="TextBox 212">
            <a:extLst>
              <a:ext uri="{FF2B5EF4-FFF2-40B4-BE49-F238E27FC236}">
                <a16:creationId xmlns:a16="http://schemas.microsoft.com/office/drawing/2014/main" id="{00FC1722-0272-6B28-3CEF-DAB956203BC5}"/>
              </a:ext>
            </a:extLst>
          </p:cNvPr>
          <p:cNvSpPr txBox="1"/>
          <p:nvPr/>
        </p:nvSpPr>
        <p:spPr>
          <a:xfrm>
            <a:off x="6616443" y="3634139"/>
            <a:ext cx="83996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RLS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77C4B47E-F93B-DD00-3F6D-0DAA7C4F330F}"/>
              </a:ext>
            </a:extLst>
          </p:cNvPr>
          <p:cNvSpPr txBox="1"/>
          <p:nvPr/>
        </p:nvSpPr>
        <p:spPr>
          <a:xfrm>
            <a:off x="6702817" y="2967355"/>
            <a:ext cx="687298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b="1"/>
              <a:t>UNITY CATALOG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3BE3A61-5E2D-9588-FBB7-7BCB90554E29}"/>
              </a:ext>
            </a:extLst>
          </p:cNvPr>
          <p:cNvSpPr txBox="1"/>
          <p:nvPr/>
        </p:nvSpPr>
        <p:spPr>
          <a:xfrm>
            <a:off x="7833435" y="3675951"/>
            <a:ext cx="957568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Databricks SQL Warehouse</a:t>
            </a:r>
          </a:p>
        </p:txBody>
      </p:sp>
      <p:grpSp>
        <p:nvGrpSpPr>
          <p:cNvPr id="216" name="Graphic 239">
            <a:extLst>
              <a:ext uri="{FF2B5EF4-FFF2-40B4-BE49-F238E27FC236}">
                <a16:creationId xmlns:a16="http://schemas.microsoft.com/office/drawing/2014/main" id="{B64F23B5-1359-F580-A7CA-7D60F8851FA3}"/>
              </a:ext>
            </a:extLst>
          </p:cNvPr>
          <p:cNvGrpSpPr/>
          <p:nvPr/>
        </p:nvGrpSpPr>
        <p:grpSpPr>
          <a:xfrm>
            <a:off x="9303226" y="2054746"/>
            <a:ext cx="1521367" cy="3245586"/>
            <a:chOff x="9357313" y="1659131"/>
            <a:chExt cx="1521367" cy="2241705"/>
          </a:xfrm>
        </p:grpSpPr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1D74733A-94AA-D63C-7619-7651B1F1D6AD}"/>
                </a:ext>
              </a:extLst>
            </p:cNvPr>
            <p:cNvSpPr/>
            <p:nvPr/>
          </p:nvSpPr>
          <p:spPr>
            <a:xfrm>
              <a:off x="9372620" y="1674438"/>
              <a:ext cx="1506060" cy="2226398"/>
            </a:xfrm>
            <a:custGeom>
              <a:avLst/>
              <a:gdLst>
                <a:gd name="csX0" fmla="*/ 48366 w 1506060"/>
                <a:gd name="csY0" fmla="*/ 25 h 2226398"/>
                <a:gd name="csX1" fmla="*/ 1462585 w 1506060"/>
                <a:gd name="csY1" fmla="*/ 25 h 2226398"/>
                <a:gd name="csX2" fmla="*/ 1508506 w 1506060"/>
                <a:gd name="csY2" fmla="*/ 45946 h 2226398"/>
                <a:gd name="csX3" fmla="*/ 1508506 w 1506060"/>
                <a:gd name="csY3" fmla="*/ 2180502 h 2226398"/>
                <a:gd name="csX4" fmla="*/ 1462585 w 1506060"/>
                <a:gd name="csY4" fmla="*/ 2226423 h 2226398"/>
                <a:gd name="csX5" fmla="*/ 48366 w 1506060"/>
                <a:gd name="csY5" fmla="*/ 2226423 h 2226398"/>
                <a:gd name="csX6" fmla="*/ 2445 w 1506060"/>
                <a:gd name="csY6" fmla="*/ 2180502 h 2226398"/>
                <a:gd name="csX7" fmla="*/ 2445 w 1506060"/>
                <a:gd name="csY7" fmla="*/ 45946 h 2226398"/>
                <a:gd name="csX8" fmla="*/ 48366 w 1506060"/>
                <a:gd name="csY8" fmla="*/ 25 h 2226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506060" h="2226398">
                  <a:moveTo>
                    <a:pt x="48366" y="25"/>
                  </a:moveTo>
                  <a:cubicBezTo>
                    <a:pt x="371730" y="25"/>
                    <a:pt x="695094" y="25"/>
                    <a:pt x="1462585" y="25"/>
                  </a:cubicBezTo>
                  <a:cubicBezTo>
                    <a:pt x="1493199" y="25"/>
                    <a:pt x="1508506" y="15332"/>
                    <a:pt x="1508506" y="45946"/>
                  </a:cubicBezTo>
                  <a:cubicBezTo>
                    <a:pt x="1508506" y="570717"/>
                    <a:pt x="1508506" y="1095487"/>
                    <a:pt x="1508506" y="2180502"/>
                  </a:cubicBezTo>
                  <a:cubicBezTo>
                    <a:pt x="1508506" y="2211116"/>
                    <a:pt x="1493199" y="2226423"/>
                    <a:pt x="1462585" y="2226423"/>
                  </a:cubicBezTo>
                  <a:cubicBezTo>
                    <a:pt x="1043383" y="2226423"/>
                    <a:pt x="624181" y="2226423"/>
                    <a:pt x="48366" y="2226423"/>
                  </a:cubicBezTo>
                  <a:cubicBezTo>
                    <a:pt x="17752" y="2226423"/>
                    <a:pt x="2445" y="2211116"/>
                    <a:pt x="2445" y="2180502"/>
                  </a:cubicBezTo>
                  <a:cubicBezTo>
                    <a:pt x="2445" y="1379132"/>
                    <a:pt x="2445" y="577762"/>
                    <a:pt x="2445" y="45946"/>
                  </a:cubicBezTo>
                  <a:cubicBezTo>
                    <a:pt x="2445" y="15332"/>
                    <a:pt x="17752" y="25"/>
                    <a:pt x="48366" y="25"/>
                  </a:cubicBezTo>
                </a:path>
              </a:pathLst>
            </a:custGeom>
            <a:solidFill>
              <a:srgbClr val="F8F4F6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B2087D04-5E2F-5E94-C3A9-71EA8195C894}"/>
                </a:ext>
              </a:extLst>
            </p:cNvPr>
            <p:cNvSpPr/>
            <p:nvPr/>
          </p:nvSpPr>
          <p:spPr>
            <a:xfrm>
              <a:off x="9357313" y="1659131"/>
              <a:ext cx="1506060" cy="2226398"/>
            </a:xfrm>
            <a:custGeom>
              <a:avLst/>
              <a:gdLst>
                <a:gd name="csX0" fmla="*/ 48366 w 1506060"/>
                <a:gd name="csY0" fmla="*/ 25 h 2226398"/>
                <a:gd name="csX1" fmla="*/ 1462585 w 1506060"/>
                <a:gd name="csY1" fmla="*/ 25 h 2226398"/>
                <a:gd name="csX2" fmla="*/ 1482675 w 1506060"/>
                <a:gd name="csY2" fmla="*/ 2895 h 2226398"/>
                <a:gd name="csX3" fmla="*/ 1490568 w 1506060"/>
                <a:gd name="csY3" fmla="*/ 6483 h 2226398"/>
                <a:gd name="csX4" fmla="*/ 1502048 w 1506060"/>
                <a:gd name="csY4" fmla="*/ 17963 h 2226398"/>
                <a:gd name="csX5" fmla="*/ 1508506 w 1506060"/>
                <a:gd name="csY5" fmla="*/ 45946 h 2226398"/>
                <a:gd name="csX6" fmla="*/ 1508506 w 1506060"/>
                <a:gd name="csY6" fmla="*/ 2180502 h 2226398"/>
                <a:gd name="csX7" fmla="*/ 1505636 w 1506060"/>
                <a:gd name="csY7" fmla="*/ 2200593 h 2226398"/>
                <a:gd name="csX8" fmla="*/ 1502048 w 1506060"/>
                <a:gd name="csY8" fmla="*/ 2208485 h 2226398"/>
                <a:gd name="csX9" fmla="*/ 1490568 w 1506060"/>
                <a:gd name="csY9" fmla="*/ 2219966 h 2226398"/>
                <a:gd name="csX10" fmla="*/ 1462585 w 1506060"/>
                <a:gd name="csY10" fmla="*/ 2226423 h 2226398"/>
                <a:gd name="csX11" fmla="*/ 48366 w 1506060"/>
                <a:gd name="csY11" fmla="*/ 2226423 h 2226398"/>
                <a:gd name="csX12" fmla="*/ 28276 w 1506060"/>
                <a:gd name="csY12" fmla="*/ 2223553 h 2226398"/>
                <a:gd name="csX13" fmla="*/ 20383 w 1506060"/>
                <a:gd name="csY13" fmla="*/ 2219966 h 2226398"/>
                <a:gd name="csX14" fmla="*/ 8903 w 1506060"/>
                <a:gd name="csY14" fmla="*/ 2208485 h 2226398"/>
                <a:gd name="csX15" fmla="*/ 2445 w 1506060"/>
                <a:gd name="csY15" fmla="*/ 2180502 h 2226398"/>
                <a:gd name="csX16" fmla="*/ 2445 w 1506060"/>
                <a:gd name="csY16" fmla="*/ 45946 h 2226398"/>
                <a:gd name="csX17" fmla="*/ 5315 w 1506060"/>
                <a:gd name="csY17" fmla="*/ 25856 h 2226398"/>
                <a:gd name="csX18" fmla="*/ 13925 w 1506060"/>
                <a:gd name="csY18" fmla="*/ 11505 h 2226398"/>
                <a:gd name="csX19" fmla="*/ 28276 w 1506060"/>
                <a:gd name="csY19" fmla="*/ 2895 h 2226398"/>
                <a:gd name="csX20" fmla="*/ 48366 w 1506060"/>
                <a:gd name="csY20" fmla="*/ 25 h 2226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1506060" h="2226398">
                  <a:moveTo>
                    <a:pt x="48366" y="25"/>
                  </a:moveTo>
                  <a:lnTo>
                    <a:pt x="1462585" y="25"/>
                  </a:lnTo>
                  <a:lnTo>
                    <a:pt x="1482675" y="2895"/>
                  </a:lnTo>
                  <a:lnTo>
                    <a:pt x="1490568" y="6483"/>
                  </a:lnTo>
                  <a:lnTo>
                    <a:pt x="1502048" y="17963"/>
                  </a:lnTo>
                  <a:lnTo>
                    <a:pt x="1508506" y="45946"/>
                  </a:lnTo>
                  <a:lnTo>
                    <a:pt x="1508506" y="2180502"/>
                  </a:lnTo>
                  <a:lnTo>
                    <a:pt x="1505636" y="2200593"/>
                  </a:lnTo>
                  <a:lnTo>
                    <a:pt x="1502048" y="2208485"/>
                  </a:lnTo>
                  <a:lnTo>
                    <a:pt x="1490568" y="2219966"/>
                  </a:lnTo>
                  <a:lnTo>
                    <a:pt x="1462585" y="2226423"/>
                  </a:lnTo>
                  <a:lnTo>
                    <a:pt x="48366" y="2226423"/>
                  </a:lnTo>
                  <a:lnTo>
                    <a:pt x="28276" y="2223553"/>
                  </a:lnTo>
                  <a:lnTo>
                    <a:pt x="20383" y="2219966"/>
                  </a:lnTo>
                  <a:lnTo>
                    <a:pt x="8903" y="2208485"/>
                  </a:lnTo>
                  <a:lnTo>
                    <a:pt x="2445" y="2180502"/>
                  </a:lnTo>
                  <a:lnTo>
                    <a:pt x="2445" y="45946"/>
                  </a:lnTo>
                  <a:lnTo>
                    <a:pt x="5315" y="25856"/>
                  </a:lnTo>
                  <a:lnTo>
                    <a:pt x="13925" y="11505"/>
                  </a:lnTo>
                  <a:lnTo>
                    <a:pt x="28276" y="2895"/>
                  </a:lnTo>
                  <a:lnTo>
                    <a:pt x="48366" y="25"/>
                  </a:lnTo>
                </a:path>
              </a:pathLst>
            </a:custGeom>
            <a:solidFill>
              <a:srgbClr val="F8F4F6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6FF02239-BF43-F2DA-354B-91E8145D3B03}"/>
                </a:ext>
              </a:extLst>
            </p:cNvPr>
            <p:cNvSpPr/>
            <p:nvPr/>
          </p:nvSpPr>
          <p:spPr>
            <a:xfrm>
              <a:off x="9357313" y="1659131"/>
              <a:ext cx="1506060" cy="2226398"/>
            </a:xfrm>
            <a:custGeom>
              <a:avLst/>
              <a:gdLst>
                <a:gd name="csX0" fmla="*/ 48366 w 1506060"/>
                <a:gd name="csY0" fmla="*/ 25 h 2226398"/>
                <a:gd name="csX1" fmla="*/ 1462585 w 1506060"/>
                <a:gd name="csY1" fmla="*/ 25 h 2226398"/>
                <a:gd name="csX2" fmla="*/ 1508506 w 1506060"/>
                <a:gd name="csY2" fmla="*/ 45946 h 2226398"/>
                <a:gd name="csX3" fmla="*/ 1508506 w 1506060"/>
                <a:gd name="csY3" fmla="*/ 45946 h 2226398"/>
                <a:gd name="csX4" fmla="*/ 1508506 w 1506060"/>
                <a:gd name="csY4" fmla="*/ 2180502 h 2226398"/>
                <a:gd name="csX5" fmla="*/ 1462585 w 1506060"/>
                <a:gd name="csY5" fmla="*/ 2226423 h 2226398"/>
                <a:gd name="csX6" fmla="*/ 1462585 w 1506060"/>
                <a:gd name="csY6" fmla="*/ 2226423 h 2226398"/>
                <a:gd name="csX7" fmla="*/ 48366 w 1506060"/>
                <a:gd name="csY7" fmla="*/ 2226423 h 2226398"/>
                <a:gd name="csX8" fmla="*/ 2445 w 1506060"/>
                <a:gd name="csY8" fmla="*/ 2180502 h 2226398"/>
                <a:gd name="csX9" fmla="*/ 2445 w 1506060"/>
                <a:gd name="csY9" fmla="*/ 2180502 h 2226398"/>
                <a:gd name="csX10" fmla="*/ 2445 w 1506060"/>
                <a:gd name="csY10" fmla="*/ 45946 h 2226398"/>
                <a:gd name="csX11" fmla="*/ 48366 w 1506060"/>
                <a:gd name="csY11" fmla="*/ 25 h 2226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506060" h="2226398">
                  <a:moveTo>
                    <a:pt x="48366" y="25"/>
                  </a:moveTo>
                  <a:cubicBezTo>
                    <a:pt x="371730" y="25"/>
                    <a:pt x="695094" y="25"/>
                    <a:pt x="1462585" y="25"/>
                  </a:cubicBezTo>
                  <a:cubicBezTo>
                    <a:pt x="1493199" y="25"/>
                    <a:pt x="1508506" y="15332"/>
                    <a:pt x="1508506" y="45946"/>
                  </a:cubicBezTo>
                  <a:moveTo>
                    <a:pt x="1508506" y="45946"/>
                  </a:moveTo>
                  <a:cubicBezTo>
                    <a:pt x="1508506" y="570717"/>
                    <a:pt x="1508506" y="1095487"/>
                    <a:pt x="1508506" y="2180502"/>
                  </a:cubicBezTo>
                  <a:cubicBezTo>
                    <a:pt x="1508506" y="2211116"/>
                    <a:pt x="1493199" y="2226423"/>
                    <a:pt x="1462585" y="2226423"/>
                  </a:cubicBezTo>
                  <a:moveTo>
                    <a:pt x="1462585" y="2226423"/>
                  </a:moveTo>
                  <a:cubicBezTo>
                    <a:pt x="1043383" y="2226423"/>
                    <a:pt x="624181" y="2226423"/>
                    <a:pt x="48366" y="2226423"/>
                  </a:cubicBezTo>
                  <a:cubicBezTo>
                    <a:pt x="17752" y="2226423"/>
                    <a:pt x="2445" y="2211116"/>
                    <a:pt x="2445" y="2180502"/>
                  </a:cubicBezTo>
                  <a:moveTo>
                    <a:pt x="2445" y="2180502"/>
                  </a:moveTo>
                  <a:cubicBezTo>
                    <a:pt x="2445" y="1379132"/>
                    <a:pt x="2445" y="577762"/>
                    <a:pt x="2445" y="45946"/>
                  </a:cubicBezTo>
                  <a:cubicBezTo>
                    <a:pt x="2445" y="15332"/>
                    <a:pt x="17752" y="25"/>
                    <a:pt x="48366" y="25"/>
                  </a:cubicBezTo>
                </a:path>
              </a:pathLst>
            </a:custGeom>
            <a:noFill/>
            <a:ln w="5023" cap="flat">
              <a:solidFill>
                <a:srgbClr val="592258"/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217" name="Graphic 239">
            <a:extLst>
              <a:ext uri="{FF2B5EF4-FFF2-40B4-BE49-F238E27FC236}">
                <a16:creationId xmlns:a16="http://schemas.microsoft.com/office/drawing/2014/main" id="{89AC14D5-2986-DB87-4E1B-8BA6C6CAEC4E}"/>
              </a:ext>
            </a:extLst>
          </p:cNvPr>
          <p:cNvGrpSpPr/>
          <p:nvPr/>
        </p:nvGrpSpPr>
        <p:grpSpPr>
          <a:xfrm>
            <a:off x="9331927" y="2083446"/>
            <a:ext cx="1138917" cy="182880"/>
            <a:chOff x="9386014" y="1687832"/>
            <a:chExt cx="607637" cy="120159"/>
          </a:xfrm>
        </p:grpSpPr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5EFB67A3-B553-DA2F-5165-3613E4727645}"/>
                </a:ext>
              </a:extLst>
            </p:cNvPr>
            <p:cNvSpPr/>
            <p:nvPr/>
          </p:nvSpPr>
          <p:spPr>
            <a:xfrm>
              <a:off x="9386014" y="1687832"/>
              <a:ext cx="607637" cy="120159"/>
            </a:xfrm>
            <a:custGeom>
              <a:avLst/>
              <a:gdLst>
                <a:gd name="csX0" fmla="*/ 10106 w 607637"/>
                <a:gd name="csY0" fmla="*/ 33 h 120159"/>
                <a:gd name="csX1" fmla="*/ 602437 w 607637"/>
                <a:gd name="csY1" fmla="*/ 33 h 120159"/>
                <a:gd name="csX2" fmla="*/ 608177 w 607637"/>
                <a:gd name="csY2" fmla="*/ 1946 h 120159"/>
                <a:gd name="csX3" fmla="*/ 610090 w 607637"/>
                <a:gd name="csY3" fmla="*/ 7686 h 120159"/>
                <a:gd name="csX4" fmla="*/ 610090 w 607637"/>
                <a:gd name="csY4" fmla="*/ 112539 h 120159"/>
                <a:gd name="csX5" fmla="*/ 608177 w 607637"/>
                <a:gd name="csY5" fmla="*/ 118279 h 120159"/>
                <a:gd name="csX6" fmla="*/ 602437 w 607637"/>
                <a:gd name="csY6" fmla="*/ 120192 h 120159"/>
                <a:gd name="csX7" fmla="*/ 10106 w 607637"/>
                <a:gd name="csY7" fmla="*/ 120192 h 120159"/>
                <a:gd name="csX8" fmla="*/ 4366 w 607637"/>
                <a:gd name="csY8" fmla="*/ 118279 h 120159"/>
                <a:gd name="csX9" fmla="*/ 2453 w 607637"/>
                <a:gd name="csY9" fmla="*/ 112539 h 120159"/>
                <a:gd name="csX10" fmla="*/ 2453 w 607637"/>
                <a:gd name="csY10" fmla="*/ 7686 h 120159"/>
                <a:gd name="csX11" fmla="*/ 4366 w 607637"/>
                <a:gd name="csY11" fmla="*/ 1946 h 120159"/>
                <a:gd name="csX12" fmla="*/ 10106 w 607637"/>
                <a:gd name="csY12" fmla="*/ 33 h 12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607637" h="120159">
                  <a:moveTo>
                    <a:pt x="10106" y="33"/>
                  </a:moveTo>
                  <a:lnTo>
                    <a:pt x="602437" y="33"/>
                  </a:lnTo>
                  <a:lnTo>
                    <a:pt x="608177" y="1946"/>
                  </a:lnTo>
                  <a:lnTo>
                    <a:pt x="610090" y="7686"/>
                  </a:lnTo>
                  <a:lnTo>
                    <a:pt x="610090" y="112539"/>
                  </a:lnTo>
                  <a:lnTo>
                    <a:pt x="608177" y="118279"/>
                  </a:lnTo>
                  <a:lnTo>
                    <a:pt x="602437" y="120192"/>
                  </a:lnTo>
                  <a:lnTo>
                    <a:pt x="10106" y="120192"/>
                  </a:lnTo>
                  <a:lnTo>
                    <a:pt x="4366" y="118279"/>
                  </a:lnTo>
                  <a:lnTo>
                    <a:pt x="2453" y="112539"/>
                  </a:lnTo>
                  <a:lnTo>
                    <a:pt x="2453" y="7686"/>
                  </a:lnTo>
                  <a:lnTo>
                    <a:pt x="4366" y="1946"/>
                  </a:lnTo>
                  <a:lnTo>
                    <a:pt x="10106" y="33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5217C0B1-F8C2-9F00-5340-1AE29B1E6E55}"/>
                </a:ext>
              </a:extLst>
            </p:cNvPr>
            <p:cNvSpPr/>
            <p:nvPr/>
          </p:nvSpPr>
          <p:spPr>
            <a:xfrm>
              <a:off x="9386014" y="1687832"/>
              <a:ext cx="607637" cy="120159"/>
            </a:xfrm>
            <a:custGeom>
              <a:avLst/>
              <a:gdLst>
                <a:gd name="csX0" fmla="*/ 10106 w 607637"/>
                <a:gd name="csY0" fmla="*/ 33 h 120159"/>
                <a:gd name="csX1" fmla="*/ 602437 w 607637"/>
                <a:gd name="csY1" fmla="*/ 33 h 120159"/>
                <a:gd name="csX2" fmla="*/ 610090 w 607637"/>
                <a:gd name="csY2" fmla="*/ 7686 h 120159"/>
                <a:gd name="csX3" fmla="*/ 610090 w 607637"/>
                <a:gd name="csY3" fmla="*/ 7686 h 120159"/>
                <a:gd name="csX4" fmla="*/ 610090 w 607637"/>
                <a:gd name="csY4" fmla="*/ 112539 h 120159"/>
                <a:gd name="csX5" fmla="*/ 602437 w 607637"/>
                <a:gd name="csY5" fmla="*/ 120192 h 120159"/>
                <a:gd name="csX6" fmla="*/ 602437 w 607637"/>
                <a:gd name="csY6" fmla="*/ 120192 h 120159"/>
                <a:gd name="csX7" fmla="*/ 10106 w 607637"/>
                <a:gd name="csY7" fmla="*/ 120192 h 120159"/>
                <a:gd name="csX8" fmla="*/ 2453 w 607637"/>
                <a:gd name="csY8" fmla="*/ 112539 h 120159"/>
                <a:gd name="csX9" fmla="*/ 2453 w 607637"/>
                <a:gd name="csY9" fmla="*/ 112539 h 120159"/>
                <a:gd name="csX10" fmla="*/ 2453 w 607637"/>
                <a:gd name="csY10" fmla="*/ 7686 h 120159"/>
                <a:gd name="csX11" fmla="*/ 10106 w 607637"/>
                <a:gd name="csY11" fmla="*/ 33 h 1201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07637" h="120159">
                  <a:moveTo>
                    <a:pt x="10106" y="33"/>
                  </a:moveTo>
                  <a:cubicBezTo>
                    <a:pt x="130094" y="33"/>
                    <a:pt x="250082" y="33"/>
                    <a:pt x="602437" y="33"/>
                  </a:cubicBezTo>
                  <a:cubicBezTo>
                    <a:pt x="607539" y="33"/>
                    <a:pt x="610090" y="2584"/>
                    <a:pt x="610090" y="7686"/>
                  </a:cubicBezTo>
                  <a:moveTo>
                    <a:pt x="610090" y="7686"/>
                  </a:moveTo>
                  <a:cubicBezTo>
                    <a:pt x="610090" y="36867"/>
                    <a:pt x="610090" y="66049"/>
                    <a:pt x="610090" y="112539"/>
                  </a:cubicBezTo>
                  <a:cubicBezTo>
                    <a:pt x="610090" y="117641"/>
                    <a:pt x="607539" y="120192"/>
                    <a:pt x="602437" y="120192"/>
                  </a:cubicBezTo>
                  <a:moveTo>
                    <a:pt x="602437" y="120192"/>
                  </a:moveTo>
                  <a:cubicBezTo>
                    <a:pt x="379818" y="120192"/>
                    <a:pt x="157200" y="120192"/>
                    <a:pt x="10106" y="120192"/>
                  </a:cubicBezTo>
                  <a:cubicBezTo>
                    <a:pt x="5004" y="120192"/>
                    <a:pt x="2453" y="117641"/>
                    <a:pt x="2453" y="112539"/>
                  </a:cubicBezTo>
                  <a:moveTo>
                    <a:pt x="2453" y="112539"/>
                  </a:moveTo>
                  <a:cubicBezTo>
                    <a:pt x="2453" y="74403"/>
                    <a:pt x="2453" y="36268"/>
                    <a:pt x="2453" y="7686"/>
                  </a:cubicBezTo>
                  <a:cubicBezTo>
                    <a:pt x="2453" y="2584"/>
                    <a:pt x="5004" y="33"/>
                    <a:pt x="10106" y="33"/>
                  </a:cubicBezTo>
                </a:path>
              </a:pathLst>
            </a:custGeom>
            <a:noFill/>
            <a:ln w="1674" cap="flat">
              <a:solidFill>
                <a:srgbClr val="592258"/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0FB7E6BA-2D1C-6249-11D0-52D2E2FBCBC0}"/>
              </a:ext>
            </a:extLst>
          </p:cNvPr>
          <p:cNvSpPr/>
          <p:nvPr/>
        </p:nvSpPr>
        <p:spPr>
          <a:xfrm>
            <a:off x="9350944" y="2093861"/>
            <a:ext cx="132906" cy="149875"/>
          </a:xfrm>
          <a:custGeom>
            <a:avLst/>
            <a:gdLst>
              <a:gd name="csX0" fmla="*/ 32992 w 61083"/>
              <a:gd name="csY0" fmla="*/ 68919 h 68882"/>
              <a:gd name="csX1" fmla="*/ 30346 w 61083"/>
              <a:gd name="csY1" fmla="*/ 68210 h 68882"/>
              <a:gd name="csX2" fmla="*/ 21919 w 61083"/>
              <a:gd name="csY2" fmla="*/ 63225 h 68882"/>
              <a:gd name="csX3" fmla="*/ 21690 w 61083"/>
              <a:gd name="csY3" fmla="*/ 62126 h 68882"/>
              <a:gd name="csX4" fmla="*/ 25501 w 61083"/>
              <a:gd name="csY4" fmla="*/ 60392 h 68882"/>
              <a:gd name="csX5" fmla="*/ 26127 w 61083"/>
              <a:gd name="csY5" fmla="*/ 60441 h 68882"/>
              <a:gd name="csX6" fmla="*/ 32602 w 61083"/>
              <a:gd name="csY6" fmla="*/ 64284 h 68882"/>
              <a:gd name="csX7" fmla="*/ 33382 w 61083"/>
              <a:gd name="csY7" fmla="*/ 64284 h 68882"/>
              <a:gd name="csX8" fmla="*/ 58625 w 61083"/>
              <a:gd name="csY8" fmla="*/ 49716 h 68882"/>
              <a:gd name="csX9" fmla="*/ 59009 w 61083"/>
              <a:gd name="csY9" fmla="*/ 49033 h 68882"/>
              <a:gd name="csX10" fmla="*/ 59009 w 61083"/>
              <a:gd name="csY10" fmla="*/ 19902 h 68882"/>
              <a:gd name="csX11" fmla="*/ 58616 w 61083"/>
              <a:gd name="csY11" fmla="*/ 19207 h 68882"/>
              <a:gd name="csX12" fmla="*/ 33385 w 61083"/>
              <a:gd name="csY12" fmla="*/ 4650 h 68882"/>
              <a:gd name="csX13" fmla="*/ 32608 w 61083"/>
              <a:gd name="csY13" fmla="*/ 4650 h 68882"/>
              <a:gd name="csX14" fmla="*/ 7383 w 61083"/>
              <a:gd name="csY14" fmla="*/ 19210 h 68882"/>
              <a:gd name="csX15" fmla="*/ 6984 w 61083"/>
              <a:gd name="csY15" fmla="*/ 19902 h 68882"/>
              <a:gd name="csX16" fmla="*/ 6984 w 61083"/>
              <a:gd name="csY16" fmla="*/ 49033 h 68882"/>
              <a:gd name="csX17" fmla="*/ 7383 w 61083"/>
              <a:gd name="csY17" fmla="*/ 49707 h 68882"/>
              <a:gd name="csX18" fmla="*/ 14297 w 61083"/>
              <a:gd name="csY18" fmla="*/ 53702 h 68882"/>
              <a:gd name="csX19" fmla="*/ 20347 w 61083"/>
              <a:gd name="csY19" fmla="*/ 51148 h 68882"/>
              <a:gd name="csX20" fmla="*/ 20347 w 61083"/>
              <a:gd name="csY20" fmla="*/ 22387 h 68882"/>
              <a:gd name="csX21" fmla="*/ 21081 w 61083"/>
              <a:gd name="csY21" fmla="*/ 21661 h 68882"/>
              <a:gd name="csX22" fmla="*/ 24282 w 61083"/>
              <a:gd name="csY22" fmla="*/ 21661 h 68882"/>
              <a:gd name="csX23" fmla="*/ 25013 w 61083"/>
              <a:gd name="csY23" fmla="*/ 22387 h 68882"/>
              <a:gd name="csX24" fmla="*/ 25013 w 61083"/>
              <a:gd name="csY24" fmla="*/ 51148 h 68882"/>
              <a:gd name="csX25" fmla="*/ 17540 w 61083"/>
              <a:gd name="csY25" fmla="*/ 59026 h 68882"/>
              <a:gd name="csX26" fmla="*/ 11725 w 61083"/>
              <a:gd name="csY26" fmla="*/ 57445 h 68882"/>
              <a:gd name="csX27" fmla="*/ 5101 w 61083"/>
              <a:gd name="csY27" fmla="*/ 53636 h 68882"/>
              <a:gd name="csX28" fmla="*/ 2455 w 61083"/>
              <a:gd name="csY28" fmla="*/ 49033 h 68882"/>
              <a:gd name="csX29" fmla="*/ 2455 w 61083"/>
              <a:gd name="csY29" fmla="*/ 19902 h 68882"/>
              <a:gd name="csX30" fmla="*/ 5101 w 61083"/>
              <a:gd name="csY30" fmla="*/ 15301 h 68882"/>
              <a:gd name="csX31" fmla="*/ 30343 w 61083"/>
              <a:gd name="csY31" fmla="*/ 715 h 68882"/>
              <a:gd name="csX32" fmla="*/ 35647 w 61083"/>
              <a:gd name="csY32" fmla="*/ 715 h 68882"/>
              <a:gd name="csX33" fmla="*/ 60886 w 61083"/>
              <a:gd name="csY33" fmla="*/ 15301 h 68882"/>
              <a:gd name="csX34" fmla="*/ 63538 w 61083"/>
              <a:gd name="csY34" fmla="*/ 19902 h 68882"/>
              <a:gd name="csX35" fmla="*/ 63538 w 61083"/>
              <a:gd name="csY35" fmla="*/ 49033 h 68882"/>
              <a:gd name="csX36" fmla="*/ 60886 w 61083"/>
              <a:gd name="csY36" fmla="*/ 53636 h 68882"/>
              <a:gd name="csX37" fmla="*/ 35647 w 61083"/>
              <a:gd name="csY37" fmla="*/ 68210 h 68882"/>
              <a:gd name="csX38" fmla="*/ 32992 w 61083"/>
              <a:gd name="csY38" fmla="*/ 68919 h 68882"/>
              <a:gd name="csX39" fmla="*/ 53372 w 61083"/>
              <a:gd name="csY39" fmla="*/ 40199 h 68882"/>
              <a:gd name="csX40" fmla="*/ 41930 w 61083"/>
              <a:gd name="csY40" fmla="*/ 32269 h 68882"/>
              <a:gd name="csX41" fmla="*/ 33294 w 61083"/>
              <a:gd name="csY41" fmla="*/ 28862 h 68882"/>
              <a:gd name="csX42" fmla="*/ 39774 w 61083"/>
              <a:gd name="csY42" fmla="*/ 25323 h 68882"/>
              <a:gd name="csX43" fmla="*/ 47658 w 61083"/>
              <a:gd name="csY43" fmla="*/ 29935 h 68882"/>
              <a:gd name="csX44" fmla="*/ 48367 w 61083"/>
              <a:gd name="csY44" fmla="*/ 30506 h 68882"/>
              <a:gd name="csX45" fmla="*/ 51642 w 61083"/>
              <a:gd name="csY45" fmla="*/ 30506 h 68882"/>
              <a:gd name="csX46" fmla="*/ 52176 w 61083"/>
              <a:gd name="csY46" fmla="*/ 30274 h 68882"/>
              <a:gd name="csX47" fmla="*/ 52368 w 61083"/>
              <a:gd name="csY47" fmla="*/ 29711 h 68882"/>
              <a:gd name="csX48" fmla="*/ 39774 w 61083"/>
              <a:gd name="csY48" fmla="*/ 20883 h 68882"/>
              <a:gd name="csX49" fmla="*/ 28282 w 61083"/>
              <a:gd name="csY49" fmla="*/ 29014 h 68882"/>
              <a:gd name="csX50" fmla="*/ 39461 w 61083"/>
              <a:gd name="csY50" fmla="*/ 36749 h 68882"/>
              <a:gd name="csX51" fmla="*/ 48367 w 61083"/>
              <a:gd name="csY51" fmla="*/ 40391 h 68882"/>
              <a:gd name="csX52" fmla="*/ 40784 w 61083"/>
              <a:gd name="csY52" fmla="*/ 44415 h 68882"/>
              <a:gd name="csX53" fmla="*/ 32143 w 61083"/>
              <a:gd name="csY53" fmla="*/ 39415 h 68882"/>
              <a:gd name="csX54" fmla="*/ 31416 w 61083"/>
              <a:gd name="csY54" fmla="*/ 38798 h 68882"/>
              <a:gd name="csX55" fmla="*/ 28153 w 61083"/>
              <a:gd name="csY55" fmla="*/ 38798 h 68882"/>
              <a:gd name="csX56" fmla="*/ 27424 w 61083"/>
              <a:gd name="csY56" fmla="*/ 39524 h 68882"/>
              <a:gd name="csX57" fmla="*/ 40784 w 61083"/>
              <a:gd name="csY57" fmla="*/ 48846 h 68882"/>
              <a:gd name="csX58" fmla="*/ 53372 w 61083"/>
              <a:gd name="csY58" fmla="*/ 40199 h 688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61083" h="68882">
                <a:moveTo>
                  <a:pt x="32992" y="68919"/>
                </a:moveTo>
                <a:cubicBezTo>
                  <a:pt x="32071" y="68919"/>
                  <a:pt x="31152" y="68678"/>
                  <a:pt x="30346" y="68210"/>
                </a:cubicBezTo>
                <a:lnTo>
                  <a:pt x="21919" y="63225"/>
                </a:lnTo>
                <a:cubicBezTo>
                  <a:pt x="20662" y="62522"/>
                  <a:pt x="21277" y="62272"/>
                  <a:pt x="21690" y="62126"/>
                </a:cubicBezTo>
                <a:cubicBezTo>
                  <a:pt x="23369" y="61543"/>
                  <a:pt x="23708" y="61408"/>
                  <a:pt x="25501" y="60392"/>
                </a:cubicBezTo>
                <a:cubicBezTo>
                  <a:pt x="25688" y="60286"/>
                  <a:pt x="25935" y="60326"/>
                  <a:pt x="26127" y="60441"/>
                </a:cubicBezTo>
                <a:lnTo>
                  <a:pt x="32602" y="64284"/>
                </a:lnTo>
                <a:cubicBezTo>
                  <a:pt x="32837" y="64413"/>
                  <a:pt x="33167" y="64413"/>
                  <a:pt x="33382" y="64284"/>
                </a:cubicBezTo>
                <a:lnTo>
                  <a:pt x="58625" y="49716"/>
                </a:lnTo>
                <a:cubicBezTo>
                  <a:pt x="58860" y="49581"/>
                  <a:pt x="59009" y="49311"/>
                  <a:pt x="59009" y="49033"/>
                </a:cubicBezTo>
                <a:lnTo>
                  <a:pt x="59009" y="19902"/>
                </a:lnTo>
                <a:cubicBezTo>
                  <a:pt x="59009" y="19617"/>
                  <a:pt x="58857" y="19351"/>
                  <a:pt x="58616" y="19207"/>
                </a:cubicBezTo>
                <a:lnTo>
                  <a:pt x="33385" y="4650"/>
                </a:lnTo>
                <a:cubicBezTo>
                  <a:pt x="33153" y="4515"/>
                  <a:pt x="32843" y="4515"/>
                  <a:pt x="32608" y="4650"/>
                </a:cubicBezTo>
                <a:lnTo>
                  <a:pt x="7383" y="19210"/>
                </a:lnTo>
                <a:cubicBezTo>
                  <a:pt x="7139" y="19351"/>
                  <a:pt x="6984" y="19626"/>
                  <a:pt x="6984" y="19902"/>
                </a:cubicBezTo>
                <a:lnTo>
                  <a:pt x="6984" y="49033"/>
                </a:lnTo>
                <a:cubicBezTo>
                  <a:pt x="6984" y="49311"/>
                  <a:pt x="7139" y="49575"/>
                  <a:pt x="7383" y="49707"/>
                </a:cubicBezTo>
                <a:lnTo>
                  <a:pt x="14297" y="53702"/>
                </a:lnTo>
                <a:cubicBezTo>
                  <a:pt x="18048" y="55579"/>
                  <a:pt x="20347" y="53369"/>
                  <a:pt x="20347" y="51148"/>
                </a:cubicBezTo>
                <a:lnTo>
                  <a:pt x="20347" y="22387"/>
                </a:lnTo>
                <a:cubicBezTo>
                  <a:pt x="20347" y="21979"/>
                  <a:pt x="20674" y="21661"/>
                  <a:pt x="21081" y="21661"/>
                </a:cubicBezTo>
                <a:lnTo>
                  <a:pt x="24282" y="21661"/>
                </a:lnTo>
                <a:cubicBezTo>
                  <a:pt x="24680" y="21661"/>
                  <a:pt x="25013" y="21982"/>
                  <a:pt x="25013" y="22387"/>
                </a:cubicBezTo>
                <a:lnTo>
                  <a:pt x="25013" y="51148"/>
                </a:lnTo>
                <a:cubicBezTo>
                  <a:pt x="25013" y="56156"/>
                  <a:pt x="22287" y="59026"/>
                  <a:pt x="17540" y="59026"/>
                </a:cubicBezTo>
                <a:cubicBezTo>
                  <a:pt x="16082" y="59026"/>
                  <a:pt x="14931" y="59026"/>
                  <a:pt x="11725" y="57445"/>
                </a:cubicBezTo>
                <a:lnTo>
                  <a:pt x="5101" y="53636"/>
                </a:lnTo>
                <a:cubicBezTo>
                  <a:pt x="3465" y="52692"/>
                  <a:pt x="2455" y="50924"/>
                  <a:pt x="2455" y="49033"/>
                </a:cubicBezTo>
                <a:lnTo>
                  <a:pt x="2455" y="19902"/>
                </a:lnTo>
                <a:cubicBezTo>
                  <a:pt x="2455" y="18010"/>
                  <a:pt x="3468" y="16242"/>
                  <a:pt x="5101" y="15301"/>
                </a:cubicBezTo>
                <a:lnTo>
                  <a:pt x="30343" y="715"/>
                </a:lnTo>
                <a:cubicBezTo>
                  <a:pt x="31942" y="-189"/>
                  <a:pt x="34063" y="-189"/>
                  <a:pt x="35647" y="715"/>
                </a:cubicBezTo>
                <a:lnTo>
                  <a:pt x="60886" y="15301"/>
                </a:lnTo>
                <a:cubicBezTo>
                  <a:pt x="62522" y="16245"/>
                  <a:pt x="63538" y="18010"/>
                  <a:pt x="63538" y="19902"/>
                </a:cubicBezTo>
                <a:lnTo>
                  <a:pt x="63538" y="49033"/>
                </a:lnTo>
                <a:cubicBezTo>
                  <a:pt x="63538" y="50924"/>
                  <a:pt x="62522" y="52686"/>
                  <a:pt x="60886" y="53636"/>
                </a:cubicBezTo>
                <a:lnTo>
                  <a:pt x="35647" y="68210"/>
                </a:lnTo>
                <a:cubicBezTo>
                  <a:pt x="34843" y="68678"/>
                  <a:pt x="33928" y="68919"/>
                  <a:pt x="32992" y="68919"/>
                </a:cubicBezTo>
                <a:close/>
                <a:moveTo>
                  <a:pt x="53372" y="40199"/>
                </a:moveTo>
                <a:cubicBezTo>
                  <a:pt x="53372" y="34746"/>
                  <a:pt x="49687" y="33293"/>
                  <a:pt x="41930" y="32269"/>
                </a:cubicBezTo>
                <a:cubicBezTo>
                  <a:pt x="34091" y="31233"/>
                  <a:pt x="33294" y="30696"/>
                  <a:pt x="33294" y="28862"/>
                </a:cubicBezTo>
                <a:cubicBezTo>
                  <a:pt x="33294" y="27347"/>
                  <a:pt x="33968" y="25323"/>
                  <a:pt x="39774" y="25323"/>
                </a:cubicBezTo>
                <a:cubicBezTo>
                  <a:pt x="44960" y="25323"/>
                  <a:pt x="46872" y="26440"/>
                  <a:pt x="47658" y="29935"/>
                </a:cubicBezTo>
                <a:cubicBezTo>
                  <a:pt x="47727" y="30265"/>
                  <a:pt x="48028" y="30506"/>
                  <a:pt x="48367" y="30506"/>
                </a:cubicBezTo>
                <a:lnTo>
                  <a:pt x="51642" y="30506"/>
                </a:lnTo>
                <a:cubicBezTo>
                  <a:pt x="51846" y="30506"/>
                  <a:pt x="52038" y="30417"/>
                  <a:pt x="52176" y="30274"/>
                </a:cubicBezTo>
                <a:cubicBezTo>
                  <a:pt x="52313" y="30119"/>
                  <a:pt x="52388" y="29921"/>
                  <a:pt x="52368" y="29711"/>
                </a:cubicBezTo>
                <a:cubicBezTo>
                  <a:pt x="51860" y="23690"/>
                  <a:pt x="47859" y="20883"/>
                  <a:pt x="39774" y="20883"/>
                </a:cubicBezTo>
                <a:cubicBezTo>
                  <a:pt x="32576" y="20883"/>
                  <a:pt x="28282" y="23920"/>
                  <a:pt x="28282" y="29014"/>
                </a:cubicBezTo>
                <a:cubicBezTo>
                  <a:pt x="28282" y="34539"/>
                  <a:pt x="32553" y="36066"/>
                  <a:pt x="39461" y="36749"/>
                </a:cubicBezTo>
                <a:cubicBezTo>
                  <a:pt x="47727" y="37558"/>
                  <a:pt x="48367" y="38766"/>
                  <a:pt x="48367" y="40391"/>
                </a:cubicBezTo>
                <a:cubicBezTo>
                  <a:pt x="48367" y="43212"/>
                  <a:pt x="46103" y="44415"/>
                  <a:pt x="40784" y="44415"/>
                </a:cubicBezTo>
                <a:cubicBezTo>
                  <a:pt x="34106" y="44415"/>
                  <a:pt x="32636" y="42739"/>
                  <a:pt x="32143" y="39415"/>
                </a:cubicBezTo>
                <a:cubicBezTo>
                  <a:pt x="32085" y="39059"/>
                  <a:pt x="31781" y="38798"/>
                  <a:pt x="31416" y="38798"/>
                </a:cubicBezTo>
                <a:lnTo>
                  <a:pt x="28153" y="38798"/>
                </a:lnTo>
                <a:cubicBezTo>
                  <a:pt x="27749" y="38798"/>
                  <a:pt x="27424" y="39119"/>
                  <a:pt x="27424" y="39524"/>
                </a:cubicBezTo>
                <a:cubicBezTo>
                  <a:pt x="27424" y="43778"/>
                  <a:pt x="29738" y="48846"/>
                  <a:pt x="40784" y="48846"/>
                </a:cubicBezTo>
                <a:cubicBezTo>
                  <a:pt x="48786" y="48849"/>
                  <a:pt x="53372" y="45701"/>
                  <a:pt x="53372" y="40199"/>
                </a:cubicBezTo>
                <a:close/>
              </a:path>
            </a:pathLst>
          </a:custGeom>
          <a:solidFill>
            <a:srgbClr val="242424"/>
          </a:solidFill>
          <a:ln w="5581" cap="flat">
            <a:solidFill>
              <a:srgbClr val="242424"/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219" name="Freeform: Shape 218">
            <a:extLst>
              <a:ext uri="{FF2B5EF4-FFF2-40B4-BE49-F238E27FC236}">
                <a16:creationId xmlns:a16="http://schemas.microsoft.com/office/drawing/2014/main" id="{8AC7F789-EB8C-A66E-F31B-BE528BE333A0}"/>
              </a:ext>
            </a:extLst>
          </p:cNvPr>
          <p:cNvSpPr>
            <a:spLocks noChangeAspect="1"/>
          </p:cNvSpPr>
          <p:nvPr/>
        </p:nvSpPr>
        <p:spPr>
          <a:xfrm>
            <a:off x="9538738" y="2328235"/>
            <a:ext cx="258199" cy="246453"/>
          </a:xfrm>
          <a:custGeom>
            <a:avLst/>
            <a:gdLst>
              <a:gd name="csX0" fmla="*/ 153502 w 158904"/>
              <a:gd name="csY0" fmla="*/ 93 h 151674"/>
              <a:gd name="csX1" fmla="*/ 137557 w 158904"/>
              <a:gd name="csY1" fmla="*/ 16038 h 151674"/>
              <a:gd name="csX2" fmla="*/ 76887 w 158904"/>
              <a:gd name="csY2" fmla="*/ 76707 h 151674"/>
              <a:gd name="csX3" fmla="*/ 77303 w 158904"/>
              <a:gd name="csY3" fmla="*/ 138717 h 151674"/>
              <a:gd name="csX4" fmla="*/ 15293 w 158904"/>
              <a:gd name="csY4" fmla="*/ 139132 h 151674"/>
              <a:gd name="csX5" fmla="*/ 14878 w 158904"/>
              <a:gd name="csY5" fmla="*/ 138717 h 151674"/>
              <a:gd name="csX6" fmla="*/ 15955 w 158904"/>
              <a:gd name="csY6" fmla="*/ 76715 h 151674"/>
              <a:gd name="csX7" fmla="*/ 76879 w 158904"/>
              <a:gd name="csY7" fmla="*/ 76715 h 151674"/>
              <a:gd name="csX8" fmla="*/ 76887 w 158904"/>
              <a:gd name="csY8" fmla="*/ 76707 h 151674"/>
              <a:gd name="csX9" fmla="*/ 109654 w 158904"/>
              <a:gd name="csY9" fmla="*/ 43941 h 151674"/>
              <a:gd name="csX10" fmla="*/ 109654 w 158904"/>
              <a:gd name="csY10" fmla="*/ 43941 h 151674"/>
              <a:gd name="csX11" fmla="*/ 133571 w 158904"/>
              <a:gd name="csY11" fmla="*/ 67858 h 151674"/>
              <a:gd name="csX12" fmla="*/ 161474 w 158904"/>
              <a:gd name="csY12" fmla="*/ 39955 h 151674"/>
              <a:gd name="csX13" fmla="*/ 137557 w 158904"/>
              <a:gd name="csY13" fmla="*/ 16038 h 151674"/>
              <a:gd name="csX14" fmla="*/ 109654 w 158904"/>
              <a:gd name="csY14" fmla="*/ 43941 h 151674"/>
              <a:gd name="csX15" fmla="*/ 137557 w 158904"/>
              <a:gd name="csY15" fmla="*/ 16038 h 15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58904" h="151674">
                <a:moveTo>
                  <a:pt x="153502" y="93"/>
                </a:moveTo>
                <a:lnTo>
                  <a:pt x="137557" y="16038"/>
                </a:lnTo>
                <a:moveTo>
                  <a:pt x="76887" y="76707"/>
                </a:moveTo>
                <a:cubicBezTo>
                  <a:pt x="94125" y="93716"/>
                  <a:pt x="94311" y="121478"/>
                  <a:pt x="77303" y="138717"/>
                </a:cubicBezTo>
                <a:cubicBezTo>
                  <a:pt x="60294" y="155955"/>
                  <a:pt x="32531" y="156141"/>
                  <a:pt x="15293" y="139132"/>
                </a:cubicBezTo>
                <a:cubicBezTo>
                  <a:pt x="15154" y="138995"/>
                  <a:pt x="15015" y="138856"/>
                  <a:pt x="14878" y="138717"/>
                </a:cubicBezTo>
                <a:cubicBezTo>
                  <a:pt x="-1946" y="121298"/>
                  <a:pt x="-1463" y="93539"/>
                  <a:pt x="15955" y="76715"/>
                </a:cubicBezTo>
                <a:cubicBezTo>
                  <a:pt x="32948" y="60304"/>
                  <a:pt x="59887" y="60304"/>
                  <a:pt x="76879" y="76715"/>
                </a:cubicBezTo>
                <a:close/>
                <a:moveTo>
                  <a:pt x="76887" y="76707"/>
                </a:moveTo>
                <a:lnTo>
                  <a:pt x="109654" y="43941"/>
                </a:lnTo>
                <a:moveTo>
                  <a:pt x="109654" y="43941"/>
                </a:moveTo>
                <a:lnTo>
                  <a:pt x="133571" y="67858"/>
                </a:lnTo>
                <a:lnTo>
                  <a:pt x="161474" y="39955"/>
                </a:lnTo>
                <a:lnTo>
                  <a:pt x="137557" y="16038"/>
                </a:lnTo>
                <a:moveTo>
                  <a:pt x="109654" y="43941"/>
                </a:moveTo>
                <a:lnTo>
                  <a:pt x="137557" y="16038"/>
                </a:lnTo>
              </a:path>
            </a:pathLst>
          </a:custGeom>
          <a:solidFill>
            <a:schemeClr val="bg1"/>
          </a:solidFill>
          <a:ln w="5581" cap="rnd">
            <a:solidFill>
              <a:srgbClr val="242424"/>
            </a:solidFill>
            <a:prstDash val="solid"/>
            <a:round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220" name="Graphic 239">
            <a:extLst>
              <a:ext uri="{FF2B5EF4-FFF2-40B4-BE49-F238E27FC236}">
                <a16:creationId xmlns:a16="http://schemas.microsoft.com/office/drawing/2014/main" id="{AC6888B0-4318-FB32-A0AE-B9D4ECAF0B39}"/>
              </a:ext>
            </a:extLst>
          </p:cNvPr>
          <p:cNvGrpSpPr>
            <a:grpSpLocks noChangeAspect="1"/>
          </p:cNvGrpSpPr>
          <p:nvPr/>
        </p:nvGrpSpPr>
        <p:grpSpPr>
          <a:xfrm>
            <a:off x="9936631" y="3153277"/>
            <a:ext cx="259248" cy="155437"/>
            <a:chOff x="10233429" y="1918967"/>
            <a:chExt cx="159551" cy="95668"/>
          </a:xfrm>
          <a:solidFill>
            <a:schemeClr val="bg1"/>
          </a:solidFill>
        </p:grpSpPr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20BE37D6-864E-EA5B-5C0F-7D66440C5F40}"/>
                </a:ext>
              </a:extLst>
            </p:cNvPr>
            <p:cNvSpPr/>
            <p:nvPr/>
          </p:nvSpPr>
          <p:spPr>
            <a:xfrm>
              <a:off x="10345146" y="1918967"/>
              <a:ext cx="47834" cy="95668"/>
            </a:xfrm>
            <a:custGeom>
              <a:avLst/>
              <a:gdLst>
                <a:gd name="csX0" fmla="*/ 2748 w 47834"/>
                <a:gd name="csY0" fmla="*/ 95762 h 95668"/>
                <a:gd name="csX1" fmla="*/ 50583 w 47834"/>
                <a:gd name="csY1" fmla="*/ 47928 h 95668"/>
                <a:gd name="csX2" fmla="*/ 2748 w 47834"/>
                <a:gd name="csY2" fmla="*/ 93 h 95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7834" h="95668">
                  <a:moveTo>
                    <a:pt x="2748" y="95762"/>
                  </a:moveTo>
                  <a:lnTo>
                    <a:pt x="50583" y="47928"/>
                  </a:lnTo>
                  <a:lnTo>
                    <a:pt x="2748" y="93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43F0B6C0-4461-8C04-0433-951836E7A978}"/>
                </a:ext>
              </a:extLst>
            </p:cNvPr>
            <p:cNvSpPr/>
            <p:nvPr/>
          </p:nvSpPr>
          <p:spPr>
            <a:xfrm>
              <a:off x="10233429" y="1918967"/>
              <a:ext cx="47834" cy="95668"/>
            </a:xfrm>
            <a:custGeom>
              <a:avLst/>
              <a:gdLst>
                <a:gd name="csX0" fmla="*/ 50568 w 47834"/>
                <a:gd name="csY0" fmla="*/ 93 h 95668"/>
                <a:gd name="csX1" fmla="*/ 2733 w 47834"/>
                <a:gd name="csY1" fmla="*/ 47928 h 95668"/>
                <a:gd name="csX2" fmla="*/ 50568 w 47834"/>
                <a:gd name="csY2" fmla="*/ 95762 h 956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7834" h="95668">
                  <a:moveTo>
                    <a:pt x="50568" y="93"/>
                  </a:moveTo>
                  <a:lnTo>
                    <a:pt x="2733" y="47928"/>
                  </a:lnTo>
                  <a:lnTo>
                    <a:pt x="50568" y="95762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221" name="Graphic 239">
            <a:extLst>
              <a:ext uri="{FF2B5EF4-FFF2-40B4-BE49-F238E27FC236}">
                <a16:creationId xmlns:a16="http://schemas.microsoft.com/office/drawing/2014/main" id="{B3F4CB40-EC5F-B95F-0452-5EFA390F4437}"/>
              </a:ext>
            </a:extLst>
          </p:cNvPr>
          <p:cNvGrpSpPr>
            <a:grpSpLocks noChangeAspect="1"/>
          </p:cNvGrpSpPr>
          <p:nvPr/>
        </p:nvGrpSpPr>
        <p:grpSpPr>
          <a:xfrm>
            <a:off x="10317468" y="2343049"/>
            <a:ext cx="259168" cy="259007"/>
            <a:chOff x="10454883" y="2471803"/>
            <a:chExt cx="159501" cy="159404"/>
          </a:xfrm>
          <a:solidFill>
            <a:schemeClr val="bg1"/>
          </a:solidFill>
        </p:grpSpPr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3F949793-C317-C07C-3636-1E73F579B0CA}"/>
                </a:ext>
              </a:extLst>
            </p:cNvPr>
            <p:cNvSpPr/>
            <p:nvPr/>
          </p:nvSpPr>
          <p:spPr>
            <a:xfrm>
              <a:off x="10454883" y="2471803"/>
              <a:ext cx="79750" cy="159404"/>
            </a:xfrm>
            <a:custGeom>
              <a:avLst/>
              <a:gdLst>
                <a:gd name="csX0" fmla="*/ 62555 w 79750"/>
                <a:gd name="csY0" fmla="*/ 246 h 159404"/>
                <a:gd name="csX1" fmla="*/ 82486 w 79750"/>
                <a:gd name="csY1" fmla="*/ 20177 h 159404"/>
                <a:gd name="csX2" fmla="*/ 82486 w 79750"/>
                <a:gd name="csY2" fmla="*/ 139763 h 159404"/>
                <a:gd name="csX3" fmla="*/ 62512 w 79750"/>
                <a:gd name="csY3" fmla="*/ 159651 h 159404"/>
                <a:gd name="csX4" fmla="*/ 42943 w 79750"/>
                <a:gd name="csY4" fmla="*/ 143271 h 159404"/>
                <a:gd name="csX5" fmla="*/ 19157 w 79750"/>
                <a:gd name="csY5" fmla="*/ 128147 h 159404"/>
                <a:gd name="csX6" fmla="*/ 19345 w 79750"/>
                <a:gd name="csY6" fmla="*/ 118716 h 159404"/>
                <a:gd name="csX7" fmla="*/ 3888 w 79750"/>
                <a:gd name="csY7" fmla="*/ 88630 h 159404"/>
                <a:gd name="csX8" fmla="*/ 16634 w 79750"/>
                <a:gd name="csY8" fmla="*/ 74230 h 159404"/>
                <a:gd name="csX9" fmla="*/ 16463 w 79750"/>
                <a:gd name="csY9" fmla="*/ 46044 h 159404"/>
                <a:gd name="csX10" fmla="*/ 27158 w 79750"/>
                <a:gd name="csY10" fmla="*/ 40427 h 159404"/>
                <a:gd name="csX11" fmla="*/ 42286 w 79750"/>
                <a:gd name="csY11" fmla="*/ 16644 h 159404"/>
                <a:gd name="csX12" fmla="*/ 42943 w 79750"/>
                <a:gd name="csY12" fmla="*/ 16510 h 159404"/>
                <a:gd name="csX13" fmla="*/ 62555 w 79750"/>
                <a:gd name="csY13" fmla="*/ 246 h 159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9750" h="159404">
                  <a:moveTo>
                    <a:pt x="62555" y="246"/>
                  </a:moveTo>
                  <a:cubicBezTo>
                    <a:pt x="73562" y="246"/>
                    <a:pt x="82486" y="9170"/>
                    <a:pt x="82486" y="20177"/>
                  </a:cubicBezTo>
                  <a:lnTo>
                    <a:pt x="82486" y="139763"/>
                  </a:lnTo>
                  <a:cubicBezTo>
                    <a:pt x="82462" y="150770"/>
                    <a:pt x="73519" y="159674"/>
                    <a:pt x="62512" y="159651"/>
                  </a:cubicBezTo>
                  <a:cubicBezTo>
                    <a:pt x="52890" y="159630"/>
                    <a:pt x="44657" y="152738"/>
                    <a:pt x="42943" y="143271"/>
                  </a:cubicBezTo>
                  <a:cubicBezTo>
                    <a:pt x="32198" y="145663"/>
                    <a:pt x="21549" y="138891"/>
                    <a:pt x="19157" y="128147"/>
                  </a:cubicBezTo>
                  <a:cubicBezTo>
                    <a:pt x="18464" y="125033"/>
                    <a:pt x="18528" y="121799"/>
                    <a:pt x="19345" y="118716"/>
                  </a:cubicBezTo>
                  <a:cubicBezTo>
                    <a:pt x="6768" y="114676"/>
                    <a:pt x="-152" y="101206"/>
                    <a:pt x="3888" y="88630"/>
                  </a:cubicBezTo>
                  <a:cubicBezTo>
                    <a:pt x="5935" y="82258"/>
                    <a:pt x="10558" y="77035"/>
                    <a:pt x="16634" y="74230"/>
                  </a:cubicBezTo>
                  <a:cubicBezTo>
                    <a:pt x="8803" y="66494"/>
                    <a:pt x="8726" y="53875"/>
                    <a:pt x="16463" y="46044"/>
                  </a:cubicBezTo>
                  <a:cubicBezTo>
                    <a:pt x="19361" y="43110"/>
                    <a:pt x="23097" y="41148"/>
                    <a:pt x="27158" y="40427"/>
                  </a:cubicBezTo>
                  <a:cubicBezTo>
                    <a:pt x="24768" y="29682"/>
                    <a:pt x="31541" y="19034"/>
                    <a:pt x="42286" y="16644"/>
                  </a:cubicBezTo>
                  <a:cubicBezTo>
                    <a:pt x="42504" y="16596"/>
                    <a:pt x="42723" y="16551"/>
                    <a:pt x="42943" y="16510"/>
                  </a:cubicBezTo>
                  <a:cubicBezTo>
                    <a:pt x="44709" y="7072"/>
                    <a:pt x="52954" y="236"/>
                    <a:pt x="62555" y="246"/>
                  </a:cubicBezTo>
                  <a:close/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5719C47-2EF2-7E1B-27E6-95C444E5C38D}"/>
                </a:ext>
              </a:extLst>
            </p:cNvPr>
            <p:cNvSpPr/>
            <p:nvPr/>
          </p:nvSpPr>
          <p:spPr>
            <a:xfrm>
              <a:off x="10534634" y="2471803"/>
              <a:ext cx="79750" cy="159404"/>
            </a:xfrm>
            <a:custGeom>
              <a:avLst/>
              <a:gdLst>
                <a:gd name="csX0" fmla="*/ 22677 w 79750"/>
                <a:gd name="csY0" fmla="*/ 246 h 159404"/>
                <a:gd name="csX1" fmla="*/ 2746 w 79750"/>
                <a:gd name="csY1" fmla="*/ 20177 h 159404"/>
                <a:gd name="csX2" fmla="*/ 2746 w 79750"/>
                <a:gd name="csY2" fmla="*/ 139763 h 159404"/>
                <a:gd name="csX3" fmla="*/ 22720 w 79750"/>
                <a:gd name="csY3" fmla="*/ 159651 h 159404"/>
                <a:gd name="csX4" fmla="*/ 42289 w 79750"/>
                <a:gd name="csY4" fmla="*/ 143271 h 159404"/>
                <a:gd name="csX5" fmla="*/ 66075 w 79750"/>
                <a:gd name="csY5" fmla="*/ 128147 h 159404"/>
                <a:gd name="csX6" fmla="*/ 65888 w 79750"/>
                <a:gd name="csY6" fmla="*/ 118716 h 159404"/>
                <a:gd name="csX7" fmla="*/ 81344 w 79750"/>
                <a:gd name="csY7" fmla="*/ 88630 h 159404"/>
                <a:gd name="csX8" fmla="*/ 68598 w 79750"/>
                <a:gd name="csY8" fmla="*/ 74230 h 159404"/>
                <a:gd name="csX9" fmla="*/ 68770 w 79750"/>
                <a:gd name="csY9" fmla="*/ 46044 h 159404"/>
                <a:gd name="csX10" fmla="*/ 58075 w 79750"/>
                <a:gd name="csY10" fmla="*/ 40427 h 159404"/>
                <a:gd name="csX11" fmla="*/ 42946 w 79750"/>
                <a:gd name="csY11" fmla="*/ 16644 h 159404"/>
                <a:gd name="csX12" fmla="*/ 42289 w 79750"/>
                <a:gd name="csY12" fmla="*/ 16510 h 159404"/>
                <a:gd name="csX13" fmla="*/ 22677 w 79750"/>
                <a:gd name="csY13" fmla="*/ 246 h 159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9750" h="159404">
                  <a:moveTo>
                    <a:pt x="22677" y="246"/>
                  </a:moveTo>
                  <a:cubicBezTo>
                    <a:pt x="11670" y="246"/>
                    <a:pt x="2746" y="9170"/>
                    <a:pt x="2746" y="20177"/>
                  </a:cubicBezTo>
                  <a:lnTo>
                    <a:pt x="2746" y="139763"/>
                  </a:lnTo>
                  <a:cubicBezTo>
                    <a:pt x="2770" y="150770"/>
                    <a:pt x="11713" y="159674"/>
                    <a:pt x="22720" y="159651"/>
                  </a:cubicBezTo>
                  <a:cubicBezTo>
                    <a:pt x="32342" y="159630"/>
                    <a:pt x="40575" y="152738"/>
                    <a:pt x="42289" y="143271"/>
                  </a:cubicBezTo>
                  <a:cubicBezTo>
                    <a:pt x="53034" y="145663"/>
                    <a:pt x="63683" y="138891"/>
                    <a:pt x="66075" y="128147"/>
                  </a:cubicBezTo>
                  <a:cubicBezTo>
                    <a:pt x="66768" y="125033"/>
                    <a:pt x="66704" y="121799"/>
                    <a:pt x="65888" y="118716"/>
                  </a:cubicBezTo>
                  <a:cubicBezTo>
                    <a:pt x="78464" y="114676"/>
                    <a:pt x="85384" y="101206"/>
                    <a:pt x="81344" y="88630"/>
                  </a:cubicBezTo>
                  <a:cubicBezTo>
                    <a:pt x="79298" y="82258"/>
                    <a:pt x="74675" y="77035"/>
                    <a:pt x="68598" y="74230"/>
                  </a:cubicBezTo>
                  <a:cubicBezTo>
                    <a:pt x="76429" y="66494"/>
                    <a:pt x="76506" y="53875"/>
                    <a:pt x="68770" y="46044"/>
                  </a:cubicBezTo>
                  <a:cubicBezTo>
                    <a:pt x="65872" y="43110"/>
                    <a:pt x="62135" y="41148"/>
                    <a:pt x="58075" y="40427"/>
                  </a:cubicBezTo>
                  <a:cubicBezTo>
                    <a:pt x="60464" y="29682"/>
                    <a:pt x="53691" y="19034"/>
                    <a:pt x="42946" y="16644"/>
                  </a:cubicBezTo>
                  <a:cubicBezTo>
                    <a:pt x="42728" y="16596"/>
                    <a:pt x="42509" y="16551"/>
                    <a:pt x="42289" y="16510"/>
                  </a:cubicBezTo>
                  <a:cubicBezTo>
                    <a:pt x="40523" y="7072"/>
                    <a:pt x="32279" y="236"/>
                    <a:pt x="22677" y="246"/>
                  </a:cubicBezTo>
                  <a:close/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223" name="Graphic 239">
            <a:extLst>
              <a:ext uri="{FF2B5EF4-FFF2-40B4-BE49-F238E27FC236}">
                <a16:creationId xmlns:a16="http://schemas.microsoft.com/office/drawing/2014/main" id="{7C212102-E58F-FC29-B7CC-8CCF96688D75}"/>
              </a:ext>
            </a:extLst>
          </p:cNvPr>
          <p:cNvGrpSpPr>
            <a:grpSpLocks noChangeAspect="1"/>
          </p:cNvGrpSpPr>
          <p:nvPr/>
        </p:nvGrpSpPr>
        <p:grpSpPr>
          <a:xfrm>
            <a:off x="9972526" y="3940454"/>
            <a:ext cx="233176" cy="259041"/>
            <a:chOff x="10201874" y="3056529"/>
            <a:chExt cx="143502" cy="159422"/>
          </a:xfrm>
          <a:solidFill>
            <a:schemeClr val="bg1"/>
          </a:solidFill>
        </p:grpSpPr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D7DEAF42-61C4-A1DD-9B32-408F33AE129F}"/>
                </a:ext>
              </a:extLst>
            </p:cNvPr>
            <p:cNvSpPr/>
            <p:nvPr/>
          </p:nvSpPr>
          <p:spPr>
            <a:xfrm>
              <a:off x="10201874" y="3056529"/>
              <a:ext cx="143502" cy="119585"/>
            </a:xfrm>
            <a:custGeom>
              <a:avLst/>
              <a:gdLst>
                <a:gd name="csX0" fmla="*/ 122258 w 143502"/>
                <a:gd name="csY0" fmla="*/ 48231 h 119585"/>
                <a:gd name="csX1" fmla="*/ 74424 w 143502"/>
                <a:gd name="csY1" fmla="*/ 396 h 119585"/>
                <a:gd name="csX2" fmla="*/ 26590 w 143502"/>
                <a:gd name="csY2" fmla="*/ 48231 h 119585"/>
                <a:gd name="csX3" fmla="*/ 2673 w 143502"/>
                <a:gd name="csY3" fmla="*/ 119982 h 119585"/>
                <a:gd name="csX4" fmla="*/ 146176 w 143502"/>
                <a:gd name="csY4" fmla="*/ 119982 h 119585"/>
                <a:gd name="csX5" fmla="*/ 122258 w 143502"/>
                <a:gd name="csY5" fmla="*/ 48231 h 1195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43502" h="119585">
                  <a:moveTo>
                    <a:pt x="122258" y="48231"/>
                  </a:moveTo>
                  <a:cubicBezTo>
                    <a:pt x="122258" y="21812"/>
                    <a:pt x="100842" y="396"/>
                    <a:pt x="74424" y="396"/>
                  </a:cubicBezTo>
                  <a:cubicBezTo>
                    <a:pt x="48006" y="396"/>
                    <a:pt x="26590" y="21812"/>
                    <a:pt x="26590" y="48231"/>
                  </a:cubicBezTo>
                  <a:cubicBezTo>
                    <a:pt x="26590" y="104037"/>
                    <a:pt x="2673" y="119982"/>
                    <a:pt x="2673" y="119982"/>
                  </a:cubicBezTo>
                  <a:lnTo>
                    <a:pt x="146176" y="119982"/>
                  </a:lnTo>
                  <a:cubicBezTo>
                    <a:pt x="146176" y="119982"/>
                    <a:pt x="122258" y="104037"/>
                    <a:pt x="122258" y="48231"/>
                  </a:cubicBez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B7DBEF08-3690-94A5-8154-DF0E84C808DB}"/>
                </a:ext>
              </a:extLst>
            </p:cNvPr>
            <p:cNvSpPr/>
            <p:nvPr/>
          </p:nvSpPr>
          <p:spPr>
            <a:xfrm>
              <a:off x="10259833" y="3208005"/>
              <a:ext cx="27584" cy="7946"/>
            </a:xfrm>
            <a:custGeom>
              <a:avLst/>
              <a:gdLst>
                <a:gd name="csX0" fmla="*/ 30257 w 27584"/>
                <a:gd name="csY0" fmla="*/ 409 h 7946"/>
                <a:gd name="csX1" fmla="*/ 8464 w 27584"/>
                <a:gd name="csY1" fmla="*/ 6201 h 7946"/>
                <a:gd name="csX2" fmla="*/ 2673 w 27584"/>
                <a:gd name="csY2" fmla="*/ 409 h 79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7584" h="7946">
                  <a:moveTo>
                    <a:pt x="30257" y="409"/>
                  </a:moveTo>
                  <a:cubicBezTo>
                    <a:pt x="25838" y="8027"/>
                    <a:pt x="16082" y="10620"/>
                    <a:pt x="8464" y="6201"/>
                  </a:cubicBezTo>
                  <a:cubicBezTo>
                    <a:pt x="6062" y="4808"/>
                    <a:pt x="4066" y="2811"/>
                    <a:pt x="2673" y="409"/>
                  </a:cubicBez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224" name="Graphic 239">
            <a:extLst>
              <a:ext uri="{FF2B5EF4-FFF2-40B4-BE49-F238E27FC236}">
                <a16:creationId xmlns:a16="http://schemas.microsoft.com/office/drawing/2014/main" id="{CDE920C9-080D-ADED-E2EA-EDFFC9973C0F}"/>
              </a:ext>
            </a:extLst>
          </p:cNvPr>
          <p:cNvGrpSpPr>
            <a:grpSpLocks noChangeAspect="1"/>
          </p:cNvGrpSpPr>
          <p:nvPr/>
        </p:nvGrpSpPr>
        <p:grpSpPr>
          <a:xfrm>
            <a:off x="9639929" y="4517166"/>
            <a:ext cx="233175" cy="233176"/>
            <a:chOff x="9796193" y="3525242"/>
            <a:chExt cx="143501" cy="143502"/>
          </a:xfrm>
          <a:solidFill>
            <a:schemeClr val="bg1"/>
          </a:solidFill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E0DA7283-4C69-6BEE-45BB-EB8443951A8C}"/>
                </a:ext>
              </a:extLst>
            </p:cNvPr>
            <p:cNvSpPr/>
            <p:nvPr/>
          </p:nvSpPr>
          <p:spPr>
            <a:xfrm>
              <a:off x="9796193" y="3525242"/>
              <a:ext cx="127558" cy="127558"/>
            </a:xfrm>
            <a:prstGeom prst="ellipse">
              <a:avLst/>
            </a:pr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EBA25155-19E9-8FBD-9E6F-65863784DC69}"/>
                </a:ext>
              </a:extLst>
            </p:cNvPr>
            <p:cNvSpPr/>
            <p:nvPr/>
          </p:nvSpPr>
          <p:spPr>
            <a:xfrm>
              <a:off x="9905015" y="3634065"/>
              <a:ext cx="34679" cy="34679"/>
            </a:xfrm>
            <a:custGeom>
              <a:avLst/>
              <a:gdLst>
                <a:gd name="csX0" fmla="*/ 37254 w 34679"/>
                <a:gd name="csY0" fmla="*/ 35207 h 34679"/>
                <a:gd name="csX1" fmla="*/ 2574 w 34679"/>
                <a:gd name="csY1" fmla="*/ 527 h 346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679" h="34679">
                  <a:moveTo>
                    <a:pt x="37254" y="35207"/>
                  </a:moveTo>
                  <a:lnTo>
                    <a:pt x="2574" y="527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25" name="Freeform: Shape 224">
            <a:extLst>
              <a:ext uri="{FF2B5EF4-FFF2-40B4-BE49-F238E27FC236}">
                <a16:creationId xmlns:a16="http://schemas.microsoft.com/office/drawing/2014/main" id="{0002EA86-06F8-CFBA-2B7C-EC968A5E7EB0}"/>
              </a:ext>
            </a:extLst>
          </p:cNvPr>
          <p:cNvSpPr>
            <a:spLocks noChangeAspect="1"/>
          </p:cNvSpPr>
          <p:nvPr/>
        </p:nvSpPr>
        <p:spPr>
          <a:xfrm>
            <a:off x="11475009" y="3027040"/>
            <a:ext cx="545598" cy="485924"/>
          </a:xfrm>
          <a:custGeom>
            <a:avLst/>
            <a:gdLst>
              <a:gd name="csX0" fmla="*/ 116546 w 191337"/>
              <a:gd name="csY0" fmla="*/ 85799 h 170409"/>
              <a:gd name="csX1" fmla="*/ 98728 w 191337"/>
              <a:gd name="csY1" fmla="*/ 103625 h 170409"/>
              <a:gd name="csX2" fmla="*/ 80902 w 191337"/>
              <a:gd name="csY2" fmla="*/ 85799 h 170409"/>
              <a:gd name="csX3" fmla="*/ 98720 w 191337"/>
              <a:gd name="csY3" fmla="*/ 67972 h 170409"/>
              <a:gd name="csX4" fmla="*/ 116546 w 191337"/>
              <a:gd name="csY4" fmla="*/ 85799 h 170409"/>
              <a:gd name="csX5" fmla="*/ 137657 w 191337"/>
              <a:gd name="csY5" fmla="*/ 574 h 170409"/>
              <a:gd name="csX6" fmla="*/ 98688 w 191337"/>
              <a:gd name="csY6" fmla="*/ 21477 h 170409"/>
              <a:gd name="csX7" fmla="*/ 59727 w 191337"/>
              <a:gd name="csY7" fmla="*/ 733 h 170409"/>
              <a:gd name="csX8" fmla="*/ 50910 w 191337"/>
              <a:gd name="csY8" fmla="*/ 2950 h 170409"/>
              <a:gd name="csX9" fmla="*/ 43153 w 191337"/>
              <a:gd name="csY9" fmla="*/ 53694 h 170409"/>
              <a:gd name="csX10" fmla="*/ 3099 w 191337"/>
              <a:gd name="csY10" fmla="*/ 85799 h 170409"/>
              <a:gd name="csX11" fmla="*/ 43304 w 191337"/>
              <a:gd name="csY11" fmla="*/ 117927 h 170409"/>
              <a:gd name="csX12" fmla="*/ 51181 w 191337"/>
              <a:gd name="csY12" fmla="*/ 168791 h 170409"/>
              <a:gd name="csX13" fmla="*/ 59966 w 191337"/>
              <a:gd name="csY13" fmla="*/ 170983 h 170409"/>
              <a:gd name="csX14" fmla="*/ 98935 w 191337"/>
              <a:gd name="csY14" fmla="*/ 150064 h 170409"/>
              <a:gd name="csX15" fmla="*/ 137896 w 191337"/>
              <a:gd name="csY15" fmla="*/ 170816 h 170409"/>
              <a:gd name="csX16" fmla="*/ 146714 w 191337"/>
              <a:gd name="csY16" fmla="*/ 168624 h 170409"/>
              <a:gd name="csX17" fmla="*/ 154471 w 191337"/>
              <a:gd name="csY17" fmla="*/ 117879 h 170409"/>
              <a:gd name="csX18" fmla="*/ 194436 w 191337"/>
              <a:gd name="csY18" fmla="*/ 85799 h 170409"/>
              <a:gd name="csX19" fmla="*/ 154232 w 191337"/>
              <a:gd name="csY19" fmla="*/ 53654 h 170409"/>
              <a:gd name="csX20" fmla="*/ 146355 w 191337"/>
              <a:gd name="csY20" fmla="*/ 2790 h 170409"/>
              <a:gd name="csX21" fmla="*/ 137649 w 191337"/>
              <a:gd name="csY21" fmla="*/ 574 h 170409"/>
              <a:gd name="csX22" fmla="*/ 137617 w 191337"/>
              <a:gd name="csY22" fmla="*/ 9264 h 170409"/>
              <a:gd name="csX23" fmla="*/ 137617 w 191337"/>
              <a:gd name="csY23" fmla="*/ 9312 h 170409"/>
              <a:gd name="csX24" fmla="*/ 142066 w 191337"/>
              <a:gd name="csY24" fmla="*/ 10324 h 170409"/>
              <a:gd name="csX25" fmla="*/ 147886 w 191337"/>
              <a:gd name="csY25" fmla="*/ 39854 h 170409"/>
              <a:gd name="csX26" fmla="*/ 145893 w 191337"/>
              <a:gd name="csY26" fmla="*/ 51334 h 170409"/>
              <a:gd name="csX27" fmla="*/ 121122 w 191337"/>
              <a:gd name="csY27" fmla="*/ 47077 h 170409"/>
              <a:gd name="csX28" fmla="*/ 104899 w 191337"/>
              <a:gd name="csY28" fmla="*/ 27568 h 170409"/>
              <a:gd name="csX29" fmla="*/ 137625 w 191337"/>
              <a:gd name="csY29" fmla="*/ 9272 h 170409"/>
              <a:gd name="csX30" fmla="*/ 59727 w 191337"/>
              <a:gd name="csY30" fmla="*/ 9423 h 170409"/>
              <a:gd name="csX31" fmla="*/ 92494 w 191337"/>
              <a:gd name="csY31" fmla="*/ 27600 h 170409"/>
              <a:gd name="csX32" fmla="*/ 76389 w 191337"/>
              <a:gd name="csY32" fmla="*/ 47069 h 170409"/>
              <a:gd name="csX33" fmla="*/ 51571 w 191337"/>
              <a:gd name="csY33" fmla="*/ 51358 h 170409"/>
              <a:gd name="csX34" fmla="*/ 49546 w 191337"/>
              <a:gd name="csY34" fmla="*/ 40037 h 170409"/>
              <a:gd name="csX35" fmla="*/ 55239 w 191337"/>
              <a:gd name="csY35" fmla="*/ 10484 h 170409"/>
              <a:gd name="csX36" fmla="*/ 59727 w 191337"/>
              <a:gd name="csY36" fmla="*/ 9431 h 170409"/>
              <a:gd name="csX37" fmla="*/ 98648 w 191337"/>
              <a:gd name="csY37" fmla="*/ 33739 h 170409"/>
              <a:gd name="csX38" fmla="*/ 109491 w 191337"/>
              <a:gd name="csY38" fmla="*/ 46208 h 170409"/>
              <a:gd name="csX39" fmla="*/ 98768 w 191337"/>
              <a:gd name="csY39" fmla="*/ 45937 h 170409"/>
              <a:gd name="csX40" fmla="*/ 87925 w 191337"/>
              <a:gd name="csY40" fmla="*/ 46208 h 170409"/>
              <a:gd name="csX41" fmla="*/ 98648 w 191337"/>
              <a:gd name="csY41" fmla="*/ 33731 h 170409"/>
              <a:gd name="csX42" fmla="*/ 98768 w 191337"/>
              <a:gd name="csY42" fmla="*/ 54674 h 170409"/>
              <a:gd name="csX43" fmla="*/ 116323 w 191337"/>
              <a:gd name="csY43" fmla="*/ 55416 h 170409"/>
              <a:gd name="csX44" fmla="*/ 125754 w 191337"/>
              <a:gd name="csY44" fmla="*/ 70244 h 170409"/>
              <a:gd name="csX45" fmla="*/ 133870 w 191337"/>
              <a:gd name="csY45" fmla="*/ 85759 h 170409"/>
              <a:gd name="csX46" fmla="*/ 125794 w 191337"/>
              <a:gd name="csY46" fmla="*/ 101305 h 170409"/>
              <a:gd name="csX47" fmla="*/ 116387 w 191337"/>
              <a:gd name="csY47" fmla="*/ 116213 h 170409"/>
              <a:gd name="csX48" fmla="*/ 98768 w 191337"/>
              <a:gd name="csY48" fmla="*/ 116994 h 170409"/>
              <a:gd name="csX49" fmla="*/ 81213 w 191337"/>
              <a:gd name="csY49" fmla="*/ 116253 h 170409"/>
              <a:gd name="csX50" fmla="*/ 71781 w 191337"/>
              <a:gd name="csY50" fmla="*/ 101424 h 170409"/>
              <a:gd name="csX51" fmla="*/ 63665 w 191337"/>
              <a:gd name="csY51" fmla="*/ 85910 h 170409"/>
              <a:gd name="csX52" fmla="*/ 71741 w 191337"/>
              <a:gd name="csY52" fmla="*/ 70332 h 170409"/>
              <a:gd name="csX53" fmla="*/ 81149 w 191337"/>
              <a:gd name="csY53" fmla="*/ 55440 h 170409"/>
              <a:gd name="csX54" fmla="*/ 98768 w 191337"/>
              <a:gd name="csY54" fmla="*/ 54658 h 170409"/>
              <a:gd name="csX55" fmla="*/ 69788 w 191337"/>
              <a:gd name="csY55" fmla="*/ 56699 h 170409"/>
              <a:gd name="csX56" fmla="*/ 64176 w 191337"/>
              <a:gd name="csY56" fmla="*/ 65947 h 170409"/>
              <a:gd name="csX57" fmla="*/ 59113 w 191337"/>
              <a:gd name="csY57" fmla="*/ 75307 h 170409"/>
              <a:gd name="csX58" fmla="*/ 53724 w 191337"/>
              <a:gd name="csY58" fmla="*/ 59785 h 170409"/>
              <a:gd name="csX59" fmla="*/ 69788 w 191337"/>
              <a:gd name="csY59" fmla="*/ 56707 h 170409"/>
              <a:gd name="csX60" fmla="*/ 127668 w 191337"/>
              <a:gd name="csY60" fmla="*/ 56699 h 170409"/>
              <a:gd name="csX61" fmla="*/ 143660 w 191337"/>
              <a:gd name="csY61" fmla="*/ 59785 h 170409"/>
              <a:gd name="csX62" fmla="*/ 138399 w 191337"/>
              <a:gd name="csY62" fmla="*/ 75195 h 170409"/>
              <a:gd name="csX63" fmla="*/ 133296 w 191337"/>
              <a:gd name="csY63" fmla="*/ 65836 h 170409"/>
              <a:gd name="csX64" fmla="*/ 127676 w 191337"/>
              <a:gd name="csY64" fmla="*/ 56699 h 170409"/>
              <a:gd name="csX65" fmla="*/ 152087 w 191337"/>
              <a:gd name="csY65" fmla="*/ 62081 h 170409"/>
              <a:gd name="csX66" fmla="*/ 163049 w 191337"/>
              <a:gd name="csY66" fmla="*/ 66051 h 170409"/>
              <a:gd name="csX67" fmla="*/ 185786 w 191337"/>
              <a:gd name="csY67" fmla="*/ 85791 h 170409"/>
              <a:gd name="csX68" fmla="*/ 163009 w 191337"/>
              <a:gd name="csY68" fmla="*/ 105522 h 170409"/>
              <a:gd name="csX69" fmla="*/ 152207 w 191337"/>
              <a:gd name="csY69" fmla="*/ 109453 h 170409"/>
              <a:gd name="csX70" fmla="*/ 143437 w 191337"/>
              <a:gd name="csY70" fmla="*/ 85695 h 170409"/>
              <a:gd name="csX71" fmla="*/ 152087 w 191337"/>
              <a:gd name="csY71" fmla="*/ 62065 h 170409"/>
              <a:gd name="csX72" fmla="*/ 45297 w 191337"/>
              <a:gd name="csY72" fmla="*/ 62113 h 170409"/>
              <a:gd name="csX73" fmla="*/ 54067 w 191337"/>
              <a:gd name="csY73" fmla="*/ 85870 h 170409"/>
              <a:gd name="csX74" fmla="*/ 45409 w 191337"/>
              <a:gd name="csY74" fmla="*/ 109500 h 170409"/>
              <a:gd name="csX75" fmla="*/ 34487 w 191337"/>
              <a:gd name="csY75" fmla="*/ 105514 h 170409"/>
              <a:gd name="csX76" fmla="*/ 11749 w 191337"/>
              <a:gd name="csY76" fmla="*/ 85791 h 170409"/>
              <a:gd name="csX77" fmla="*/ 34487 w 191337"/>
              <a:gd name="csY77" fmla="*/ 66051 h 170409"/>
              <a:gd name="csX78" fmla="*/ 45297 w 191337"/>
              <a:gd name="csY78" fmla="*/ 62113 h 170409"/>
              <a:gd name="csX79" fmla="*/ 138399 w 191337"/>
              <a:gd name="csY79" fmla="*/ 96234 h 170409"/>
              <a:gd name="csX80" fmla="*/ 143788 w 191337"/>
              <a:gd name="csY80" fmla="*/ 111765 h 170409"/>
              <a:gd name="csX81" fmla="*/ 127716 w 191337"/>
              <a:gd name="csY81" fmla="*/ 114874 h 170409"/>
              <a:gd name="csX82" fmla="*/ 133336 w 191337"/>
              <a:gd name="csY82" fmla="*/ 105642 h 170409"/>
              <a:gd name="csX83" fmla="*/ 138407 w 191337"/>
              <a:gd name="csY83" fmla="*/ 96234 h 170409"/>
              <a:gd name="csX84" fmla="*/ 59113 w 191337"/>
              <a:gd name="csY84" fmla="*/ 96394 h 170409"/>
              <a:gd name="csX85" fmla="*/ 64216 w 191337"/>
              <a:gd name="csY85" fmla="*/ 105761 h 170409"/>
              <a:gd name="csX86" fmla="*/ 69836 w 191337"/>
              <a:gd name="csY86" fmla="*/ 114874 h 170409"/>
              <a:gd name="csX87" fmla="*/ 53843 w 191337"/>
              <a:gd name="csY87" fmla="*/ 111797 h 170409"/>
              <a:gd name="csX88" fmla="*/ 59105 w 191337"/>
              <a:gd name="csY88" fmla="*/ 96386 h 170409"/>
              <a:gd name="csX89" fmla="*/ 145964 w 191337"/>
              <a:gd name="csY89" fmla="*/ 120207 h 170409"/>
              <a:gd name="csX90" fmla="*/ 147989 w 191337"/>
              <a:gd name="csY90" fmla="*/ 131552 h 170409"/>
              <a:gd name="csX91" fmla="*/ 142297 w 191337"/>
              <a:gd name="csY91" fmla="*/ 161114 h 170409"/>
              <a:gd name="csX92" fmla="*/ 137809 w 191337"/>
              <a:gd name="csY92" fmla="*/ 162134 h 170409"/>
              <a:gd name="csX93" fmla="*/ 105042 w 191337"/>
              <a:gd name="csY93" fmla="*/ 143957 h 170409"/>
              <a:gd name="csX94" fmla="*/ 121146 w 191337"/>
              <a:gd name="csY94" fmla="*/ 124504 h 170409"/>
              <a:gd name="csX95" fmla="*/ 145964 w 191337"/>
              <a:gd name="csY95" fmla="*/ 120199 h 170409"/>
              <a:gd name="csX96" fmla="*/ 51651 w 191337"/>
              <a:gd name="csY96" fmla="*/ 120287 h 170409"/>
              <a:gd name="csX97" fmla="*/ 76421 w 191337"/>
              <a:gd name="csY97" fmla="*/ 124528 h 170409"/>
              <a:gd name="csX98" fmla="*/ 92645 w 191337"/>
              <a:gd name="csY98" fmla="*/ 144029 h 170409"/>
              <a:gd name="csX99" fmla="*/ 59879 w 191337"/>
              <a:gd name="csY99" fmla="*/ 162325 h 170409"/>
              <a:gd name="csX100" fmla="*/ 55470 w 191337"/>
              <a:gd name="csY100" fmla="*/ 161273 h 170409"/>
              <a:gd name="csX101" fmla="*/ 49650 w 191337"/>
              <a:gd name="csY101" fmla="*/ 131751 h 170409"/>
              <a:gd name="csX102" fmla="*/ 51643 w 191337"/>
              <a:gd name="csY102" fmla="*/ 120287 h 170409"/>
              <a:gd name="csX103" fmla="*/ 88005 w 191337"/>
              <a:gd name="csY103" fmla="*/ 125389 h 170409"/>
              <a:gd name="csX104" fmla="*/ 98728 w 191337"/>
              <a:gd name="csY104" fmla="*/ 125660 h 170409"/>
              <a:gd name="csX105" fmla="*/ 109570 w 191337"/>
              <a:gd name="csY105" fmla="*/ 125389 h 170409"/>
              <a:gd name="csX106" fmla="*/ 98848 w 191337"/>
              <a:gd name="csY106" fmla="*/ 137866 h 170409"/>
              <a:gd name="csX107" fmla="*/ 88005 w 191337"/>
              <a:gd name="csY107" fmla="*/ 125389 h 1704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191337" h="170409">
                <a:moveTo>
                  <a:pt x="116546" y="85799"/>
                </a:moveTo>
                <a:cubicBezTo>
                  <a:pt x="116546" y="95641"/>
                  <a:pt x="108570" y="103620"/>
                  <a:pt x="98728" y="103625"/>
                </a:cubicBezTo>
                <a:cubicBezTo>
                  <a:pt x="88883" y="103625"/>
                  <a:pt x="80902" y="95644"/>
                  <a:pt x="80902" y="85799"/>
                </a:cubicBezTo>
                <a:cubicBezTo>
                  <a:pt x="80902" y="75957"/>
                  <a:pt x="88878" y="67977"/>
                  <a:pt x="98720" y="67972"/>
                </a:cubicBezTo>
                <a:cubicBezTo>
                  <a:pt x="108565" y="67972"/>
                  <a:pt x="116546" y="75953"/>
                  <a:pt x="116546" y="85799"/>
                </a:cubicBezTo>
                <a:close/>
                <a:moveTo>
                  <a:pt x="137657" y="574"/>
                </a:moveTo>
                <a:cubicBezTo>
                  <a:pt x="126926" y="574"/>
                  <a:pt x="112887" y="8227"/>
                  <a:pt x="98688" y="21477"/>
                </a:cubicBezTo>
                <a:cubicBezTo>
                  <a:pt x="84497" y="8299"/>
                  <a:pt x="70450" y="733"/>
                  <a:pt x="59727" y="733"/>
                </a:cubicBezTo>
                <a:cubicBezTo>
                  <a:pt x="56458" y="733"/>
                  <a:pt x="53485" y="1475"/>
                  <a:pt x="50910" y="2950"/>
                </a:cubicBezTo>
                <a:cubicBezTo>
                  <a:pt x="39948" y="9272"/>
                  <a:pt x="37492" y="28971"/>
                  <a:pt x="43153" y="53694"/>
                </a:cubicBezTo>
                <a:cubicBezTo>
                  <a:pt x="18885" y="61188"/>
                  <a:pt x="3099" y="73170"/>
                  <a:pt x="3099" y="85799"/>
                </a:cubicBezTo>
                <a:cubicBezTo>
                  <a:pt x="3099" y="98475"/>
                  <a:pt x="18964" y="110489"/>
                  <a:pt x="43304" y="117927"/>
                </a:cubicBezTo>
                <a:cubicBezTo>
                  <a:pt x="37691" y="142745"/>
                  <a:pt x="40195" y="162477"/>
                  <a:pt x="51181" y="168791"/>
                </a:cubicBezTo>
                <a:cubicBezTo>
                  <a:pt x="53732" y="170282"/>
                  <a:pt x="56682" y="170983"/>
                  <a:pt x="59966" y="170983"/>
                </a:cubicBezTo>
                <a:cubicBezTo>
                  <a:pt x="70689" y="170983"/>
                  <a:pt x="84736" y="163330"/>
                  <a:pt x="98935" y="150064"/>
                </a:cubicBezTo>
                <a:cubicBezTo>
                  <a:pt x="113126" y="163250"/>
                  <a:pt x="127173" y="170816"/>
                  <a:pt x="137896" y="170816"/>
                </a:cubicBezTo>
                <a:cubicBezTo>
                  <a:pt x="141165" y="170816"/>
                  <a:pt x="144139" y="170099"/>
                  <a:pt x="146714" y="168624"/>
                </a:cubicBezTo>
                <a:cubicBezTo>
                  <a:pt x="157668" y="162309"/>
                  <a:pt x="160131" y="142610"/>
                  <a:pt x="154471" y="117879"/>
                </a:cubicBezTo>
                <a:cubicBezTo>
                  <a:pt x="178651" y="110449"/>
                  <a:pt x="194436" y="98443"/>
                  <a:pt x="194436" y="85799"/>
                </a:cubicBezTo>
                <a:cubicBezTo>
                  <a:pt x="194436" y="73122"/>
                  <a:pt x="178571" y="61108"/>
                  <a:pt x="154232" y="53654"/>
                </a:cubicBezTo>
                <a:cubicBezTo>
                  <a:pt x="159844" y="28860"/>
                  <a:pt x="157341" y="9112"/>
                  <a:pt x="146355" y="2790"/>
                </a:cubicBezTo>
                <a:cubicBezTo>
                  <a:pt x="143820" y="1323"/>
                  <a:pt x="140870" y="582"/>
                  <a:pt x="137649" y="574"/>
                </a:cubicBezTo>
                <a:close/>
                <a:moveTo>
                  <a:pt x="137617" y="9264"/>
                </a:moveTo>
                <a:lnTo>
                  <a:pt x="137617" y="9312"/>
                </a:lnTo>
                <a:cubicBezTo>
                  <a:pt x="139411" y="9312"/>
                  <a:pt x="140854" y="9662"/>
                  <a:pt x="142066" y="10324"/>
                </a:cubicBezTo>
                <a:cubicBezTo>
                  <a:pt x="147375" y="13370"/>
                  <a:pt x="149679" y="24953"/>
                  <a:pt x="147886" y="39854"/>
                </a:cubicBezTo>
                <a:cubicBezTo>
                  <a:pt x="147455" y="43521"/>
                  <a:pt x="146754" y="47388"/>
                  <a:pt x="145893" y="51334"/>
                </a:cubicBezTo>
                <a:cubicBezTo>
                  <a:pt x="138239" y="49453"/>
                  <a:pt x="129900" y="48010"/>
                  <a:pt x="121122" y="47077"/>
                </a:cubicBezTo>
                <a:cubicBezTo>
                  <a:pt x="115861" y="39862"/>
                  <a:pt x="110400" y="33308"/>
                  <a:pt x="104899" y="27568"/>
                </a:cubicBezTo>
                <a:cubicBezTo>
                  <a:pt x="117591" y="15769"/>
                  <a:pt x="129509" y="9296"/>
                  <a:pt x="137625" y="9272"/>
                </a:cubicBezTo>
                <a:close/>
                <a:moveTo>
                  <a:pt x="59727" y="9423"/>
                </a:moveTo>
                <a:cubicBezTo>
                  <a:pt x="67795" y="9423"/>
                  <a:pt x="79770" y="15865"/>
                  <a:pt x="92494" y="27600"/>
                </a:cubicBezTo>
                <a:cubicBezTo>
                  <a:pt x="87025" y="33340"/>
                  <a:pt x="81571" y="39854"/>
                  <a:pt x="76389" y="47069"/>
                </a:cubicBezTo>
                <a:cubicBezTo>
                  <a:pt x="67564" y="48002"/>
                  <a:pt x="59217" y="49445"/>
                  <a:pt x="51571" y="51358"/>
                </a:cubicBezTo>
                <a:cubicBezTo>
                  <a:pt x="50678" y="47451"/>
                  <a:pt x="50017" y="43673"/>
                  <a:pt x="49546" y="40037"/>
                </a:cubicBezTo>
                <a:cubicBezTo>
                  <a:pt x="47713" y="25145"/>
                  <a:pt x="49977" y="13569"/>
                  <a:pt x="55239" y="10484"/>
                </a:cubicBezTo>
                <a:cubicBezTo>
                  <a:pt x="56753" y="9766"/>
                  <a:pt x="58428" y="9471"/>
                  <a:pt x="59727" y="9431"/>
                </a:cubicBezTo>
                <a:close/>
                <a:moveTo>
                  <a:pt x="98648" y="33739"/>
                </a:moveTo>
                <a:cubicBezTo>
                  <a:pt x="102276" y="37470"/>
                  <a:pt x="105903" y="41648"/>
                  <a:pt x="109491" y="46208"/>
                </a:cubicBezTo>
                <a:cubicBezTo>
                  <a:pt x="105983" y="46048"/>
                  <a:pt x="102395" y="45937"/>
                  <a:pt x="98768" y="45937"/>
                </a:cubicBezTo>
                <a:cubicBezTo>
                  <a:pt x="95101" y="45937"/>
                  <a:pt x="91473" y="46016"/>
                  <a:pt x="87925" y="46208"/>
                </a:cubicBezTo>
                <a:cubicBezTo>
                  <a:pt x="91433" y="41648"/>
                  <a:pt x="95061" y="37470"/>
                  <a:pt x="98648" y="33731"/>
                </a:cubicBezTo>
                <a:close/>
                <a:moveTo>
                  <a:pt x="98768" y="54674"/>
                </a:moveTo>
                <a:cubicBezTo>
                  <a:pt x="104667" y="54674"/>
                  <a:pt x="110543" y="54945"/>
                  <a:pt x="116323" y="55416"/>
                </a:cubicBezTo>
                <a:cubicBezTo>
                  <a:pt x="119560" y="60056"/>
                  <a:pt x="122717" y="65007"/>
                  <a:pt x="125754" y="70244"/>
                </a:cubicBezTo>
                <a:cubicBezTo>
                  <a:pt x="128720" y="75347"/>
                  <a:pt x="131415" y="80529"/>
                  <a:pt x="133870" y="85759"/>
                </a:cubicBezTo>
                <a:cubicBezTo>
                  <a:pt x="131415" y="90981"/>
                  <a:pt x="128720" y="96203"/>
                  <a:pt x="125794" y="101305"/>
                </a:cubicBezTo>
                <a:cubicBezTo>
                  <a:pt x="122765" y="106567"/>
                  <a:pt x="119632" y="111573"/>
                  <a:pt x="116387" y="116213"/>
                </a:cubicBezTo>
                <a:cubicBezTo>
                  <a:pt x="110583" y="116715"/>
                  <a:pt x="104699" y="116994"/>
                  <a:pt x="98768" y="116994"/>
                </a:cubicBezTo>
                <a:cubicBezTo>
                  <a:pt x="92868" y="116994"/>
                  <a:pt x="86993" y="116715"/>
                  <a:pt x="81213" y="116253"/>
                </a:cubicBezTo>
                <a:cubicBezTo>
                  <a:pt x="77976" y="111613"/>
                  <a:pt x="74819" y="106654"/>
                  <a:pt x="71781" y="101424"/>
                </a:cubicBezTo>
                <a:cubicBezTo>
                  <a:pt x="68816" y="96322"/>
                  <a:pt x="66121" y="91140"/>
                  <a:pt x="63665" y="85910"/>
                </a:cubicBezTo>
                <a:cubicBezTo>
                  <a:pt x="66081" y="80672"/>
                  <a:pt x="68816" y="75442"/>
                  <a:pt x="71741" y="70332"/>
                </a:cubicBezTo>
                <a:cubicBezTo>
                  <a:pt x="74771" y="65070"/>
                  <a:pt x="77904" y="60080"/>
                  <a:pt x="81149" y="55440"/>
                </a:cubicBezTo>
                <a:cubicBezTo>
                  <a:pt x="86953" y="54930"/>
                  <a:pt x="92836" y="54658"/>
                  <a:pt x="98768" y="54658"/>
                </a:cubicBezTo>
                <a:close/>
                <a:moveTo>
                  <a:pt x="69788" y="56699"/>
                </a:moveTo>
                <a:cubicBezTo>
                  <a:pt x="67875" y="59705"/>
                  <a:pt x="65961" y="62782"/>
                  <a:pt x="64176" y="65947"/>
                </a:cubicBezTo>
                <a:cubicBezTo>
                  <a:pt x="62382" y="69057"/>
                  <a:pt x="60708" y="72182"/>
                  <a:pt x="59113" y="75307"/>
                </a:cubicBezTo>
                <a:cubicBezTo>
                  <a:pt x="57001" y="70077"/>
                  <a:pt x="55207" y="64863"/>
                  <a:pt x="53724" y="59785"/>
                </a:cubicBezTo>
                <a:cubicBezTo>
                  <a:pt x="58826" y="58589"/>
                  <a:pt x="64208" y="57529"/>
                  <a:pt x="69788" y="56707"/>
                </a:cubicBezTo>
                <a:close/>
                <a:moveTo>
                  <a:pt x="127668" y="56699"/>
                </a:moveTo>
                <a:cubicBezTo>
                  <a:pt x="133209" y="57521"/>
                  <a:pt x="138550" y="58533"/>
                  <a:pt x="143660" y="59785"/>
                </a:cubicBezTo>
                <a:cubicBezTo>
                  <a:pt x="142225" y="64823"/>
                  <a:pt x="140431" y="70005"/>
                  <a:pt x="138399" y="75195"/>
                </a:cubicBezTo>
                <a:cubicBezTo>
                  <a:pt x="136804" y="72086"/>
                  <a:pt x="135130" y="68953"/>
                  <a:pt x="133296" y="65836"/>
                </a:cubicBezTo>
                <a:cubicBezTo>
                  <a:pt x="131502" y="62711"/>
                  <a:pt x="129589" y="59665"/>
                  <a:pt x="127676" y="56699"/>
                </a:cubicBezTo>
                <a:close/>
                <a:moveTo>
                  <a:pt x="152087" y="62081"/>
                </a:moveTo>
                <a:cubicBezTo>
                  <a:pt x="155946" y="63277"/>
                  <a:pt x="159613" y="64608"/>
                  <a:pt x="163049" y="66051"/>
                </a:cubicBezTo>
                <a:cubicBezTo>
                  <a:pt x="176857" y="71951"/>
                  <a:pt x="185786" y="79668"/>
                  <a:pt x="185786" y="85791"/>
                </a:cubicBezTo>
                <a:cubicBezTo>
                  <a:pt x="185746" y="91913"/>
                  <a:pt x="176817" y="99663"/>
                  <a:pt x="163009" y="105522"/>
                </a:cubicBezTo>
                <a:cubicBezTo>
                  <a:pt x="159661" y="106957"/>
                  <a:pt x="155994" y="108249"/>
                  <a:pt x="152207" y="109453"/>
                </a:cubicBezTo>
                <a:cubicBezTo>
                  <a:pt x="149974" y="101815"/>
                  <a:pt x="147057" y="93859"/>
                  <a:pt x="143437" y="85695"/>
                </a:cubicBezTo>
                <a:cubicBezTo>
                  <a:pt x="147025" y="77587"/>
                  <a:pt x="149895" y="69670"/>
                  <a:pt x="152087" y="62065"/>
                </a:cubicBezTo>
                <a:close/>
                <a:moveTo>
                  <a:pt x="45297" y="62113"/>
                </a:moveTo>
                <a:cubicBezTo>
                  <a:pt x="47513" y="69766"/>
                  <a:pt x="50439" y="77715"/>
                  <a:pt x="54067" y="85870"/>
                </a:cubicBezTo>
                <a:cubicBezTo>
                  <a:pt x="50479" y="93978"/>
                  <a:pt x="47593" y="101895"/>
                  <a:pt x="45409" y="109500"/>
                </a:cubicBezTo>
                <a:cubicBezTo>
                  <a:pt x="41550" y="108305"/>
                  <a:pt x="37883" y="106965"/>
                  <a:pt x="34487" y="105514"/>
                </a:cubicBezTo>
                <a:cubicBezTo>
                  <a:pt x="20678" y="99639"/>
                  <a:pt x="11749" y="91913"/>
                  <a:pt x="11749" y="85791"/>
                </a:cubicBezTo>
                <a:cubicBezTo>
                  <a:pt x="11749" y="79668"/>
                  <a:pt x="20678" y="71903"/>
                  <a:pt x="34487" y="66051"/>
                </a:cubicBezTo>
                <a:cubicBezTo>
                  <a:pt x="37835" y="64616"/>
                  <a:pt x="41502" y="63324"/>
                  <a:pt x="45297" y="62113"/>
                </a:cubicBezTo>
                <a:close/>
                <a:moveTo>
                  <a:pt x="138399" y="96234"/>
                </a:moveTo>
                <a:cubicBezTo>
                  <a:pt x="140511" y="101472"/>
                  <a:pt x="142305" y="106694"/>
                  <a:pt x="143788" y="111765"/>
                </a:cubicBezTo>
                <a:cubicBezTo>
                  <a:pt x="138686" y="113016"/>
                  <a:pt x="133296" y="114077"/>
                  <a:pt x="127716" y="114874"/>
                </a:cubicBezTo>
                <a:cubicBezTo>
                  <a:pt x="129629" y="111884"/>
                  <a:pt x="131542" y="108799"/>
                  <a:pt x="133336" y="105642"/>
                </a:cubicBezTo>
                <a:cubicBezTo>
                  <a:pt x="135130" y="102533"/>
                  <a:pt x="136804" y="99360"/>
                  <a:pt x="138407" y="96234"/>
                </a:cubicBezTo>
                <a:close/>
                <a:moveTo>
                  <a:pt x="59113" y="96394"/>
                </a:moveTo>
                <a:cubicBezTo>
                  <a:pt x="60708" y="99519"/>
                  <a:pt x="62382" y="102636"/>
                  <a:pt x="64216" y="105761"/>
                </a:cubicBezTo>
                <a:cubicBezTo>
                  <a:pt x="66049" y="108871"/>
                  <a:pt x="67923" y="111916"/>
                  <a:pt x="69836" y="114874"/>
                </a:cubicBezTo>
                <a:cubicBezTo>
                  <a:pt x="64295" y="114061"/>
                  <a:pt x="58954" y="113040"/>
                  <a:pt x="53843" y="111797"/>
                </a:cubicBezTo>
                <a:cubicBezTo>
                  <a:pt x="55279" y="106774"/>
                  <a:pt x="57080" y="101576"/>
                  <a:pt x="59105" y="96386"/>
                </a:cubicBezTo>
                <a:close/>
                <a:moveTo>
                  <a:pt x="145964" y="120207"/>
                </a:moveTo>
                <a:cubicBezTo>
                  <a:pt x="146857" y="124138"/>
                  <a:pt x="147559" y="127925"/>
                  <a:pt x="147989" y="131552"/>
                </a:cubicBezTo>
                <a:cubicBezTo>
                  <a:pt x="149823" y="146444"/>
                  <a:pt x="147559" y="158020"/>
                  <a:pt x="142297" y="161114"/>
                </a:cubicBezTo>
                <a:cubicBezTo>
                  <a:pt x="141125" y="161831"/>
                  <a:pt x="139602" y="162134"/>
                  <a:pt x="137809" y="162134"/>
                </a:cubicBezTo>
                <a:cubicBezTo>
                  <a:pt x="129741" y="162134"/>
                  <a:pt x="117766" y="155700"/>
                  <a:pt x="105042" y="143957"/>
                </a:cubicBezTo>
                <a:cubicBezTo>
                  <a:pt x="110511" y="138217"/>
                  <a:pt x="115964" y="131712"/>
                  <a:pt x="121146" y="124504"/>
                </a:cubicBezTo>
                <a:cubicBezTo>
                  <a:pt x="129972" y="123564"/>
                  <a:pt x="138319" y="122113"/>
                  <a:pt x="145964" y="120199"/>
                </a:cubicBezTo>
                <a:close/>
                <a:moveTo>
                  <a:pt x="51651" y="120287"/>
                </a:moveTo>
                <a:cubicBezTo>
                  <a:pt x="59305" y="122153"/>
                  <a:pt x="67644" y="123596"/>
                  <a:pt x="76421" y="124528"/>
                </a:cubicBezTo>
                <a:cubicBezTo>
                  <a:pt x="81683" y="131743"/>
                  <a:pt x="87144" y="138297"/>
                  <a:pt x="92645" y="144029"/>
                </a:cubicBezTo>
                <a:cubicBezTo>
                  <a:pt x="79929" y="155852"/>
                  <a:pt x="67994" y="162325"/>
                  <a:pt x="59879" y="162325"/>
                </a:cubicBezTo>
                <a:cubicBezTo>
                  <a:pt x="58125" y="162286"/>
                  <a:pt x="56642" y="161927"/>
                  <a:pt x="55470" y="161273"/>
                </a:cubicBezTo>
                <a:cubicBezTo>
                  <a:pt x="50160" y="158244"/>
                  <a:pt x="47856" y="146652"/>
                  <a:pt x="49650" y="131751"/>
                </a:cubicBezTo>
                <a:cubicBezTo>
                  <a:pt x="50081" y="128084"/>
                  <a:pt x="50782" y="124225"/>
                  <a:pt x="51643" y="120287"/>
                </a:cubicBezTo>
                <a:close/>
                <a:moveTo>
                  <a:pt x="88005" y="125389"/>
                </a:moveTo>
                <a:cubicBezTo>
                  <a:pt x="91513" y="125549"/>
                  <a:pt x="95101" y="125660"/>
                  <a:pt x="98728" y="125660"/>
                </a:cubicBezTo>
                <a:cubicBezTo>
                  <a:pt x="102395" y="125660"/>
                  <a:pt x="106023" y="125581"/>
                  <a:pt x="109570" y="125389"/>
                </a:cubicBezTo>
                <a:cubicBezTo>
                  <a:pt x="106063" y="129950"/>
                  <a:pt x="102435" y="134119"/>
                  <a:pt x="98848" y="137866"/>
                </a:cubicBezTo>
                <a:cubicBezTo>
                  <a:pt x="95220" y="134119"/>
                  <a:pt x="91593" y="129950"/>
                  <a:pt x="88005" y="125389"/>
                </a:cubicBezTo>
                <a:close/>
              </a:path>
            </a:pathLst>
          </a:custGeom>
          <a:solidFill>
            <a:srgbClr val="0B0E5F"/>
          </a:solidFill>
          <a:ln w="5581" cap="flat">
            <a:solidFill>
              <a:srgbClr val="0B0E5F"/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226" name="Graphic 239">
            <a:extLst>
              <a:ext uri="{FF2B5EF4-FFF2-40B4-BE49-F238E27FC236}">
                <a16:creationId xmlns:a16="http://schemas.microsoft.com/office/drawing/2014/main" id="{CEF17F67-8D7D-9A27-CE2D-8780B1662CA8}"/>
              </a:ext>
            </a:extLst>
          </p:cNvPr>
          <p:cNvGrpSpPr>
            <a:grpSpLocks noChangeAspect="1"/>
          </p:cNvGrpSpPr>
          <p:nvPr/>
        </p:nvGrpSpPr>
        <p:grpSpPr>
          <a:xfrm>
            <a:off x="10953114" y="3688452"/>
            <a:ext cx="259078" cy="207264"/>
            <a:chOff x="11166444" y="2405282"/>
            <a:chExt cx="159447" cy="127558"/>
          </a:xfrm>
          <a:solidFill>
            <a:schemeClr val="bg1"/>
          </a:solidFill>
        </p:grpSpPr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CCEC3BF-F63E-A6A3-157F-3CB9385A39C6}"/>
                </a:ext>
              </a:extLst>
            </p:cNvPr>
            <p:cNvSpPr/>
            <p:nvPr/>
          </p:nvSpPr>
          <p:spPr>
            <a:xfrm>
              <a:off x="11166444" y="2405282"/>
              <a:ext cx="159447" cy="127558"/>
            </a:xfrm>
            <a:custGeom>
              <a:avLst/>
              <a:gdLst>
                <a:gd name="csX0" fmla="*/ 18872 w 159447"/>
                <a:gd name="csY0" fmla="*/ 225 h 127558"/>
                <a:gd name="csX1" fmla="*/ 146430 w 159447"/>
                <a:gd name="csY1" fmla="*/ 225 h 127558"/>
                <a:gd name="csX2" fmla="*/ 162374 w 159447"/>
                <a:gd name="csY2" fmla="*/ 16169 h 127558"/>
                <a:gd name="csX3" fmla="*/ 162374 w 159447"/>
                <a:gd name="csY3" fmla="*/ 111838 h 127558"/>
                <a:gd name="csX4" fmla="*/ 146430 w 159447"/>
                <a:gd name="csY4" fmla="*/ 127783 h 127558"/>
                <a:gd name="csX5" fmla="*/ 18872 w 159447"/>
                <a:gd name="csY5" fmla="*/ 127783 h 127558"/>
                <a:gd name="csX6" fmla="*/ 2927 w 159447"/>
                <a:gd name="csY6" fmla="*/ 111838 h 127558"/>
                <a:gd name="csX7" fmla="*/ 2927 w 159447"/>
                <a:gd name="csY7" fmla="*/ 16169 h 127558"/>
                <a:gd name="csX8" fmla="*/ 18872 w 159447"/>
                <a:gd name="csY8" fmla="*/ 225 h 127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59447" h="127558">
                  <a:moveTo>
                    <a:pt x="18872" y="225"/>
                  </a:moveTo>
                  <a:lnTo>
                    <a:pt x="146430" y="225"/>
                  </a:lnTo>
                  <a:cubicBezTo>
                    <a:pt x="155199" y="225"/>
                    <a:pt x="162374" y="7400"/>
                    <a:pt x="162374" y="16169"/>
                  </a:cubicBezTo>
                  <a:lnTo>
                    <a:pt x="162374" y="111838"/>
                  </a:lnTo>
                  <a:cubicBezTo>
                    <a:pt x="162374" y="120608"/>
                    <a:pt x="155199" y="127783"/>
                    <a:pt x="146430" y="127783"/>
                  </a:cubicBezTo>
                  <a:lnTo>
                    <a:pt x="18872" y="127783"/>
                  </a:lnTo>
                  <a:cubicBezTo>
                    <a:pt x="10102" y="127783"/>
                    <a:pt x="2927" y="120608"/>
                    <a:pt x="2927" y="111838"/>
                  </a:cubicBezTo>
                  <a:lnTo>
                    <a:pt x="2927" y="16169"/>
                  </a:lnTo>
                  <a:cubicBezTo>
                    <a:pt x="2927" y="7400"/>
                    <a:pt x="10102" y="225"/>
                    <a:pt x="18872" y="225"/>
                  </a:cubicBezTo>
                  <a:close/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03FD0D4-F6C2-D93D-D51F-BC21AAE59AB1}"/>
                </a:ext>
              </a:extLst>
            </p:cNvPr>
            <p:cNvSpPr/>
            <p:nvPr/>
          </p:nvSpPr>
          <p:spPr>
            <a:xfrm>
              <a:off x="11166444" y="2421227"/>
              <a:ext cx="159447" cy="55806"/>
            </a:xfrm>
            <a:custGeom>
              <a:avLst/>
              <a:gdLst>
                <a:gd name="csX0" fmla="*/ 162374 w 159447"/>
                <a:gd name="csY0" fmla="*/ 222 h 55806"/>
                <a:gd name="csX1" fmla="*/ 82651 w 159447"/>
                <a:gd name="csY1" fmla="*/ 56029 h 55806"/>
                <a:gd name="csX2" fmla="*/ 2927 w 159447"/>
                <a:gd name="csY2" fmla="*/ 222 h 55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9447" h="55806">
                  <a:moveTo>
                    <a:pt x="162374" y="222"/>
                  </a:moveTo>
                  <a:lnTo>
                    <a:pt x="82651" y="56029"/>
                  </a:lnTo>
                  <a:lnTo>
                    <a:pt x="2927" y="222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27" name="Freeform: Shape 226">
            <a:extLst>
              <a:ext uri="{FF2B5EF4-FFF2-40B4-BE49-F238E27FC236}">
                <a16:creationId xmlns:a16="http://schemas.microsoft.com/office/drawing/2014/main" id="{0BB9F0F2-B66A-8AE2-8224-26EA9AA5A2F1}"/>
              </a:ext>
            </a:extLst>
          </p:cNvPr>
          <p:cNvSpPr>
            <a:spLocks noChangeAspect="1"/>
          </p:cNvSpPr>
          <p:nvPr/>
        </p:nvSpPr>
        <p:spPr>
          <a:xfrm>
            <a:off x="10947928" y="4204901"/>
            <a:ext cx="310896" cy="288279"/>
          </a:xfrm>
          <a:custGeom>
            <a:avLst/>
            <a:gdLst>
              <a:gd name="csX0" fmla="*/ 167357 w 191337"/>
              <a:gd name="csY0" fmla="*/ 58297 h 177417"/>
              <a:gd name="csX1" fmla="*/ 159185 w 191337"/>
              <a:gd name="csY1" fmla="*/ 56663 h 177417"/>
              <a:gd name="csX2" fmla="*/ 152552 w 191337"/>
              <a:gd name="csY2" fmla="*/ 52174 h 177417"/>
              <a:gd name="csX3" fmla="*/ 148064 w 191337"/>
              <a:gd name="csY3" fmla="*/ 45541 h 177417"/>
              <a:gd name="csX4" fmla="*/ 146430 w 191337"/>
              <a:gd name="csY4" fmla="*/ 37370 h 177417"/>
              <a:gd name="csX5" fmla="*/ 148064 w 191337"/>
              <a:gd name="csY5" fmla="*/ 29238 h 177417"/>
              <a:gd name="csX6" fmla="*/ 152552 w 191337"/>
              <a:gd name="csY6" fmla="*/ 22565 h 177417"/>
              <a:gd name="csX7" fmla="*/ 159185 w 191337"/>
              <a:gd name="csY7" fmla="*/ 18076 h 177417"/>
              <a:gd name="csX8" fmla="*/ 167357 w 191337"/>
              <a:gd name="csY8" fmla="*/ 16442 h 177417"/>
              <a:gd name="csX9" fmla="*/ 175489 w 191337"/>
              <a:gd name="csY9" fmla="*/ 18076 h 177417"/>
              <a:gd name="csX10" fmla="*/ 182162 w 191337"/>
              <a:gd name="csY10" fmla="*/ 22565 h 177417"/>
              <a:gd name="csX11" fmla="*/ 186650 w 191337"/>
              <a:gd name="csY11" fmla="*/ 29238 h 177417"/>
              <a:gd name="csX12" fmla="*/ 188285 w 191337"/>
              <a:gd name="csY12" fmla="*/ 37370 h 177417"/>
              <a:gd name="csX13" fmla="*/ 186650 w 191337"/>
              <a:gd name="csY13" fmla="*/ 45541 h 177417"/>
              <a:gd name="csX14" fmla="*/ 182162 w 191337"/>
              <a:gd name="csY14" fmla="*/ 52174 h 177417"/>
              <a:gd name="csX15" fmla="*/ 175489 w 191337"/>
              <a:gd name="csY15" fmla="*/ 56663 h 177417"/>
              <a:gd name="csX16" fmla="*/ 167357 w 191337"/>
              <a:gd name="csY16" fmla="*/ 58297 h 177417"/>
              <a:gd name="csX17" fmla="*/ 167357 w 191337"/>
              <a:gd name="csY17" fmla="*/ 28401 h 177417"/>
              <a:gd name="csX18" fmla="*/ 161003 w 191337"/>
              <a:gd name="csY18" fmla="*/ 31016 h 177417"/>
              <a:gd name="csX19" fmla="*/ 158388 w 191337"/>
              <a:gd name="csY19" fmla="*/ 37370 h 177417"/>
              <a:gd name="csX20" fmla="*/ 161003 w 191337"/>
              <a:gd name="csY20" fmla="*/ 43724 h 177417"/>
              <a:gd name="csX21" fmla="*/ 167357 w 191337"/>
              <a:gd name="csY21" fmla="*/ 46339 h 177417"/>
              <a:gd name="csX22" fmla="*/ 173711 w 191337"/>
              <a:gd name="csY22" fmla="*/ 43724 h 177417"/>
              <a:gd name="csX23" fmla="*/ 176326 w 191337"/>
              <a:gd name="csY23" fmla="*/ 37370 h 177417"/>
              <a:gd name="csX24" fmla="*/ 173711 w 191337"/>
              <a:gd name="csY24" fmla="*/ 31016 h 177417"/>
              <a:gd name="csX25" fmla="*/ 167357 w 191337"/>
              <a:gd name="csY25" fmla="*/ 28401 h 177417"/>
              <a:gd name="csX26" fmla="*/ 194264 w 191337"/>
              <a:gd name="csY26" fmla="*/ 73245 h 177417"/>
              <a:gd name="csX27" fmla="*/ 194264 w 191337"/>
              <a:gd name="csY27" fmla="*/ 117715 h 177417"/>
              <a:gd name="csX28" fmla="*/ 191928 w 191337"/>
              <a:gd name="csY28" fmla="*/ 129355 h 177417"/>
              <a:gd name="csX29" fmla="*/ 185526 w 191337"/>
              <a:gd name="csY29" fmla="*/ 138874 h 177417"/>
              <a:gd name="csX30" fmla="*/ 175999 w 191337"/>
              <a:gd name="csY30" fmla="*/ 145276 h 177417"/>
              <a:gd name="csX31" fmla="*/ 164368 w 191337"/>
              <a:gd name="csY31" fmla="*/ 147612 h 177417"/>
              <a:gd name="csX32" fmla="*/ 157129 w 191337"/>
              <a:gd name="csY32" fmla="*/ 146775 h 177417"/>
              <a:gd name="csX33" fmla="*/ 150352 w 191337"/>
              <a:gd name="csY33" fmla="*/ 144152 h 177417"/>
              <a:gd name="csX34" fmla="*/ 143536 w 191337"/>
              <a:gd name="csY34" fmla="*/ 157936 h 177417"/>
              <a:gd name="csX35" fmla="*/ 133020 w 191337"/>
              <a:gd name="csY35" fmla="*/ 168587 h 177417"/>
              <a:gd name="csX36" fmla="*/ 119706 w 191337"/>
              <a:gd name="csY36" fmla="*/ 175451 h 177417"/>
              <a:gd name="csX37" fmla="*/ 104575 w 191337"/>
              <a:gd name="csY37" fmla="*/ 177883 h 177417"/>
              <a:gd name="csX38" fmla="*/ 87338 w 191337"/>
              <a:gd name="csY38" fmla="*/ 174710 h 177417"/>
              <a:gd name="csX39" fmla="*/ 72948 w 191337"/>
              <a:gd name="csY39" fmla="*/ 165924 h 177417"/>
              <a:gd name="csX40" fmla="*/ 62488 w 191337"/>
              <a:gd name="csY40" fmla="*/ 152658 h 177417"/>
              <a:gd name="csX41" fmla="*/ 57115 w 191337"/>
              <a:gd name="csY41" fmla="*/ 136028 h 177417"/>
              <a:gd name="csX42" fmla="*/ 10875 w 191337"/>
              <a:gd name="csY42" fmla="*/ 136028 h 177417"/>
              <a:gd name="csX43" fmla="*/ 5263 w 191337"/>
              <a:gd name="csY43" fmla="*/ 133692 h 177417"/>
              <a:gd name="csX44" fmla="*/ 2927 w 191337"/>
              <a:gd name="csY44" fmla="*/ 128087 h 177417"/>
              <a:gd name="csX45" fmla="*/ 2927 w 191337"/>
              <a:gd name="csY45" fmla="*/ 48300 h 177417"/>
              <a:gd name="csX46" fmla="*/ 5263 w 191337"/>
              <a:gd name="csY46" fmla="*/ 42695 h 177417"/>
              <a:gd name="csX47" fmla="*/ 10867 w 191337"/>
              <a:gd name="csY47" fmla="*/ 40359 h 177417"/>
              <a:gd name="csX48" fmla="*/ 79350 w 191337"/>
              <a:gd name="csY48" fmla="*/ 40359 h 177417"/>
              <a:gd name="csX49" fmla="*/ 76639 w 191337"/>
              <a:gd name="csY49" fmla="*/ 28401 h 177417"/>
              <a:gd name="csX50" fmla="*/ 78832 w 191337"/>
              <a:gd name="csY50" fmla="*/ 17518 h 177417"/>
              <a:gd name="csX51" fmla="*/ 84811 w 191337"/>
              <a:gd name="csY51" fmla="*/ 8637 h 177417"/>
              <a:gd name="csX52" fmla="*/ 93692 w 191337"/>
              <a:gd name="csY52" fmla="*/ 2658 h 177417"/>
              <a:gd name="csX53" fmla="*/ 104575 w 191337"/>
              <a:gd name="csY53" fmla="*/ 465 h 177417"/>
              <a:gd name="csX54" fmla="*/ 115457 w 191337"/>
              <a:gd name="csY54" fmla="*/ 2658 h 177417"/>
              <a:gd name="csX55" fmla="*/ 124338 w 191337"/>
              <a:gd name="csY55" fmla="*/ 8637 h 177417"/>
              <a:gd name="csX56" fmla="*/ 130317 w 191337"/>
              <a:gd name="csY56" fmla="*/ 17518 h 177417"/>
              <a:gd name="csX57" fmla="*/ 132510 w 191337"/>
              <a:gd name="csY57" fmla="*/ 28401 h 177417"/>
              <a:gd name="csX58" fmla="*/ 130317 w 191337"/>
              <a:gd name="csY58" fmla="*/ 39283 h 177417"/>
              <a:gd name="csX59" fmla="*/ 124338 w 191337"/>
              <a:gd name="csY59" fmla="*/ 48156 h 177417"/>
              <a:gd name="csX60" fmla="*/ 115457 w 191337"/>
              <a:gd name="csY60" fmla="*/ 54136 h 177417"/>
              <a:gd name="csX61" fmla="*/ 104575 w 191337"/>
              <a:gd name="csY61" fmla="*/ 56336 h 177417"/>
              <a:gd name="csX62" fmla="*/ 101585 w 191337"/>
              <a:gd name="csY62" fmla="*/ 56145 h 177417"/>
              <a:gd name="csX63" fmla="*/ 98595 w 191337"/>
              <a:gd name="csY63" fmla="*/ 55682 h 177417"/>
              <a:gd name="csX64" fmla="*/ 98595 w 191337"/>
              <a:gd name="csY64" fmla="*/ 64276 h 177417"/>
              <a:gd name="csX65" fmla="*/ 185295 w 191337"/>
              <a:gd name="csY65" fmla="*/ 64276 h 177417"/>
              <a:gd name="csX66" fmla="*/ 191649 w 191337"/>
              <a:gd name="csY66" fmla="*/ 66891 h 177417"/>
              <a:gd name="csX67" fmla="*/ 194264 w 191337"/>
              <a:gd name="csY67" fmla="*/ 73245 h 177417"/>
              <a:gd name="csX68" fmla="*/ 104575 w 191337"/>
              <a:gd name="csY68" fmla="*/ 12424 h 177417"/>
              <a:gd name="csX69" fmla="*/ 98356 w 191337"/>
              <a:gd name="csY69" fmla="*/ 13684 h 177417"/>
              <a:gd name="csX70" fmla="*/ 93270 w 191337"/>
              <a:gd name="csY70" fmla="*/ 17144 h 177417"/>
              <a:gd name="csX71" fmla="*/ 89858 w 191337"/>
              <a:gd name="csY71" fmla="*/ 22238 h 177417"/>
              <a:gd name="csX72" fmla="*/ 88598 w 191337"/>
              <a:gd name="csY72" fmla="*/ 28401 h 177417"/>
              <a:gd name="csX73" fmla="*/ 89858 w 191337"/>
              <a:gd name="csY73" fmla="*/ 34619 h 177417"/>
              <a:gd name="csX74" fmla="*/ 93270 w 191337"/>
              <a:gd name="csY74" fmla="*/ 39705 h 177417"/>
              <a:gd name="csX75" fmla="*/ 98364 w 191337"/>
              <a:gd name="csY75" fmla="*/ 43118 h 177417"/>
              <a:gd name="csX76" fmla="*/ 104575 w 191337"/>
              <a:gd name="csY76" fmla="*/ 44377 h 177417"/>
              <a:gd name="csX77" fmla="*/ 110737 w 191337"/>
              <a:gd name="csY77" fmla="*/ 43118 h 177417"/>
              <a:gd name="csX78" fmla="*/ 115840 w 191337"/>
              <a:gd name="csY78" fmla="*/ 39705 h 177417"/>
              <a:gd name="csX79" fmla="*/ 119292 w 191337"/>
              <a:gd name="csY79" fmla="*/ 34611 h 177417"/>
              <a:gd name="csX80" fmla="*/ 120551 w 191337"/>
              <a:gd name="csY80" fmla="*/ 28401 h 177417"/>
              <a:gd name="csX81" fmla="*/ 119292 w 191337"/>
              <a:gd name="csY81" fmla="*/ 22238 h 177417"/>
              <a:gd name="csX82" fmla="*/ 115832 w 191337"/>
              <a:gd name="csY82" fmla="*/ 17136 h 177417"/>
              <a:gd name="csX83" fmla="*/ 110737 w 191337"/>
              <a:gd name="csY83" fmla="*/ 13684 h 177417"/>
              <a:gd name="csX84" fmla="*/ 104575 w 191337"/>
              <a:gd name="csY84" fmla="*/ 12424 h 177417"/>
              <a:gd name="csX85" fmla="*/ 58231 w 191337"/>
              <a:gd name="csY85" fmla="*/ 71746 h 177417"/>
              <a:gd name="csX86" fmla="*/ 76169 w 191337"/>
              <a:gd name="csY86" fmla="*/ 71746 h 177417"/>
              <a:gd name="csX87" fmla="*/ 76169 w 191337"/>
              <a:gd name="csY87" fmla="*/ 56806 h 177417"/>
              <a:gd name="csX88" fmla="*/ 25361 w 191337"/>
              <a:gd name="csY88" fmla="*/ 56806 h 177417"/>
              <a:gd name="csX89" fmla="*/ 25361 w 191337"/>
              <a:gd name="csY89" fmla="*/ 71754 h 177417"/>
              <a:gd name="csX90" fmla="*/ 43299 w 191337"/>
              <a:gd name="csY90" fmla="*/ 71754 h 177417"/>
              <a:gd name="csX91" fmla="*/ 43299 w 191337"/>
              <a:gd name="csY91" fmla="*/ 119589 h 177417"/>
              <a:gd name="csX92" fmla="*/ 58247 w 191337"/>
              <a:gd name="csY92" fmla="*/ 119589 h 177417"/>
              <a:gd name="csX93" fmla="*/ 140450 w 191337"/>
              <a:gd name="csY93" fmla="*/ 130048 h 177417"/>
              <a:gd name="csX94" fmla="*/ 140450 w 191337"/>
              <a:gd name="csY94" fmla="*/ 76235 h 177417"/>
              <a:gd name="csX95" fmla="*/ 98595 w 191337"/>
              <a:gd name="csY95" fmla="*/ 76235 h 177417"/>
              <a:gd name="csX96" fmla="*/ 98595 w 191337"/>
              <a:gd name="csY96" fmla="*/ 128087 h 177417"/>
              <a:gd name="csX97" fmla="*/ 96259 w 191337"/>
              <a:gd name="csY97" fmla="*/ 133692 h 177417"/>
              <a:gd name="csX98" fmla="*/ 90655 w 191337"/>
              <a:gd name="csY98" fmla="*/ 136028 h 177417"/>
              <a:gd name="csX99" fmla="*/ 69169 w 191337"/>
              <a:gd name="csY99" fmla="*/ 136028 h 177417"/>
              <a:gd name="csX100" fmla="*/ 73602 w 191337"/>
              <a:gd name="csY100" fmla="*/ 147986 h 177417"/>
              <a:gd name="csX101" fmla="*/ 81455 w 191337"/>
              <a:gd name="csY101" fmla="*/ 157473 h 177417"/>
              <a:gd name="csX102" fmla="*/ 91962 w 191337"/>
              <a:gd name="csY102" fmla="*/ 163684 h 177417"/>
              <a:gd name="csX103" fmla="*/ 104575 w 191337"/>
              <a:gd name="csY103" fmla="*/ 165924 h 177417"/>
              <a:gd name="csX104" fmla="*/ 118494 w 191337"/>
              <a:gd name="csY104" fmla="*/ 163118 h 177417"/>
              <a:gd name="csX105" fmla="*/ 129943 w 191337"/>
              <a:gd name="csY105" fmla="*/ 155417 h 177417"/>
              <a:gd name="csX106" fmla="*/ 137644 w 191337"/>
              <a:gd name="csY106" fmla="*/ 144016 h 177417"/>
              <a:gd name="csX107" fmla="*/ 140450 w 191337"/>
              <a:gd name="csY107" fmla="*/ 130048 h 177417"/>
              <a:gd name="csX108" fmla="*/ 182305 w 191337"/>
              <a:gd name="csY108" fmla="*/ 117715 h 177417"/>
              <a:gd name="csX109" fmla="*/ 182305 w 191337"/>
              <a:gd name="csY109" fmla="*/ 76235 h 177417"/>
              <a:gd name="csX110" fmla="*/ 152409 w 191337"/>
              <a:gd name="csY110" fmla="*/ 76235 h 177417"/>
              <a:gd name="csX111" fmla="*/ 152409 w 191337"/>
              <a:gd name="csY111" fmla="*/ 130886 h 177417"/>
              <a:gd name="csX112" fmla="*/ 157918 w 191337"/>
              <a:gd name="csY112" fmla="*/ 134489 h 177417"/>
              <a:gd name="csX113" fmla="*/ 164368 w 191337"/>
              <a:gd name="csY113" fmla="*/ 135653 h 177417"/>
              <a:gd name="csX114" fmla="*/ 171375 w 191337"/>
              <a:gd name="csY114" fmla="*/ 134250 h 177417"/>
              <a:gd name="csX115" fmla="*/ 177075 w 191337"/>
              <a:gd name="csY115" fmla="*/ 130423 h 177417"/>
              <a:gd name="csX116" fmla="*/ 180902 w 191337"/>
              <a:gd name="csY116" fmla="*/ 124723 h 177417"/>
              <a:gd name="csX117" fmla="*/ 182305 w 191337"/>
              <a:gd name="csY117" fmla="*/ 117715 h 1774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</a:cxnLst>
            <a:rect l="l" t="t" r="r" b="b"/>
            <a:pathLst>
              <a:path w="191337" h="177417">
                <a:moveTo>
                  <a:pt x="167357" y="58297"/>
                </a:moveTo>
                <a:cubicBezTo>
                  <a:pt x="164434" y="58297"/>
                  <a:pt x="161710" y="57752"/>
                  <a:pt x="159185" y="56663"/>
                </a:cubicBezTo>
                <a:cubicBezTo>
                  <a:pt x="156661" y="55573"/>
                  <a:pt x="154450" y="54077"/>
                  <a:pt x="152552" y="52174"/>
                </a:cubicBezTo>
                <a:cubicBezTo>
                  <a:pt x="150650" y="50277"/>
                  <a:pt x="149154" y="48066"/>
                  <a:pt x="148064" y="45541"/>
                </a:cubicBezTo>
                <a:cubicBezTo>
                  <a:pt x="146974" y="43022"/>
                  <a:pt x="146430" y="40298"/>
                  <a:pt x="146430" y="37370"/>
                </a:cubicBezTo>
                <a:cubicBezTo>
                  <a:pt x="146430" y="34500"/>
                  <a:pt x="146974" y="31789"/>
                  <a:pt x="148064" y="29238"/>
                </a:cubicBezTo>
                <a:cubicBezTo>
                  <a:pt x="149154" y="26687"/>
                  <a:pt x="150650" y="24462"/>
                  <a:pt x="152552" y="22565"/>
                </a:cubicBezTo>
                <a:cubicBezTo>
                  <a:pt x="154450" y="20662"/>
                  <a:pt x="156661" y="19166"/>
                  <a:pt x="159185" y="18076"/>
                </a:cubicBezTo>
                <a:cubicBezTo>
                  <a:pt x="161705" y="16987"/>
                  <a:pt x="164429" y="16442"/>
                  <a:pt x="167357" y="16442"/>
                </a:cubicBezTo>
                <a:cubicBezTo>
                  <a:pt x="170227" y="16442"/>
                  <a:pt x="172938" y="16987"/>
                  <a:pt x="175489" y="18076"/>
                </a:cubicBezTo>
                <a:cubicBezTo>
                  <a:pt x="178040" y="19166"/>
                  <a:pt x="180264" y="20662"/>
                  <a:pt x="182162" y="22565"/>
                </a:cubicBezTo>
                <a:cubicBezTo>
                  <a:pt x="184065" y="24462"/>
                  <a:pt x="185561" y="26687"/>
                  <a:pt x="186650" y="29238"/>
                </a:cubicBezTo>
                <a:cubicBezTo>
                  <a:pt x="187740" y="31789"/>
                  <a:pt x="188285" y="34500"/>
                  <a:pt x="188285" y="37370"/>
                </a:cubicBezTo>
                <a:cubicBezTo>
                  <a:pt x="188285" y="40293"/>
                  <a:pt x="187740" y="43017"/>
                  <a:pt x="186650" y="45541"/>
                </a:cubicBezTo>
                <a:cubicBezTo>
                  <a:pt x="185561" y="48066"/>
                  <a:pt x="184065" y="50277"/>
                  <a:pt x="182162" y="52174"/>
                </a:cubicBezTo>
                <a:cubicBezTo>
                  <a:pt x="180264" y="54077"/>
                  <a:pt x="178040" y="55573"/>
                  <a:pt x="175489" y="56663"/>
                </a:cubicBezTo>
                <a:cubicBezTo>
                  <a:pt x="172938" y="57752"/>
                  <a:pt x="170227" y="58297"/>
                  <a:pt x="167357" y="58297"/>
                </a:cubicBezTo>
                <a:close/>
                <a:moveTo>
                  <a:pt x="167357" y="28401"/>
                </a:moveTo>
                <a:cubicBezTo>
                  <a:pt x="164864" y="28401"/>
                  <a:pt x="162746" y="29272"/>
                  <a:pt x="161003" y="31016"/>
                </a:cubicBezTo>
                <a:cubicBezTo>
                  <a:pt x="159260" y="32759"/>
                  <a:pt x="158388" y="34877"/>
                  <a:pt x="158388" y="37370"/>
                </a:cubicBezTo>
                <a:cubicBezTo>
                  <a:pt x="158388" y="39862"/>
                  <a:pt x="159260" y="41980"/>
                  <a:pt x="161003" y="43724"/>
                </a:cubicBezTo>
                <a:cubicBezTo>
                  <a:pt x="162746" y="45467"/>
                  <a:pt x="164864" y="46339"/>
                  <a:pt x="167357" y="46339"/>
                </a:cubicBezTo>
                <a:cubicBezTo>
                  <a:pt x="169850" y="46339"/>
                  <a:pt x="171968" y="45467"/>
                  <a:pt x="173711" y="43724"/>
                </a:cubicBezTo>
                <a:cubicBezTo>
                  <a:pt x="175454" y="41980"/>
                  <a:pt x="176326" y="39862"/>
                  <a:pt x="176326" y="37370"/>
                </a:cubicBezTo>
                <a:cubicBezTo>
                  <a:pt x="176326" y="34877"/>
                  <a:pt x="175454" y="32759"/>
                  <a:pt x="173711" y="31016"/>
                </a:cubicBezTo>
                <a:cubicBezTo>
                  <a:pt x="171968" y="29272"/>
                  <a:pt x="169850" y="28401"/>
                  <a:pt x="167357" y="28401"/>
                </a:cubicBezTo>
                <a:close/>
                <a:moveTo>
                  <a:pt x="194264" y="73245"/>
                </a:moveTo>
                <a:lnTo>
                  <a:pt x="194264" y="117715"/>
                </a:lnTo>
                <a:cubicBezTo>
                  <a:pt x="194264" y="121829"/>
                  <a:pt x="193485" y="125709"/>
                  <a:pt x="191928" y="129355"/>
                </a:cubicBezTo>
                <a:cubicBezTo>
                  <a:pt x="190371" y="132996"/>
                  <a:pt x="188237" y="136169"/>
                  <a:pt x="185526" y="138874"/>
                </a:cubicBezTo>
                <a:cubicBezTo>
                  <a:pt x="182816" y="141585"/>
                  <a:pt x="179640" y="143718"/>
                  <a:pt x="175999" y="145276"/>
                </a:cubicBezTo>
                <a:cubicBezTo>
                  <a:pt x="172353" y="146833"/>
                  <a:pt x="168476" y="147612"/>
                  <a:pt x="164368" y="147612"/>
                </a:cubicBezTo>
                <a:cubicBezTo>
                  <a:pt x="162002" y="147612"/>
                  <a:pt x="159589" y="147333"/>
                  <a:pt x="157129" y="146775"/>
                </a:cubicBezTo>
                <a:cubicBezTo>
                  <a:pt x="154668" y="146211"/>
                  <a:pt x="152409" y="145337"/>
                  <a:pt x="150352" y="144152"/>
                </a:cubicBezTo>
                <a:cubicBezTo>
                  <a:pt x="148795" y="149201"/>
                  <a:pt x="146523" y="153796"/>
                  <a:pt x="143536" y="157936"/>
                </a:cubicBezTo>
                <a:cubicBezTo>
                  <a:pt x="140543" y="162082"/>
                  <a:pt x="137038" y="165632"/>
                  <a:pt x="133020" y="168587"/>
                </a:cubicBezTo>
                <a:cubicBezTo>
                  <a:pt x="129002" y="171547"/>
                  <a:pt x="124564" y="173835"/>
                  <a:pt x="119706" y="175451"/>
                </a:cubicBezTo>
                <a:cubicBezTo>
                  <a:pt x="114848" y="177072"/>
                  <a:pt x="109805" y="177883"/>
                  <a:pt x="104575" y="177883"/>
                </a:cubicBezTo>
                <a:cubicBezTo>
                  <a:pt x="98473" y="177883"/>
                  <a:pt x="92728" y="176825"/>
                  <a:pt x="87338" y="174710"/>
                </a:cubicBezTo>
                <a:cubicBezTo>
                  <a:pt x="81949" y="172589"/>
                  <a:pt x="77152" y="169661"/>
                  <a:pt x="72948" y="165924"/>
                </a:cubicBezTo>
                <a:cubicBezTo>
                  <a:pt x="68749" y="162188"/>
                  <a:pt x="65263" y="157766"/>
                  <a:pt x="62488" y="152658"/>
                </a:cubicBezTo>
                <a:cubicBezTo>
                  <a:pt x="59714" y="147551"/>
                  <a:pt x="57923" y="142007"/>
                  <a:pt x="57115" y="136028"/>
                </a:cubicBezTo>
                <a:lnTo>
                  <a:pt x="10875" y="136028"/>
                </a:lnTo>
                <a:cubicBezTo>
                  <a:pt x="8691" y="136028"/>
                  <a:pt x="6820" y="135249"/>
                  <a:pt x="5263" y="133692"/>
                </a:cubicBezTo>
                <a:cubicBezTo>
                  <a:pt x="3705" y="132135"/>
                  <a:pt x="2927" y="130266"/>
                  <a:pt x="2927" y="128087"/>
                </a:cubicBezTo>
                <a:lnTo>
                  <a:pt x="2927" y="48300"/>
                </a:lnTo>
                <a:cubicBezTo>
                  <a:pt x="2927" y="46121"/>
                  <a:pt x="3705" y="44252"/>
                  <a:pt x="5263" y="42695"/>
                </a:cubicBezTo>
                <a:cubicBezTo>
                  <a:pt x="6820" y="41138"/>
                  <a:pt x="8688" y="40359"/>
                  <a:pt x="10867" y="40359"/>
                </a:cubicBezTo>
                <a:lnTo>
                  <a:pt x="79350" y="40359"/>
                </a:lnTo>
                <a:cubicBezTo>
                  <a:pt x="77543" y="36559"/>
                  <a:pt x="76639" y="32573"/>
                  <a:pt x="76639" y="28401"/>
                </a:cubicBezTo>
                <a:cubicBezTo>
                  <a:pt x="76639" y="24537"/>
                  <a:pt x="77370" y="20909"/>
                  <a:pt x="78832" y="17518"/>
                </a:cubicBezTo>
                <a:cubicBezTo>
                  <a:pt x="80299" y="14122"/>
                  <a:pt x="82292" y="11162"/>
                  <a:pt x="84811" y="8637"/>
                </a:cubicBezTo>
                <a:cubicBezTo>
                  <a:pt x="87336" y="6118"/>
                  <a:pt x="90296" y="4125"/>
                  <a:pt x="93692" y="2658"/>
                </a:cubicBezTo>
                <a:cubicBezTo>
                  <a:pt x="97083" y="1196"/>
                  <a:pt x="100711" y="465"/>
                  <a:pt x="104575" y="465"/>
                </a:cubicBezTo>
                <a:cubicBezTo>
                  <a:pt x="108439" y="465"/>
                  <a:pt x="112066" y="1196"/>
                  <a:pt x="115457" y="2658"/>
                </a:cubicBezTo>
                <a:cubicBezTo>
                  <a:pt x="118853" y="4125"/>
                  <a:pt x="121814" y="6118"/>
                  <a:pt x="124338" y="8637"/>
                </a:cubicBezTo>
                <a:cubicBezTo>
                  <a:pt x="126857" y="11162"/>
                  <a:pt x="128851" y="14122"/>
                  <a:pt x="130317" y="17518"/>
                </a:cubicBezTo>
                <a:cubicBezTo>
                  <a:pt x="131779" y="20909"/>
                  <a:pt x="132510" y="24537"/>
                  <a:pt x="132510" y="28401"/>
                </a:cubicBezTo>
                <a:cubicBezTo>
                  <a:pt x="132510" y="32265"/>
                  <a:pt x="131779" y="35892"/>
                  <a:pt x="130317" y="39283"/>
                </a:cubicBezTo>
                <a:cubicBezTo>
                  <a:pt x="128851" y="42679"/>
                  <a:pt x="126857" y="45637"/>
                  <a:pt x="124338" y="48156"/>
                </a:cubicBezTo>
                <a:cubicBezTo>
                  <a:pt x="121814" y="50681"/>
                  <a:pt x="118853" y="52674"/>
                  <a:pt x="115457" y="54136"/>
                </a:cubicBezTo>
                <a:cubicBezTo>
                  <a:pt x="112066" y="55602"/>
                  <a:pt x="108439" y="56336"/>
                  <a:pt x="104575" y="56336"/>
                </a:cubicBezTo>
                <a:cubicBezTo>
                  <a:pt x="103575" y="56336"/>
                  <a:pt x="102579" y="56272"/>
                  <a:pt x="101585" y="56145"/>
                </a:cubicBezTo>
                <a:cubicBezTo>
                  <a:pt x="100586" y="56022"/>
                  <a:pt x="99589" y="55868"/>
                  <a:pt x="98595" y="55682"/>
                </a:cubicBezTo>
                <a:lnTo>
                  <a:pt x="98595" y="64276"/>
                </a:lnTo>
                <a:lnTo>
                  <a:pt x="185295" y="64276"/>
                </a:lnTo>
                <a:cubicBezTo>
                  <a:pt x="187788" y="64276"/>
                  <a:pt x="189906" y="65148"/>
                  <a:pt x="191649" y="66891"/>
                </a:cubicBezTo>
                <a:cubicBezTo>
                  <a:pt x="193392" y="68635"/>
                  <a:pt x="194264" y="70753"/>
                  <a:pt x="194264" y="73245"/>
                </a:cubicBezTo>
                <a:close/>
                <a:moveTo>
                  <a:pt x="104575" y="12424"/>
                </a:moveTo>
                <a:cubicBezTo>
                  <a:pt x="102396" y="12424"/>
                  <a:pt x="100323" y="12844"/>
                  <a:pt x="98356" y="13684"/>
                </a:cubicBezTo>
                <a:cubicBezTo>
                  <a:pt x="96400" y="14523"/>
                  <a:pt x="94705" y="15677"/>
                  <a:pt x="93270" y="17144"/>
                </a:cubicBezTo>
                <a:cubicBezTo>
                  <a:pt x="91835" y="18605"/>
                  <a:pt x="90697" y="20303"/>
                  <a:pt x="89858" y="22238"/>
                </a:cubicBezTo>
                <a:cubicBezTo>
                  <a:pt x="89018" y="24167"/>
                  <a:pt x="88598" y="26222"/>
                  <a:pt x="88598" y="28401"/>
                </a:cubicBezTo>
                <a:cubicBezTo>
                  <a:pt x="88598" y="30580"/>
                  <a:pt x="89018" y="32653"/>
                  <a:pt x="89858" y="34619"/>
                </a:cubicBezTo>
                <a:cubicBezTo>
                  <a:pt x="90703" y="36575"/>
                  <a:pt x="91840" y="38270"/>
                  <a:pt x="93270" y="39705"/>
                </a:cubicBezTo>
                <a:cubicBezTo>
                  <a:pt x="94705" y="41141"/>
                  <a:pt x="96403" y="42278"/>
                  <a:pt x="98364" y="43118"/>
                </a:cubicBezTo>
                <a:cubicBezTo>
                  <a:pt x="100325" y="43957"/>
                  <a:pt x="102396" y="44377"/>
                  <a:pt x="104575" y="44377"/>
                </a:cubicBezTo>
                <a:cubicBezTo>
                  <a:pt x="106754" y="44377"/>
                  <a:pt x="108808" y="43957"/>
                  <a:pt x="110737" y="43118"/>
                </a:cubicBezTo>
                <a:cubicBezTo>
                  <a:pt x="112672" y="42273"/>
                  <a:pt x="114373" y="41135"/>
                  <a:pt x="115840" y="39705"/>
                </a:cubicBezTo>
                <a:cubicBezTo>
                  <a:pt x="117296" y="38270"/>
                  <a:pt x="118447" y="36572"/>
                  <a:pt x="119292" y="34611"/>
                </a:cubicBezTo>
                <a:cubicBezTo>
                  <a:pt x="120131" y="32650"/>
                  <a:pt x="120551" y="30580"/>
                  <a:pt x="120551" y="28401"/>
                </a:cubicBezTo>
                <a:cubicBezTo>
                  <a:pt x="120551" y="26222"/>
                  <a:pt x="120131" y="24167"/>
                  <a:pt x="119292" y="22238"/>
                </a:cubicBezTo>
                <a:cubicBezTo>
                  <a:pt x="118447" y="20303"/>
                  <a:pt x="117293" y="18603"/>
                  <a:pt x="115832" y="17136"/>
                </a:cubicBezTo>
                <a:cubicBezTo>
                  <a:pt x="114370" y="15674"/>
                  <a:pt x="112672" y="14523"/>
                  <a:pt x="110737" y="13684"/>
                </a:cubicBezTo>
                <a:cubicBezTo>
                  <a:pt x="108808" y="12844"/>
                  <a:pt x="106754" y="12424"/>
                  <a:pt x="104575" y="12424"/>
                </a:cubicBezTo>
                <a:close/>
                <a:moveTo>
                  <a:pt x="58231" y="71746"/>
                </a:moveTo>
                <a:lnTo>
                  <a:pt x="76169" y="71746"/>
                </a:lnTo>
                <a:lnTo>
                  <a:pt x="76169" y="56806"/>
                </a:lnTo>
                <a:lnTo>
                  <a:pt x="25361" y="56806"/>
                </a:lnTo>
                <a:lnTo>
                  <a:pt x="25361" y="71754"/>
                </a:lnTo>
                <a:lnTo>
                  <a:pt x="43299" y="71754"/>
                </a:lnTo>
                <a:lnTo>
                  <a:pt x="43299" y="119589"/>
                </a:lnTo>
                <a:lnTo>
                  <a:pt x="58247" y="119589"/>
                </a:lnTo>
                <a:close/>
                <a:moveTo>
                  <a:pt x="140450" y="130048"/>
                </a:moveTo>
                <a:lnTo>
                  <a:pt x="140450" y="76235"/>
                </a:lnTo>
                <a:lnTo>
                  <a:pt x="98595" y="76235"/>
                </a:lnTo>
                <a:lnTo>
                  <a:pt x="98595" y="128087"/>
                </a:lnTo>
                <a:cubicBezTo>
                  <a:pt x="98595" y="130266"/>
                  <a:pt x="97817" y="132135"/>
                  <a:pt x="96259" y="133692"/>
                </a:cubicBezTo>
                <a:cubicBezTo>
                  <a:pt x="94702" y="135249"/>
                  <a:pt x="92834" y="136028"/>
                  <a:pt x="90655" y="136028"/>
                </a:cubicBezTo>
                <a:lnTo>
                  <a:pt x="69169" y="136028"/>
                </a:lnTo>
                <a:cubicBezTo>
                  <a:pt x="69977" y="140328"/>
                  <a:pt x="71455" y="144314"/>
                  <a:pt x="73602" y="147986"/>
                </a:cubicBezTo>
                <a:cubicBezTo>
                  <a:pt x="75755" y="151659"/>
                  <a:pt x="78372" y="154821"/>
                  <a:pt x="81455" y="157473"/>
                </a:cubicBezTo>
                <a:cubicBezTo>
                  <a:pt x="84537" y="160115"/>
                  <a:pt x="88040" y="162185"/>
                  <a:pt x="91962" y="163684"/>
                </a:cubicBezTo>
                <a:cubicBezTo>
                  <a:pt x="95885" y="165177"/>
                  <a:pt x="100089" y="165924"/>
                  <a:pt x="104575" y="165924"/>
                </a:cubicBezTo>
                <a:cubicBezTo>
                  <a:pt x="109496" y="165924"/>
                  <a:pt x="114136" y="164989"/>
                  <a:pt x="118494" y="163118"/>
                </a:cubicBezTo>
                <a:cubicBezTo>
                  <a:pt x="122853" y="161252"/>
                  <a:pt x="126669" y="158685"/>
                  <a:pt x="129943" y="155417"/>
                </a:cubicBezTo>
                <a:cubicBezTo>
                  <a:pt x="133211" y="152143"/>
                  <a:pt x="135779" y="148342"/>
                  <a:pt x="137644" y="144016"/>
                </a:cubicBezTo>
                <a:cubicBezTo>
                  <a:pt x="139515" y="139684"/>
                  <a:pt x="140450" y="135029"/>
                  <a:pt x="140450" y="130048"/>
                </a:cubicBezTo>
                <a:close/>
                <a:moveTo>
                  <a:pt x="182305" y="117715"/>
                </a:moveTo>
                <a:lnTo>
                  <a:pt x="182305" y="76235"/>
                </a:lnTo>
                <a:lnTo>
                  <a:pt x="152409" y="76235"/>
                </a:lnTo>
                <a:lnTo>
                  <a:pt x="152409" y="130886"/>
                </a:lnTo>
                <a:cubicBezTo>
                  <a:pt x="154030" y="132507"/>
                  <a:pt x="155866" y="133708"/>
                  <a:pt x="157918" y="134489"/>
                </a:cubicBezTo>
                <a:cubicBezTo>
                  <a:pt x="159975" y="135265"/>
                  <a:pt x="162125" y="135653"/>
                  <a:pt x="164368" y="135653"/>
                </a:cubicBezTo>
                <a:cubicBezTo>
                  <a:pt x="166860" y="135653"/>
                  <a:pt x="169196" y="135185"/>
                  <a:pt x="171375" y="134250"/>
                </a:cubicBezTo>
                <a:cubicBezTo>
                  <a:pt x="173554" y="133320"/>
                  <a:pt x="175454" y="132044"/>
                  <a:pt x="177075" y="130423"/>
                </a:cubicBezTo>
                <a:cubicBezTo>
                  <a:pt x="178691" y="128802"/>
                  <a:pt x="179967" y="126902"/>
                  <a:pt x="180902" y="124723"/>
                </a:cubicBezTo>
                <a:cubicBezTo>
                  <a:pt x="181838" y="122544"/>
                  <a:pt x="182305" y="120208"/>
                  <a:pt x="182305" y="117715"/>
                </a:cubicBezTo>
                <a:close/>
              </a:path>
            </a:pathLst>
          </a:custGeom>
          <a:solidFill>
            <a:schemeClr val="bg1"/>
          </a:solidFill>
          <a:ln w="5581" cap="flat">
            <a:solidFill>
              <a:srgbClr val="242424"/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2CD43EE-19DE-42FD-29D3-AD6AA7030E48}"/>
              </a:ext>
            </a:extLst>
          </p:cNvPr>
          <p:cNvSpPr txBox="1"/>
          <p:nvPr/>
        </p:nvSpPr>
        <p:spPr>
          <a:xfrm>
            <a:off x="9385499" y="4775897"/>
            <a:ext cx="609419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AI Search API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1E38F87B-3347-E5FF-BCB0-07384878B446}"/>
              </a:ext>
            </a:extLst>
          </p:cNvPr>
          <p:cNvSpPr txBox="1"/>
          <p:nvPr/>
        </p:nvSpPr>
        <p:spPr>
          <a:xfrm>
            <a:off x="9844852" y="4193747"/>
            <a:ext cx="54559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Alerts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43BBFE1-E35A-E530-73F6-278750A0D80E}"/>
              </a:ext>
            </a:extLst>
          </p:cNvPr>
          <p:cNvSpPr txBox="1"/>
          <p:nvPr/>
        </p:nvSpPr>
        <p:spPr>
          <a:xfrm>
            <a:off x="9994918" y="2635894"/>
            <a:ext cx="835416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AI Orchestration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FB05C9C0-AFBE-DBFB-DCF4-A97A2E2317D5}"/>
              </a:ext>
            </a:extLst>
          </p:cNvPr>
          <p:cNvSpPr txBox="1"/>
          <p:nvPr/>
        </p:nvSpPr>
        <p:spPr>
          <a:xfrm>
            <a:off x="9315612" y="2626930"/>
            <a:ext cx="65846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JWT/IAM Auth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398B06B6-0AEE-1AE8-C659-52BD33B31FAC}"/>
              </a:ext>
            </a:extLst>
          </p:cNvPr>
          <p:cNvSpPr txBox="1"/>
          <p:nvPr/>
        </p:nvSpPr>
        <p:spPr>
          <a:xfrm>
            <a:off x="9757987" y="3350303"/>
            <a:ext cx="658464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JSON Conversion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565659A1-0203-8F32-A4E2-486473205CDD}"/>
              </a:ext>
            </a:extLst>
          </p:cNvPr>
          <p:cNvSpPr txBox="1"/>
          <p:nvPr/>
        </p:nvSpPr>
        <p:spPr>
          <a:xfrm>
            <a:off x="10760112" y="3881735"/>
            <a:ext cx="65846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SES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CA4F08F-79AD-CA5A-3978-A65516ECD378}"/>
              </a:ext>
            </a:extLst>
          </p:cNvPr>
          <p:cNvSpPr txBox="1"/>
          <p:nvPr/>
        </p:nvSpPr>
        <p:spPr>
          <a:xfrm>
            <a:off x="11418576" y="3571702"/>
            <a:ext cx="658464" cy="86177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React Dashboard, hosted on Databricks Apps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3BBBA6AE-7B25-2651-BD2F-D894CF37116C}"/>
              </a:ext>
            </a:extLst>
          </p:cNvPr>
          <p:cNvSpPr txBox="1"/>
          <p:nvPr/>
        </p:nvSpPr>
        <p:spPr>
          <a:xfrm>
            <a:off x="10774144" y="4475963"/>
            <a:ext cx="65846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Teams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9C4E54B-3DA6-4F47-FB5B-79C2E0389A37}"/>
              </a:ext>
            </a:extLst>
          </p:cNvPr>
          <p:cNvSpPr txBox="1"/>
          <p:nvPr/>
        </p:nvSpPr>
        <p:spPr>
          <a:xfrm>
            <a:off x="9541377" y="2036451"/>
            <a:ext cx="856553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 b="1"/>
              <a:t>NODE JS API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F537A1A1-3F8F-3AC5-A7BB-CCD6F0FE9672}"/>
              </a:ext>
            </a:extLst>
          </p:cNvPr>
          <p:cNvCxnSpPr>
            <a:cxnSpLocks/>
          </p:cNvCxnSpPr>
          <p:nvPr/>
        </p:nvCxnSpPr>
        <p:spPr>
          <a:xfrm>
            <a:off x="2033119" y="3450758"/>
            <a:ext cx="5399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49D6BE2A-D9D2-6E96-066F-CE55283D226B}"/>
              </a:ext>
            </a:extLst>
          </p:cNvPr>
          <p:cNvSpPr txBox="1"/>
          <p:nvPr/>
        </p:nvSpPr>
        <p:spPr>
          <a:xfrm>
            <a:off x="2058058" y="3276721"/>
            <a:ext cx="403544" cy="338554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i="1"/>
              <a:t>Clean &amp; Version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A765993C-78EE-EE87-42AE-D0D25057434F}"/>
              </a:ext>
            </a:extLst>
          </p:cNvPr>
          <p:cNvCxnSpPr>
            <a:cxnSpLocks/>
          </p:cNvCxnSpPr>
          <p:nvPr/>
        </p:nvCxnSpPr>
        <p:spPr>
          <a:xfrm>
            <a:off x="2819398" y="3457923"/>
            <a:ext cx="5207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E200208E-1654-4D94-7928-B621970E8ED3}"/>
              </a:ext>
            </a:extLst>
          </p:cNvPr>
          <p:cNvCxnSpPr>
            <a:cxnSpLocks/>
            <a:endCxn id="319" idx="7"/>
          </p:cNvCxnSpPr>
          <p:nvPr/>
        </p:nvCxnSpPr>
        <p:spPr>
          <a:xfrm flipV="1">
            <a:off x="4303869" y="3442973"/>
            <a:ext cx="842994" cy="1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523E03B5-AC17-A942-1557-F0B6D6A3458C}"/>
              </a:ext>
            </a:extLst>
          </p:cNvPr>
          <p:cNvCxnSpPr>
            <a:cxnSpLocks/>
            <a:stCxn id="271" idx="3"/>
            <a:endCxn id="318" idx="1"/>
          </p:cNvCxnSpPr>
          <p:nvPr/>
        </p:nvCxnSpPr>
        <p:spPr>
          <a:xfrm>
            <a:off x="4171832" y="3444615"/>
            <a:ext cx="335371" cy="599246"/>
          </a:xfrm>
          <a:prstGeom prst="bentConnector3">
            <a:avLst>
              <a:gd name="adj1" fmla="val 444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7B2BF4A7-C41A-58AB-8565-A765A2273686}"/>
              </a:ext>
            </a:extLst>
          </p:cNvPr>
          <p:cNvSpPr txBox="1"/>
          <p:nvPr/>
        </p:nvSpPr>
        <p:spPr>
          <a:xfrm>
            <a:off x="4288398" y="3253534"/>
            <a:ext cx="708340" cy="215444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800" i="1"/>
            </a:lvl1pPr>
          </a:lstStyle>
          <a:p>
            <a:r>
              <a:rPr lang="en-US"/>
              <a:t>Summarization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F7238281-A8FC-BC83-DC6C-6AA47E4AA9B4}"/>
              </a:ext>
            </a:extLst>
          </p:cNvPr>
          <p:cNvSpPr txBox="1"/>
          <p:nvPr/>
        </p:nvSpPr>
        <p:spPr>
          <a:xfrm>
            <a:off x="2888752" y="3293980"/>
            <a:ext cx="353009" cy="338554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800" i="1"/>
            </a:lvl1pPr>
          </a:lstStyle>
          <a:p>
            <a:r>
              <a:rPr lang="en-US"/>
              <a:t>RLS Ready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738D77EC-7BA7-4B1D-690D-8078ECB41AC1}"/>
              </a:ext>
            </a:extLst>
          </p:cNvPr>
          <p:cNvSpPr txBox="1"/>
          <p:nvPr/>
        </p:nvSpPr>
        <p:spPr>
          <a:xfrm>
            <a:off x="1103183" y="3499024"/>
            <a:ext cx="701799" cy="338554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800" i="1"/>
              <a:t>Auto Loader Ingestion</a:t>
            </a:r>
          </a:p>
        </p:txBody>
      </p: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1534724B-6A9D-4F5E-B285-1BB5B62C012F}"/>
              </a:ext>
            </a:extLst>
          </p:cNvPr>
          <p:cNvCxnSpPr>
            <a:cxnSpLocks/>
            <a:stCxn id="321" idx="0"/>
            <a:endCxn id="211" idx="5"/>
          </p:cNvCxnSpPr>
          <p:nvPr/>
        </p:nvCxnSpPr>
        <p:spPr>
          <a:xfrm rot="16200000" flipH="1">
            <a:off x="5400233" y="1979880"/>
            <a:ext cx="194500" cy="2876520"/>
          </a:xfrm>
          <a:prstGeom prst="bentConnector4">
            <a:avLst>
              <a:gd name="adj1" fmla="val -117532"/>
              <a:gd name="adj2" fmla="val 818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DB9AFB99-50CC-3BC0-C944-11089F273AA6}"/>
              </a:ext>
            </a:extLst>
          </p:cNvPr>
          <p:cNvCxnSpPr>
            <a:cxnSpLocks/>
          </p:cNvCxnSpPr>
          <p:nvPr/>
        </p:nvCxnSpPr>
        <p:spPr>
          <a:xfrm>
            <a:off x="7161993" y="3532389"/>
            <a:ext cx="10363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29E6CE75-0876-07B6-0DC9-2A931C2C53DA}"/>
              </a:ext>
            </a:extLst>
          </p:cNvPr>
          <p:cNvSpPr txBox="1"/>
          <p:nvPr/>
        </p:nvSpPr>
        <p:spPr>
          <a:xfrm>
            <a:off x="7347146" y="3424667"/>
            <a:ext cx="681609" cy="215444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800" i="1"/>
            </a:lvl1pPr>
          </a:lstStyle>
          <a:p>
            <a:r>
              <a:rPr lang="en-US"/>
              <a:t>Enforce RLS</a:t>
            </a:r>
          </a:p>
        </p:txBody>
      </p:sp>
      <p:cxnSp>
        <p:nvCxnSpPr>
          <p:cNvPr id="249" name="Connector: Elbow 248">
            <a:extLst>
              <a:ext uri="{FF2B5EF4-FFF2-40B4-BE49-F238E27FC236}">
                <a16:creationId xmlns:a16="http://schemas.microsoft.com/office/drawing/2014/main" id="{EEC53882-C7C5-32AF-2D5D-E9D14F8727F9}"/>
              </a:ext>
            </a:extLst>
          </p:cNvPr>
          <p:cNvCxnSpPr>
            <a:cxnSpLocks/>
            <a:stCxn id="320" idx="8"/>
            <a:endCxn id="293" idx="3"/>
          </p:cNvCxnSpPr>
          <p:nvPr/>
        </p:nvCxnSpPr>
        <p:spPr>
          <a:xfrm>
            <a:off x="5381593" y="3419575"/>
            <a:ext cx="4595276" cy="715835"/>
          </a:xfrm>
          <a:prstGeom prst="bentConnector3">
            <a:avLst>
              <a:gd name="adj1" fmla="val 174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: Elbow 249">
            <a:extLst>
              <a:ext uri="{FF2B5EF4-FFF2-40B4-BE49-F238E27FC236}">
                <a16:creationId xmlns:a16="http://schemas.microsoft.com/office/drawing/2014/main" id="{4F089D2D-470D-4E32-9820-02D17AE6D54B}"/>
              </a:ext>
            </a:extLst>
          </p:cNvPr>
          <p:cNvCxnSpPr>
            <a:cxnSpLocks/>
            <a:endCxn id="291" idx="2"/>
          </p:cNvCxnSpPr>
          <p:nvPr/>
        </p:nvCxnSpPr>
        <p:spPr>
          <a:xfrm>
            <a:off x="5423671" y="4016961"/>
            <a:ext cx="4216258" cy="603840"/>
          </a:xfrm>
          <a:prstGeom prst="bentConnector3">
            <a:avLst>
              <a:gd name="adj1" fmla="val 134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5E547DE9-F643-3F3F-B57C-C2642C695407}"/>
              </a:ext>
            </a:extLst>
          </p:cNvPr>
          <p:cNvCxnSpPr>
            <a:cxnSpLocks/>
          </p:cNvCxnSpPr>
          <p:nvPr/>
        </p:nvCxnSpPr>
        <p:spPr>
          <a:xfrm>
            <a:off x="8447533" y="3545126"/>
            <a:ext cx="842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EBD58153-593B-30F3-D6C7-F55BF7C4AA63}"/>
              </a:ext>
            </a:extLst>
          </p:cNvPr>
          <p:cNvSpPr txBox="1"/>
          <p:nvPr/>
        </p:nvSpPr>
        <p:spPr>
          <a:xfrm>
            <a:off x="8547331" y="3350657"/>
            <a:ext cx="383509" cy="338554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800" i="1"/>
            </a:lvl1pPr>
          </a:lstStyle>
          <a:p>
            <a:r>
              <a:rPr lang="en-US"/>
              <a:t>Secure Query</a:t>
            </a:r>
          </a:p>
        </p:txBody>
      </p:sp>
      <p:cxnSp>
        <p:nvCxnSpPr>
          <p:cNvPr id="253" name="Connector: Elbow 252">
            <a:extLst>
              <a:ext uri="{FF2B5EF4-FFF2-40B4-BE49-F238E27FC236}">
                <a16:creationId xmlns:a16="http://schemas.microsoft.com/office/drawing/2014/main" id="{6E23B36B-78CB-C201-F860-1D6692FAEA01}"/>
              </a:ext>
            </a:extLst>
          </p:cNvPr>
          <p:cNvCxnSpPr>
            <a:cxnSpLocks/>
            <a:stCxn id="293" idx="4"/>
          </p:cNvCxnSpPr>
          <p:nvPr/>
        </p:nvCxnSpPr>
        <p:spPr>
          <a:xfrm flipV="1">
            <a:off x="10210047" y="3816670"/>
            <a:ext cx="737881" cy="3187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: Elbow 253">
            <a:extLst>
              <a:ext uri="{FF2B5EF4-FFF2-40B4-BE49-F238E27FC236}">
                <a16:creationId xmlns:a16="http://schemas.microsoft.com/office/drawing/2014/main" id="{75B0587E-8485-5525-4318-B3DFD9CCFB15}"/>
              </a:ext>
            </a:extLst>
          </p:cNvPr>
          <p:cNvCxnSpPr>
            <a:cxnSpLocks/>
            <a:stCxn id="293" idx="4"/>
            <a:endCxn id="227" idx="44"/>
          </p:cNvCxnSpPr>
          <p:nvPr/>
        </p:nvCxnSpPr>
        <p:spPr>
          <a:xfrm>
            <a:off x="10210047" y="4135422"/>
            <a:ext cx="742637" cy="277603"/>
          </a:xfrm>
          <a:prstGeom prst="bentConnector3">
            <a:avLst>
              <a:gd name="adj1" fmla="val 501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8721569A-B541-15F2-78F2-F718044C63D8}"/>
              </a:ext>
            </a:extLst>
          </p:cNvPr>
          <p:cNvCxnSpPr>
            <a:cxnSpLocks/>
          </p:cNvCxnSpPr>
          <p:nvPr/>
        </p:nvCxnSpPr>
        <p:spPr>
          <a:xfrm>
            <a:off x="10830334" y="3284795"/>
            <a:ext cx="588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759D3BC9-1488-AD15-2EB0-741FF96B6EAD}"/>
              </a:ext>
            </a:extLst>
          </p:cNvPr>
          <p:cNvSpPr txBox="1"/>
          <p:nvPr/>
        </p:nvSpPr>
        <p:spPr>
          <a:xfrm>
            <a:off x="10898143" y="3043935"/>
            <a:ext cx="382402" cy="461665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800" i="1"/>
            </a:lvl1pPr>
          </a:lstStyle>
          <a:p>
            <a:r>
              <a:rPr lang="en-US"/>
              <a:t>UI Ready JSON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F4497024-7426-CA34-5196-A0B23A22FA08}"/>
              </a:ext>
            </a:extLst>
          </p:cNvPr>
          <p:cNvSpPr txBox="1"/>
          <p:nvPr/>
        </p:nvSpPr>
        <p:spPr>
          <a:xfrm>
            <a:off x="6761040" y="4016961"/>
            <a:ext cx="745022" cy="215444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800" i="1"/>
            </a:lvl1pPr>
          </a:lstStyle>
          <a:p>
            <a:r>
              <a:rPr lang="en-US"/>
              <a:t>Trigger Alert</a:t>
            </a:r>
          </a:p>
        </p:txBody>
      </p:sp>
      <p:pic>
        <p:nvPicPr>
          <p:cNvPr id="258" name="Picture 2" descr="OpenAI Logo 1 icon - Free Download PNG &amp; SVG | Streamline">
            <a:extLst>
              <a:ext uri="{FF2B5EF4-FFF2-40B4-BE49-F238E27FC236}">
                <a16:creationId xmlns:a16="http://schemas.microsoft.com/office/drawing/2014/main" id="{01BAD64C-877D-3C74-0EBE-3C616ADC6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8930" y="4553590"/>
            <a:ext cx="215905" cy="21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9" name="TextBox 258">
            <a:extLst>
              <a:ext uri="{FF2B5EF4-FFF2-40B4-BE49-F238E27FC236}">
                <a16:creationId xmlns:a16="http://schemas.microsoft.com/office/drawing/2014/main" id="{7043C51F-BE61-4934-39AC-A50CEFC9C089}"/>
              </a:ext>
            </a:extLst>
          </p:cNvPr>
          <p:cNvSpPr txBox="1"/>
          <p:nvPr/>
        </p:nvSpPr>
        <p:spPr>
          <a:xfrm>
            <a:off x="4708726" y="3855193"/>
            <a:ext cx="407151" cy="338554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800" i="1"/>
            </a:lvl1pPr>
          </a:lstStyle>
          <a:p>
            <a:r>
              <a:rPr lang="en-US"/>
              <a:t>OpenAI API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D3FA297E-4041-DAAD-CA12-2FFB8EF97496}"/>
              </a:ext>
            </a:extLst>
          </p:cNvPr>
          <p:cNvSpPr txBox="1"/>
          <p:nvPr/>
        </p:nvSpPr>
        <p:spPr>
          <a:xfrm>
            <a:off x="10194343" y="4778410"/>
            <a:ext cx="565769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r>
              <a:rPr lang="en-US"/>
              <a:t>OpenAI API</a:t>
            </a:r>
          </a:p>
        </p:txBody>
      </p:sp>
      <p:grpSp>
        <p:nvGrpSpPr>
          <p:cNvPr id="261" name="Graphic 239">
            <a:extLst>
              <a:ext uri="{FF2B5EF4-FFF2-40B4-BE49-F238E27FC236}">
                <a16:creationId xmlns:a16="http://schemas.microsoft.com/office/drawing/2014/main" id="{AED6EC49-0B39-D3A5-E66A-B716C9F3CF6F}"/>
              </a:ext>
            </a:extLst>
          </p:cNvPr>
          <p:cNvGrpSpPr>
            <a:grpSpLocks noChangeAspect="1"/>
          </p:cNvGrpSpPr>
          <p:nvPr/>
        </p:nvGrpSpPr>
        <p:grpSpPr>
          <a:xfrm>
            <a:off x="600903" y="2703318"/>
            <a:ext cx="207264" cy="259078"/>
            <a:chOff x="1062955" y="3296466"/>
            <a:chExt cx="127558" cy="159447"/>
          </a:xfrm>
          <a:solidFill>
            <a:schemeClr val="bg1"/>
          </a:solidFill>
        </p:grpSpPr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B8FBDA9-4D2D-6D52-F563-926BFA78A651}"/>
                </a:ext>
              </a:extLst>
            </p:cNvPr>
            <p:cNvSpPr/>
            <p:nvPr/>
          </p:nvSpPr>
          <p:spPr>
            <a:xfrm>
              <a:off x="1062955" y="3296466"/>
              <a:ext cx="127558" cy="159447"/>
            </a:xfrm>
            <a:custGeom>
              <a:avLst/>
              <a:gdLst>
                <a:gd name="csX0" fmla="*/ 80006 w 127558"/>
                <a:gd name="csY0" fmla="*/ 462 h 159447"/>
                <a:gd name="csX1" fmla="*/ 16227 w 127558"/>
                <a:gd name="csY1" fmla="*/ 462 h 159447"/>
                <a:gd name="csX2" fmla="*/ 282 w 127558"/>
                <a:gd name="csY2" fmla="*/ 16406 h 159447"/>
                <a:gd name="csX3" fmla="*/ 282 w 127558"/>
                <a:gd name="csY3" fmla="*/ 143965 h 159447"/>
                <a:gd name="csX4" fmla="*/ 16227 w 127558"/>
                <a:gd name="csY4" fmla="*/ 159909 h 159447"/>
                <a:gd name="csX5" fmla="*/ 111896 w 127558"/>
                <a:gd name="csY5" fmla="*/ 159909 h 159447"/>
                <a:gd name="csX6" fmla="*/ 127841 w 127558"/>
                <a:gd name="csY6" fmla="*/ 143965 h 159447"/>
                <a:gd name="csX7" fmla="*/ 127841 w 127558"/>
                <a:gd name="csY7" fmla="*/ 48296 h 1594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7558" h="159447">
                  <a:moveTo>
                    <a:pt x="80006" y="462"/>
                  </a:moveTo>
                  <a:lnTo>
                    <a:pt x="16227" y="462"/>
                  </a:lnTo>
                  <a:cubicBezTo>
                    <a:pt x="7421" y="462"/>
                    <a:pt x="282" y="7600"/>
                    <a:pt x="282" y="16406"/>
                  </a:cubicBezTo>
                  <a:lnTo>
                    <a:pt x="282" y="143965"/>
                  </a:lnTo>
                  <a:cubicBezTo>
                    <a:pt x="282" y="152771"/>
                    <a:pt x="7421" y="159909"/>
                    <a:pt x="16227" y="159909"/>
                  </a:cubicBezTo>
                  <a:lnTo>
                    <a:pt x="111896" y="159909"/>
                  </a:lnTo>
                  <a:cubicBezTo>
                    <a:pt x="120702" y="159909"/>
                    <a:pt x="127841" y="152771"/>
                    <a:pt x="127841" y="143965"/>
                  </a:cubicBezTo>
                  <a:lnTo>
                    <a:pt x="127841" y="48296"/>
                  </a:lnTo>
                  <a:close/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95A43ED7-2040-1408-14BC-ECB6B401B272}"/>
                </a:ext>
              </a:extLst>
            </p:cNvPr>
            <p:cNvSpPr/>
            <p:nvPr/>
          </p:nvSpPr>
          <p:spPr>
            <a:xfrm>
              <a:off x="1142679" y="3296466"/>
              <a:ext cx="47834" cy="47834"/>
            </a:xfrm>
            <a:custGeom>
              <a:avLst/>
              <a:gdLst>
                <a:gd name="csX0" fmla="*/ 288 w 47834"/>
                <a:gd name="csY0" fmla="*/ 454 h 47834"/>
                <a:gd name="csX1" fmla="*/ 288 w 47834"/>
                <a:gd name="csY1" fmla="*/ 48288 h 47834"/>
                <a:gd name="csX2" fmla="*/ 48122 w 47834"/>
                <a:gd name="csY2" fmla="*/ 48288 h 478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7834" h="47834">
                  <a:moveTo>
                    <a:pt x="288" y="454"/>
                  </a:moveTo>
                  <a:lnTo>
                    <a:pt x="288" y="48288"/>
                  </a:lnTo>
                  <a:lnTo>
                    <a:pt x="48122" y="48288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95202EA6-2143-8F32-0387-07F5EF0AAF26}"/>
                </a:ext>
              </a:extLst>
            </p:cNvPr>
            <p:cNvSpPr/>
            <p:nvPr/>
          </p:nvSpPr>
          <p:spPr>
            <a:xfrm>
              <a:off x="1094844" y="3384162"/>
              <a:ext cx="63779" cy="3826"/>
            </a:xfrm>
            <a:custGeom>
              <a:avLst/>
              <a:gdLst>
                <a:gd name="csX0" fmla="*/ 64061 w 63779"/>
                <a:gd name="csY0" fmla="*/ 463 h 3826"/>
                <a:gd name="csX1" fmla="*/ 282 w 63779"/>
                <a:gd name="csY1" fmla="*/ 463 h 3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3779" h="3826">
                  <a:moveTo>
                    <a:pt x="64061" y="463"/>
                  </a:moveTo>
                  <a:lnTo>
                    <a:pt x="282" y="463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1511539F-A901-DAB4-F1E8-E9F7E9ABD3C3}"/>
                </a:ext>
              </a:extLst>
            </p:cNvPr>
            <p:cNvSpPr/>
            <p:nvPr/>
          </p:nvSpPr>
          <p:spPr>
            <a:xfrm>
              <a:off x="1094844" y="3416052"/>
              <a:ext cx="63779" cy="3826"/>
            </a:xfrm>
            <a:custGeom>
              <a:avLst/>
              <a:gdLst>
                <a:gd name="csX0" fmla="*/ 64061 w 63779"/>
                <a:gd name="csY0" fmla="*/ 467 h 3826"/>
                <a:gd name="csX1" fmla="*/ 282 w 63779"/>
                <a:gd name="csY1" fmla="*/ 467 h 3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3779" h="3826">
                  <a:moveTo>
                    <a:pt x="64061" y="467"/>
                  </a:moveTo>
                  <a:lnTo>
                    <a:pt x="282" y="467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3E2A0BCA-165C-8C4C-4B4A-D4FED9D2A4F5}"/>
                </a:ext>
              </a:extLst>
            </p:cNvPr>
            <p:cNvSpPr/>
            <p:nvPr/>
          </p:nvSpPr>
          <p:spPr>
            <a:xfrm>
              <a:off x="1094844" y="3352273"/>
              <a:ext cx="15944" cy="3826"/>
            </a:xfrm>
            <a:custGeom>
              <a:avLst/>
              <a:gdLst>
                <a:gd name="csX0" fmla="*/ 16224 w 15944"/>
                <a:gd name="csY0" fmla="*/ 458 h 3826"/>
                <a:gd name="csX1" fmla="*/ 8252 w 15944"/>
                <a:gd name="csY1" fmla="*/ 458 h 3826"/>
                <a:gd name="csX2" fmla="*/ 279 w 15944"/>
                <a:gd name="csY2" fmla="*/ 458 h 3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5944" h="3826">
                  <a:moveTo>
                    <a:pt x="16224" y="458"/>
                  </a:moveTo>
                  <a:lnTo>
                    <a:pt x="8252" y="458"/>
                  </a:lnTo>
                  <a:lnTo>
                    <a:pt x="279" y="458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64" name="TextBox 263">
            <a:extLst>
              <a:ext uri="{FF2B5EF4-FFF2-40B4-BE49-F238E27FC236}">
                <a16:creationId xmlns:a16="http://schemas.microsoft.com/office/drawing/2014/main" id="{8F18E6B6-9678-11ED-9791-32DB839CD38A}"/>
              </a:ext>
            </a:extLst>
          </p:cNvPr>
          <p:cNvSpPr txBox="1"/>
          <p:nvPr/>
        </p:nvSpPr>
        <p:spPr>
          <a:xfrm>
            <a:off x="199212" y="2993573"/>
            <a:ext cx="1117151" cy="132343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108000" indent="-108000">
              <a:spcBef>
                <a:spcPts val="300"/>
              </a:spcBef>
              <a:buFont typeface="Grandview" panose="020B0604020202020204" pitchFamily="34" charset="0"/>
              <a:buChar char="•"/>
            </a:pPr>
            <a:r>
              <a:rPr lang="en-US" sz="1000"/>
              <a:t>MMIT Searchlight</a:t>
            </a:r>
          </a:p>
          <a:p>
            <a:pPr marL="108000" indent="-108000">
              <a:spcBef>
                <a:spcPts val="300"/>
              </a:spcBef>
              <a:buFont typeface="Grandview" panose="020B0604020202020204" pitchFamily="34" charset="0"/>
              <a:buChar char="•"/>
            </a:pPr>
            <a:r>
              <a:rPr lang="en-US" sz="1000"/>
              <a:t>Policy Reporter</a:t>
            </a:r>
          </a:p>
          <a:p>
            <a:pPr marL="108000" indent="-108000">
              <a:spcBef>
                <a:spcPts val="300"/>
              </a:spcBef>
              <a:buFont typeface="Grandview" panose="020B0604020202020204" pitchFamily="34" charset="0"/>
              <a:buChar char="•"/>
            </a:pPr>
            <a:r>
              <a:rPr lang="en-US" sz="1000"/>
              <a:t>FRM &amp; MA Submissions</a:t>
            </a:r>
          </a:p>
          <a:p>
            <a:pPr marL="108000" indent="-108000">
              <a:spcBef>
                <a:spcPts val="300"/>
              </a:spcBef>
              <a:buFont typeface="Grandview" panose="020B0604020202020204" pitchFamily="34" charset="0"/>
              <a:buChar char="•"/>
            </a:pPr>
            <a:r>
              <a:rPr lang="en-US" sz="1000"/>
              <a:t>Field Intake Forms</a:t>
            </a:r>
          </a:p>
          <a:p>
            <a:pPr marL="108000" indent="-108000">
              <a:spcBef>
                <a:spcPts val="300"/>
              </a:spcBef>
              <a:buFont typeface="Grandview" panose="020B0604020202020204" pitchFamily="34" charset="0"/>
              <a:buChar char="•"/>
            </a:pPr>
            <a:r>
              <a:rPr lang="en-US" sz="1000"/>
              <a:t>Raw Policy PDFs</a:t>
            </a:r>
          </a:p>
        </p:txBody>
      </p:sp>
      <p:cxnSp>
        <p:nvCxnSpPr>
          <p:cNvPr id="265" name="Connector: Elbow 264">
            <a:extLst>
              <a:ext uri="{FF2B5EF4-FFF2-40B4-BE49-F238E27FC236}">
                <a16:creationId xmlns:a16="http://schemas.microsoft.com/office/drawing/2014/main" id="{8173D64E-5E12-85B3-E202-D7930F6865F0}"/>
              </a:ext>
            </a:extLst>
          </p:cNvPr>
          <p:cNvCxnSpPr>
            <a:cxnSpLocks/>
          </p:cNvCxnSpPr>
          <p:nvPr/>
        </p:nvCxnSpPr>
        <p:spPr>
          <a:xfrm>
            <a:off x="1342152" y="3477644"/>
            <a:ext cx="264627" cy="15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" name="Graphic 239">
            <a:extLst>
              <a:ext uri="{FF2B5EF4-FFF2-40B4-BE49-F238E27FC236}">
                <a16:creationId xmlns:a16="http://schemas.microsoft.com/office/drawing/2014/main" id="{3143D16C-7A5A-9E7F-D702-72F43E97F104}"/>
              </a:ext>
            </a:extLst>
          </p:cNvPr>
          <p:cNvGrpSpPr>
            <a:grpSpLocks noChangeAspect="1"/>
          </p:cNvGrpSpPr>
          <p:nvPr/>
        </p:nvGrpSpPr>
        <p:grpSpPr>
          <a:xfrm>
            <a:off x="3312081" y="3320890"/>
            <a:ext cx="233176" cy="259077"/>
            <a:chOff x="4918134" y="3224268"/>
            <a:chExt cx="143502" cy="159447"/>
          </a:xfrm>
          <a:solidFill>
            <a:schemeClr val="bg1"/>
          </a:solidFill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074D829B-D45B-475C-F5F6-E229B11795AF}"/>
                </a:ext>
              </a:extLst>
            </p:cNvPr>
            <p:cNvSpPr/>
            <p:nvPr/>
          </p:nvSpPr>
          <p:spPr>
            <a:xfrm>
              <a:off x="4918134" y="3224268"/>
              <a:ext cx="143502" cy="47834"/>
            </a:xfrm>
            <a:prstGeom prst="ellipse">
              <a:avLst/>
            </a:pr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41501258-CB1E-21FF-55DB-422D754973D4}"/>
                </a:ext>
              </a:extLst>
            </p:cNvPr>
            <p:cNvSpPr/>
            <p:nvPr/>
          </p:nvSpPr>
          <p:spPr>
            <a:xfrm>
              <a:off x="4918134" y="3303992"/>
              <a:ext cx="143502" cy="23917"/>
            </a:xfrm>
            <a:custGeom>
              <a:avLst/>
              <a:gdLst>
                <a:gd name="csX0" fmla="*/ 144795 w 143502"/>
                <a:gd name="csY0" fmla="*/ 444 h 23917"/>
                <a:gd name="csX1" fmla="*/ 73043 w 143502"/>
                <a:gd name="csY1" fmla="*/ 24362 h 23917"/>
                <a:gd name="csX2" fmla="*/ 1292 w 143502"/>
                <a:gd name="csY2" fmla="*/ 444 h 23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3502" h="23917">
                  <a:moveTo>
                    <a:pt x="144795" y="444"/>
                  </a:moveTo>
                  <a:cubicBezTo>
                    <a:pt x="144795" y="13679"/>
                    <a:pt x="112905" y="24362"/>
                    <a:pt x="73043" y="24362"/>
                  </a:cubicBezTo>
                  <a:cubicBezTo>
                    <a:pt x="33181" y="24362"/>
                    <a:pt x="1292" y="13679"/>
                    <a:pt x="1292" y="444"/>
                  </a:cubicBez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C7D49A1-DA04-8CD6-552B-34534145FF10}"/>
                </a:ext>
              </a:extLst>
            </p:cNvPr>
            <p:cNvSpPr/>
            <p:nvPr/>
          </p:nvSpPr>
          <p:spPr>
            <a:xfrm>
              <a:off x="4918134" y="3248185"/>
              <a:ext cx="143502" cy="135530"/>
            </a:xfrm>
            <a:custGeom>
              <a:avLst/>
              <a:gdLst>
                <a:gd name="csX0" fmla="*/ 1292 w 143502"/>
                <a:gd name="csY0" fmla="*/ 444 h 135530"/>
                <a:gd name="csX1" fmla="*/ 1292 w 143502"/>
                <a:gd name="csY1" fmla="*/ 112058 h 135530"/>
                <a:gd name="csX2" fmla="*/ 73043 w 143502"/>
                <a:gd name="csY2" fmla="*/ 135975 h 135530"/>
                <a:gd name="csX3" fmla="*/ 144795 w 143502"/>
                <a:gd name="csY3" fmla="*/ 112058 h 135530"/>
                <a:gd name="csX4" fmla="*/ 144795 w 143502"/>
                <a:gd name="csY4" fmla="*/ 444 h 1355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502" h="135530">
                  <a:moveTo>
                    <a:pt x="1292" y="444"/>
                  </a:moveTo>
                  <a:lnTo>
                    <a:pt x="1292" y="112058"/>
                  </a:lnTo>
                  <a:cubicBezTo>
                    <a:pt x="1292" y="125292"/>
                    <a:pt x="33181" y="135975"/>
                    <a:pt x="73043" y="135975"/>
                  </a:cubicBezTo>
                  <a:cubicBezTo>
                    <a:pt x="112905" y="135975"/>
                    <a:pt x="144795" y="125292"/>
                    <a:pt x="144795" y="112058"/>
                  </a:cubicBezTo>
                  <a:lnTo>
                    <a:pt x="144795" y="444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67" name="TextBox 266">
            <a:extLst>
              <a:ext uri="{FF2B5EF4-FFF2-40B4-BE49-F238E27FC236}">
                <a16:creationId xmlns:a16="http://schemas.microsoft.com/office/drawing/2014/main" id="{7CF2637E-1E2D-8307-4DAD-B9B2D0709443}"/>
              </a:ext>
            </a:extLst>
          </p:cNvPr>
          <p:cNvSpPr txBox="1"/>
          <p:nvPr/>
        </p:nvSpPr>
        <p:spPr>
          <a:xfrm>
            <a:off x="3170419" y="3551489"/>
            <a:ext cx="510446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Delta Gold</a:t>
            </a:r>
          </a:p>
        </p:txBody>
      </p: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9177C8A4-819E-C3E1-DF43-BA4496AA802A}"/>
              </a:ext>
            </a:extLst>
          </p:cNvPr>
          <p:cNvCxnSpPr>
            <a:cxnSpLocks/>
          </p:cNvCxnSpPr>
          <p:nvPr/>
        </p:nvCxnSpPr>
        <p:spPr>
          <a:xfrm>
            <a:off x="3580747" y="3457923"/>
            <a:ext cx="370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9" name="Graphic 239">
            <a:extLst>
              <a:ext uri="{FF2B5EF4-FFF2-40B4-BE49-F238E27FC236}">
                <a16:creationId xmlns:a16="http://schemas.microsoft.com/office/drawing/2014/main" id="{1ABBAA28-291E-3757-7A2E-F339FC9B35DF}"/>
              </a:ext>
            </a:extLst>
          </p:cNvPr>
          <p:cNvGrpSpPr>
            <a:grpSpLocks noChangeAspect="1"/>
          </p:cNvGrpSpPr>
          <p:nvPr/>
        </p:nvGrpSpPr>
        <p:grpSpPr>
          <a:xfrm>
            <a:off x="5150800" y="3901631"/>
            <a:ext cx="233176" cy="259077"/>
            <a:chOff x="8804422" y="3604902"/>
            <a:chExt cx="143502" cy="159447"/>
          </a:xfrm>
          <a:solidFill>
            <a:schemeClr val="bg1"/>
          </a:solidFill>
        </p:grpSpPr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96B117EB-9099-7914-65E1-5DE7F36655CC}"/>
                </a:ext>
              </a:extLst>
            </p:cNvPr>
            <p:cNvSpPr/>
            <p:nvPr/>
          </p:nvSpPr>
          <p:spPr>
            <a:xfrm>
              <a:off x="8804422" y="3604902"/>
              <a:ext cx="143502" cy="47834"/>
            </a:xfrm>
            <a:prstGeom prst="ellipse">
              <a:avLst/>
            </a:pr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662D9D7D-7BD1-548E-668D-088C25500D44}"/>
                </a:ext>
              </a:extLst>
            </p:cNvPr>
            <p:cNvSpPr/>
            <p:nvPr/>
          </p:nvSpPr>
          <p:spPr>
            <a:xfrm>
              <a:off x="8804422" y="3684625"/>
              <a:ext cx="143502" cy="23917"/>
            </a:xfrm>
            <a:custGeom>
              <a:avLst/>
              <a:gdLst>
                <a:gd name="csX0" fmla="*/ 145810 w 143502"/>
                <a:gd name="csY0" fmla="*/ 544 h 23917"/>
                <a:gd name="csX1" fmla="*/ 74059 w 143502"/>
                <a:gd name="csY1" fmla="*/ 24461 h 23917"/>
                <a:gd name="csX2" fmla="*/ 2308 w 143502"/>
                <a:gd name="csY2" fmla="*/ 544 h 23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3502" h="23917">
                  <a:moveTo>
                    <a:pt x="145810" y="544"/>
                  </a:moveTo>
                  <a:cubicBezTo>
                    <a:pt x="145810" y="13778"/>
                    <a:pt x="113921" y="24461"/>
                    <a:pt x="74059" y="24461"/>
                  </a:cubicBezTo>
                  <a:cubicBezTo>
                    <a:pt x="34197" y="24461"/>
                    <a:pt x="2308" y="13778"/>
                    <a:pt x="2308" y="544"/>
                  </a:cubicBez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7838FAC6-E966-404B-3046-54BC272A095B}"/>
                </a:ext>
              </a:extLst>
            </p:cNvPr>
            <p:cNvSpPr/>
            <p:nvPr/>
          </p:nvSpPr>
          <p:spPr>
            <a:xfrm>
              <a:off x="8804422" y="3628819"/>
              <a:ext cx="143502" cy="135530"/>
            </a:xfrm>
            <a:custGeom>
              <a:avLst/>
              <a:gdLst>
                <a:gd name="csX0" fmla="*/ 2308 w 143502"/>
                <a:gd name="csY0" fmla="*/ 544 h 135530"/>
                <a:gd name="csX1" fmla="*/ 2308 w 143502"/>
                <a:gd name="csY1" fmla="*/ 112157 h 135530"/>
                <a:gd name="csX2" fmla="*/ 74059 w 143502"/>
                <a:gd name="csY2" fmla="*/ 136074 h 135530"/>
                <a:gd name="csX3" fmla="*/ 145810 w 143502"/>
                <a:gd name="csY3" fmla="*/ 112157 h 135530"/>
                <a:gd name="csX4" fmla="*/ 145810 w 143502"/>
                <a:gd name="csY4" fmla="*/ 544 h 1355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43502" h="135530">
                  <a:moveTo>
                    <a:pt x="2308" y="544"/>
                  </a:moveTo>
                  <a:lnTo>
                    <a:pt x="2308" y="112157"/>
                  </a:lnTo>
                  <a:cubicBezTo>
                    <a:pt x="2308" y="125391"/>
                    <a:pt x="34197" y="136074"/>
                    <a:pt x="74059" y="136074"/>
                  </a:cubicBezTo>
                  <a:cubicBezTo>
                    <a:pt x="113921" y="136074"/>
                    <a:pt x="145810" y="125391"/>
                    <a:pt x="145810" y="112157"/>
                  </a:cubicBezTo>
                  <a:lnTo>
                    <a:pt x="145810" y="544"/>
                  </a:lnTo>
                </a:path>
              </a:pathLst>
            </a:custGeom>
            <a:grpFill/>
            <a:ln w="5581" cap="rnd">
              <a:solidFill>
                <a:srgbClr val="242424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70" name="TextBox 269">
            <a:extLst>
              <a:ext uri="{FF2B5EF4-FFF2-40B4-BE49-F238E27FC236}">
                <a16:creationId xmlns:a16="http://schemas.microsoft.com/office/drawing/2014/main" id="{745AE881-7CA6-E286-45A3-F3284D99B7AC}"/>
              </a:ext>
            </a:extLst>
          </p:cNvPr>
          <p:cNvSpPr txBox="1"/>
          <p:nvPr/>
        </p:nvSpPr>
        <p:spPr>
          <a:xfrm>
            <a:off x="4955621" y="4111847"/>
            <a:ext cx="613269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Vector Store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0F347CD8-C76C-CE9D-7F10-B73825B564EB}"/>
              </a:ext>
            </a:extLst>
          </p:cNvPr>
          <p:cNvSpPr/>
          <p:nvPr/>
        </p:nvSpPr>
        <p:spPr>
          <a:xfrm>
            <a:off x="4095438" y="3411596"/>
            <a:ext cx="76394" cy="66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D626F53E-EFBC-249C-3A7D-12BAE5541FF5}"/>
              </a:ext>
            </a:extLst>
          </p:cNvPr>
          <p:cNvCxnSpPr>
            <a:cxnSpLocks/>
          </p:cNvCxnSpPr>
          <p:nvPr/>
        </p:nvCxnSpPr>
        <p:spPr>
          <a:xfrm>
            <a:off x="4781401" y="4043861"/>
            <a:ext cx="3704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Rectangle: Top Corners Rounded 341">
            <a:extLst>
              <a:ext uri="{FF2B5EF4-FFF2-40B4-BE49-F238E27FC236}">
                <a16:creationId xmlns:a16="http://schemas.microsoft.com/office/drawing/2014/main" id="{535B285C-FD9B-12C5-F0AB-307B9B2F5DDC}"/>
              </a:ext>
            </a:extLst>
          </p:cNvPr>
          <p:cNvSpPr/>
          <p:nvPr/>
        </p:nvSpPr>
        <p:spPr>
          <a:xfrm>
            <a:off x="228878" y="4878293"/>
            <a:ext cx="8326395" cy="330506"/>
          </a:xfrm>
          <a:prstGeom prst="round2SameRect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i="0" kern="1200">
                <a:solidFill>
                  <a:schemeClr val="bg1"/>
                </a:solidFill>
                <a:effectLst/>
                <a:latin typeface="Grandview" panose="020B0502040204020203" pitchFamily="34" charset="0"/>
                <a:ea typeface="+mn-ea"/>
                <a:cs typeface="+mn-cs"/>
              </a:rPr>
              <a:t>Key Design Considerations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C55EB5D2-2178-1805-ACA5-647B87E7E570}"/>
              </a:ext>
            </a:extLst>
          </p:cNvPr>
          <p:cNvSpPr txBox="1"/>
          <p:nvPr/>
        </p:nvSpPr>
        <p:spPr>
          <a:xfrm>
            <a:off x="1619562" y="3551489"/>
            <a:ext cx="604367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000"/>
              <a:t>Delta Bronze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C8466-4045-8411-8180-83E56E55DD02}"/>
              </a:ext>
            </a:extLst>
          </p:cNvPr>
          <p:cNvSpPr txBox="1"/>
          <p:nvPr/>
        </p:nvSpPr>
        <p:spPr>
          <a:xfrm>
            <a:off x="110349" y="2068651"/>
            <a:ext cx="3622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2C165E"/>
                </a:solidFill>
              </a:rPr>
              <a:t>High-Level Architecture Diagram</a:t>
            </a:r>
            <a:endParaRPr lang="en-IN" sz="1400" b="1">
              <a:solidFill>
                <a:srgbClr val="2C16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53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62ADE93-C4BD-A77B-53B6-5BD43ED23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135" y="3261805"/>
            <a:ext cx="7138536" cy="324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A5EE85-242B-6C9B-17DB-8254CCDC55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765338"/>
          </a:xfrm>
        </p:spPr>
        <p:txBody>
          <a:bodyPr/>
          <a:lstStyle/>
          <a:p>
            <a:r>
              <a:rPr lang="en-US"/>
              <a:t>Sample Screens</a:t>
            </a:r>
          </a:p>
          <a:p>
            <a:r>
              <a:rPr lang="en-US" sz="1800"/>
              <a:t>Home, Policy intake page and AI Assistant</a:t>
            </a:r>
            <a:endParaRPr lang="en-IN" sz="18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222DB78-6ABF-E0DE-6DBD-D6594868A862}"/>
              </a:ext>
            </a:extLst>
          </p:cNvPr>
          <p:cNvGrpSpPr/>
          <p:nvPr/>
        </p:nvGrpSpPr>
        <p:grpSpPr>
          <a:xfrm>
            <a:off x="141401" y="1423017"/>
            <a:ext cx="7111464" cy="3240000"/>
            <a:chOff x="4615078" y="3065207"/>
            <a:chExt cx="7111464" cy="3240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8A11804-0A14-AA0C-6B57-4DF161E7B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5078" y="3065207"/>
              <a:ext cx="7111464" cy="324000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EBB48CE-E36C-5DDB-99A9-4CEF5F25E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43687" y="3658482"/>
              <a:ext cx="1651979" cy="2377413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814550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1673B2E-D045-9264-95E1-0E97EA406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01" y="1423017"/>
            <a:ext cx="7577086" cy="3474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87078B-B334-DEB9-2B2F-43C6694ECE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73763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Grandview" panose="020B0604020202020204" pitchFamily="34" charset="0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Grandview" panose="020B0604020202020204" pitchFamily="34" charset="0"/>
              </a:rPr>
              <a:t>Sample Screens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Grandview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Grandview" panose="020B0604020202020204" pitchFamily="34" charset="0"/>
              </a:rPr>
              <a:t>Brand List and Source Comparison views</a:t>
            </a:r>
            <a:endParaRPr kumimoji="0" lang="en-IN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" panose="020B0502040204020203" pitchFamily="34" charset="0"/>
              <a:ea typeface="+mn-ea"/>
              <a:cs typeface="Grandvie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450157-4F23-04AE-91A3-CCC13B5B3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207" y="3261805"/>
            <a:ext cx="7120464" cy="324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12155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14A0-8001-3BF2-A2A0-2097E416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8AF050-976E-E3FE-0653-292DFCB748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70993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Grandview" panose="020B0604020202020204" pitchFamily="34" charset="0"/>
              <a:buNone/>
              <a:tabLst/>
              <a:defRPr/>
            </a:pPr>
            <a:r>
              <a:rPr lang="en-US" sz="2400">
                <a:solidFill>
                  <a:prstClr val="white"/>
                </a:solidFill>
              </a:rPr>
              <a:t>Formulary IQ: High Level Project Timeline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Grandview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Grandview" panose="020B0604020202020204" pitchFamily="34" charset="0"/>
              </a:rPr>
              <a:t> End-to-end delivery across 3 releases and 9 months, from MVP to full platform rollout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14194D-61BB-1417-08FA-494AB2F9C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085440"/>
              </p:ext>
            </p:extLst>
          </p:nvPr>
        </p:nvGraphicFramePr>
        <p:xfrm>
          <a:off x="243838" y="1783079"/>
          <a:ext cx="11522072" cy="438849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20164">
                  <a:extLst>
                    <a:ext uri="{9D8B030D-6E8A-4147-A177-3AD203B41FA5}">
                      <a16:colId xmlns:a16="http://schemas.microsoft.com/office/drawing/2014/main" val="3615783050"/>
                    </a:ext>
                  </a:extLst>
                </a:gridCol>
                <a:gridCol w="5177369">
                  <a:extLst>
                    <a:ext uri="{9D8B030D-6E8A-4147-A177-3AD203B41FA5}">
                      <a16:colId xmlns:a16="http://schemas.microsoft.com/office/drawing/2014/main" val="1292853576"/>
                    </a:ext>
                  </a:extLst>
                </a:gridCol>
                <a:gridCol w="647171">
                  <a:extLst>
                    <a:ext uri="{9D8B030D-6E8A-4147-A177-3AD203B41FA5}">
                      <a16:colId xmlns:a16="http://schemas.microsoft.com/office/drawing/2014/main" val="1621928960"/>
                    </a:ext>
                  </a:extLst>
                </a:gridCol>
                <a:gridCol w="647171">
                  <a:extLst>
                    <a:ext uri="{9D8B030D-6E8A-4147-A177-3AD203B41FA5}">
                      <a16:colId xmlns:a16="http://schemas.microsoft.com/office/drawing/2014/main" val="1759921088"/>
                    </a:ext>
                  </a:extLst>
                </a:gridCol>
                <a:gridCol w="647171">
                  <a:extLst>
                    <a:ext uri="{9D8B030D-6E8A-4147-A177-3AD203B41FA5}">
                      <a16:colId xmlns:a16="http://schemas.microsoft.com/office/drawing/2014/main" val="3449756231"/>
                    </a:ext>
                  </a:extLst>
                </a:gridCol>
                <a:gridCol w="647171">
                  <a:extLst>
                    <a:ext uri="{9D8B030D-6E8A-4147-A177-3AD203B41FA5}">
                      <a16:colId xmlns:a16="http://schemas.microsoft.com/office/drawing/2014/main" val="14718257"/>
                    </a:ext>
                  </a:extLst>
                </a:gridCol>
                <a:gridCol w="647171">
                  <a:extLst>
                    <a:ext uri="{9D8B030D-6E8A-4147-A177-3AD203B41FA5}">
                      <a16:colId xmlns:a16="http://schemas.microsoft.com/office/drawing/2014/main" val="396253432"/>
                    </a:ext>
                  </a:extLst>
                </a:gridCol>
                <a:gridCol w="647171">
                  <a:extLst>
                    <a:ext uri="{9D8B030D-6E8A-4147-A177-3AD203B41FA5}">
                      <a16:colId xmlns:a16="http://schemas.microsoft.com/office/drawing/2014/main" val="595402442"/>
                    </a:ext>
                  </a:extLst>
                </a:gridCol>
                <a:gridCol w="647171">
                  <a:extLst>
                    <a:ext uri="{9D8B030D-6E8A-4147-A177-3AD203B41FA5}">
                      <a16:colId xmlns:a16="http://schemas.microsoft.com/office/drawing/2014/main" val="1571783539"/>
                    </a:ext>
                  </a:extLst>
                </a:gridCol>
                <a:gridCol w="647171">
                  <a:extLst>
                    <a:ext uri="{9D8B030D-6E8A-4147-A177-3AD203B41FA5}">
                      <a16:colId xmlns:a16="http://schemas.microsoft.com/office/drawing/2014/main" val="920540690"/>
                    </a:ext>
                  </a:extLst>
                </a:gridCol>
                <a:gridCol w="647171">
                  <a:extLst>
                    <a:ext uri="{9D8B030D-6E8A-4147-A177-3AD203B41FA5}">
                      <a16:colId xmlns:a16="http://schemas.microsoft.com/office/drawing/2014/main" val="1405093787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#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Activity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M1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M2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M3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M4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M5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M6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M7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M8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M9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74172204"/>
                  </a:ext>
                </a:extLst>
              </a:tr>
              <a:tr h="285178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</a:rPr>
                        <a:t>Release 1: MVP</a:t>
                      </a:r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375" marR="19375" marT="9687" marB="9687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842161"/>
                  </a:ext>
                </a:extLst>
              </a:tr>
              <a:tr h="28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Scoping, Discovery &amp; Data Modelling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054942"/>
                  </a:ext>
                </a:extLst>
              </a:tr>
              <a:tr h="28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React App, Flask API &amp; RBAC Setup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196334"/>
                  </a:ext>
                </a:extLst>
              </a:tr>
              <a:tr h="28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Dashboard, Payer &amp; Brand Profile Pages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41749"/>
                  </a:ext>
                </a:extLst>
              </a:tr>
              <a:tr h="28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Submission Workflow, UAT &amp; R1 Go-Live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978959"/>
                  </a:ext>
                </a:extLst>
              </a:tr>
              <a:tr h="285178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</a:rPr>
                        <a:t>Release 2: AI &amp; Intelligence</a:t>
                      </a:r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375" marR="19375" marT="9687" marB="9687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968539"/>
                  </a:ext>
                </a:extLst>
              </a:tr>
              <a:tr h="28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Genie AI Setup &amp; Tuning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093564"/>
                  </a:ext>
                </a:extLst>
              </a:tr>
              <a:tr h="28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Source Comparison &amp; PDF Scrubbing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489657"/>
                  </a:ext>
                </a:extLst>
              </a:tr>
              <a:tr h="28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Collaboration, Notifications &amp; UI Enhancements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076142"/>
                  </a:ext>
                </a:extLst>
              </a:tr>
              <a:tr h="28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R2 UAT &amp; Go-Live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385369"/>
                  </a:ext>
                </a:extLst>
              </a:tr>
              <a:tr h="285178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</a:rPr>
                        <a:t>Release 3 and beyond: Scale &amp; Vendor</a:t>
                      </a:r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375" marR="19375" marT="9687" marB="9687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16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635853"/>
                  </a:ext>
                </a:extLst>
              </a:tr>
              <a:tr h="28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Rx Brand Rollout &amp; Schema Extension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918625"/>
                  </a:ext>
                </a:extLst>
              </a:tr>
              <a:tr h="28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Vendor Portal &amp; Advanced Genie Q&amp;A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518645"/>
                  </a:ext>
                </a:extLst>
              </a:tr>
              <a:tr h="28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Platform Audit, Load Testing &amp; Documentation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3153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0B09E67-C34B-8D0A-F4AA-0BD5A90BAF51}"/>
              </a:ext>
            </a:extLst>
          </p:cNvPr>
          <p:cNvSpPr txBox="1"/>
          <p:nvPr/>
        </p:nvSpPr>
        <p:spPr>
          <a:xfrm>
            <a:off x="7787149" y="1076013"/>
            <a:ext cx="4306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i="1">
                <a:solidFill>
                  <a:schemeClr val="bg1"/>
                </a:solidFill>
              </a:rPr>
              <a:t>*</a:t>
            </a:r>
            <a:r>
              <a:rPr lang="en-US" sz="1100" i="1">
                <a:solidFill>
                  <a:schemeClr val="bg1"/>
                </a:solidFill>
              </a:rPr>
              <a:t>Timelines are subject to change based on the initial scoping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72588-60E6-3F31-534E-1AA7EA493D8A}"/>
              </a:ext>
            </a:extLst>
          </p:cNvPr>
          <p:cNvSpPr txBox="1"/>
          <p:nvPr/>
        </p:nvSpPr>
        <p:spPr>
          <a:xfrm>
            <a:off x="4016478" y="6492510"/>
            <a:ext cx="737910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100" b="1" i="1"/>
              <a:t>The AI features would require more evaluation and would be done during the Release 1 development 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1BE46C2C-A001-C7F7-06B2-7029E3F1D0D8}"/>
              </a:ext>
            </a:extLst>
          </p:cNvPr>
          <p:cNvSpPr/>
          <p:nvPr/>
        </p:nvSpPr>
        <p:spPr>
          <a:xfrm>
            <a:off x="243839" y="1416551"/>
            <a:ext cx="5701561" cy="330506"/>
          </a:xfrm>
          <a:prstGeom prst="round2Same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b="1" i="0" kern="1200">
                <a:solidFill>
                  <a:srgbClr val="7F2A4C"/>
                </a:solidFill>
                <a:effectLst/>
                <a:latin typeface="Grandview" panose="020B0502040204020203" pitchFamily="34" charset="0"/>
                <a:ea typeface="+mn-ea"/>
                <a:cs typeface="+mn-cs"/>
              </a:rPr>
              <a:t>Execution Timelines across the Releases</a:t>
            </a:r>
            <a:endParaRPr lang="en-US" sz="1400" b="1">
              <a:solidFill>
                <a:srgbClr val="7F2A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85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4E1359-CD14-D992-152D-19EE69ADF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97179"/>
            <a:ext cx="11522075" cy="70993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Grandview" panose="020B0604020202020204" pitchFamily="34" charset="0"/>
              <a:buNone/>
              <a:tabLst/>
              <a:defRPr/>
            </a:pPr>
            <a:r>
              <a:rPr lang="en-US" sz="2400">
                <a:solidFill>
                  <a:prstClr val="white"/>
                </a:solidFill>
              </a:rPr>
              <a:t>Timelines*: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Grandview" panose="020B0604020202020204" pitchFamily="34" charset="0"/>
              </a:rPr>
              <a:t>Release 1 focus: High‑priority capabilities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Grandview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ndview" panose="020B0502040204020203" pitchFamily="34" charset="0"/>
                <a:ea typeface="+mn-ea"/>
                <a:cs typeface="Grandview" panose="020B0604020202020204" pitchFamily="34" charset="0"/>
              </a:rPr>
              <a:t>AI features and full brand coverage to be integrated in Release 2 &amp; 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FA611B-D3EC-68CA-DD71-7B7DE17F1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581272"/>
              </p:ext>
            </p:extLst>
          </p:nvPr>
        </p:nvGraphicFramePr>
        <p:xfrm>
          <a:off x="243838" y="1783079"/>
          <a:ext cx="11704320" cy="2833944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412535">
                  <a:extLst>
                    <a:ext uri="{9D8B030D-6E8A-4147-A177-3AD203B41FA5}">
                      <a16:colId xmlns:a16="http://schemas.microsoft.com/office/drawing/2014/main" val="3615783050"/>
                    </a:ext>
                  </a:extLst>
                </a:gridCol>
                <a:gridCol w="4106103">
                  <a:extLst>
                    <a:ext uri="{9D8B030D-6E8A-4147-A177-3AD203B41FA5}">
                      <a16:colId xmlns:a16="http://schemas.microsoft.com/office/drawing/2014/main" val="1292853576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1621928960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1759921088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3449756231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14718257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396253432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595402442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1571783539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920540690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1405093787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2458564656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2429433464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874040453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1696712224"/>
                    </a:ext>
                  </a:extLst>
                </a:gridCol>
                <a:gridCol w="513263">
                  <a:extLst>
                    <a:ext uri="{9D8B030D-6E8A-4147-A177-3AD203B41FA5}">
                      <a16:colId xmlns:a16="http://schemas.microsoft.com/office/drawing/2014/main" val="1077335749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 err="1">
                          <a:effectLst/>
                        </a:rPr>
                        <a:t>Sl</a:t>
                      </a:r>
                      <a:endParaRPr lang="en-US" sz="1200" b="1">
                        <a:effectLst/>
                      </a:endParaRP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Task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W-1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W0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W1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W2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W3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W4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W5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W6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W7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W8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W9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W10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W11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 fontAlgn="b" latinLnBrk="0">
                        <a:buNone/>
                      </a:pPr>
                      <a:r>
                        <a:rPr lang="en-US" sz="1200" b="1">
                          <a:effectLst/>
                        </a:rPr>
                        <a:t>W12</a:t>
                      </a:r>
                    </a:p>
                  </a:txBody>
                  <a:tcPr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174172204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>
                          <a:effectLst/>
                        </a:rPr>
                        <a:t>1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Scoping, Access &amp; Backend Discovery Workshop</a:t>
                      </a:r>
                      <a:endParaRPr lang="en-US" sz="120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54864" marR="54864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842161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>
                          <a:effectLst/>
                        </a:rPr>
                        <a:t>2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Frontend App Setup (on Databricks Apps)</a:t>
                      </a:r>
                      <a:endParaRPr lang="en-US" sz="120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54864" marR="54864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054942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>
                          <a:effectLst/>
                        </a:rPr>
                        <a:t>3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Backend Setup (Initial Setup, Unity Catalog connection)</a:t>
                      </a:r>
                      <a:endParaRPr lang="en-US" sz="120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54864" marR="54864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196334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>
                          <a:effectLst/>
                        </a:rPr>
                        <a:t>4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Data Modelling &amp; Schema Design</a:t>
                      </a:r>
                      <a:endParaRPr lang="en-US" sz="120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54864" marR="54864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41749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>
                          <a:effectLst/>
                        </a:rPr>
                        <a:t>5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Payer &amp; Brand Profile Pages (Tezspire, </a:t>
                      </a:r>
                      <a:r>
                        <a:rPr lang="en-US" sz="1200" err="1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Tepezza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 - Mx)</a:t>
                      </a:r>
                      <a:endParaRPr lang="en-US" sz="120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54864" marR="54864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978959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>
                          <a:effectLst/>
                        </a:rPr>
                        <a:t>6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Coverage Update Submission &amp; Review Workflow</a:t>
                      </a:r>
                      <a:endParaRPr lang="en-US" sz="120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54864" marR="54864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968539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>
                          <a:effectLst/>
                        </a:rPr>
                        <a:t>7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RBAC Security, Search &amp; Dashboard Build</a:t>
                      </a:r>
                      <a:endParaRPr lang="en-US" sz="120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54864" marR="54864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093564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sz="1200" b="0">
                          <a:effectLst/>
                        </a:rPr>
                        <a:t>8</a:t>
                      </a: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Release 1 Launch, UAT &amp; Validation</a:t>
                      </a:r>
                      <a:endParaRPr lang="en-US" sz="120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54864" marR="54864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US" sz="1200">
                        <a:effectLst/>
                      </a:endParaRPr>
                    </a:p>
                  </a:txBody>
                  <a:tcPr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2A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489657"/>
                  </a:ext>
                </a:extLst>
              </a:tr>
            </a:tbl>
          </a:graphicData>
        </a:graphic>
      </p:graphicFrame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919D1719-7B30-F3FD-37AE-0110AFCF6255}"/>
              </a:ext>
            </a:extLst>
          </p:cNvPr>
          <p:cNvSpPr/>
          <p:nvPr/>
        </p:nvSpPr>
        <p:spPr>
          <a:xfrm>
            <a:off x="243839" y="1416551"/>
            <a:ext cx="5701561" cy="330506"/>
          </a:xfrm>
          <a:prstGeom prst="round2Same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b="1" i="0" kern="1200">
                <a:solidFill>
                  <a:srgbClr val="7F2A4C"/>
                </a:solidFill>
                <a:effectLst/>
                <a:latin typeface="Grandview" panose="020B0502040204020203" pitchFamily="34" charset="0"/>
                <a:ea typeface="+mn-ea"/>
                <a:cs typeface="+mn-cs"/>
              </a:rPr>
              <a:t>Release 1: Execution Timelines</a:t>
            </a:r>
            <a:endParaRPr lang="en-US" sz="1400" b="1">
              <a:solidFill>
                <a:srgbClr val="7F2A4C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D5C68-16AE-B042-D840-7D4DDEF001A7}"/>
              </a:ext>
            </a:extLst>
          </p:cNvPr>
          <p:cNvSpPr txBox="1"/>
          <p:nvPr/>
        </p:nvSpPr>
        <p:spPr>
          <a:xfrm>
            <a:off x="7787149" y="1076013"/>
            <a:ext cx="4306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i="1">
                <a:solidFill>
                  <a:schemeClr val="bg1"/>
                </a:solidFill>
              </a:rPr>
              <a:t>*</a:t>
            </a:r>
            <a:r>
              <a:rPr lang="en-US" sz="1100" i="1">
                <a:solidFill>
                  <a:schemeClr val="bg1"/>
                </a:solidFill>
              </a:rPr>
              <a:t>Timelines are subject to change based on the initial scoping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C40B0F45-F43B-610C-36CA-7140AE5DD662}"/>
              </a:ext>
            </a:extLst>
          </p:cNvPr>
          <p:cNvSpPr/>
          <p:nvPr/>
        </p:nvSpPr>
        <p:spPr>
          <a:xfrm>
            <a:off x="243839" y="4810620"/>
            <a:ext cx="11704320" cy="330506"/>
          </a:xfrm>
          <a:prstGeom prst="round2SameRect">
            <a:avLst/>
          </a:prstGeom>
          <a:gradFill>
            <a:gsLst>
              <a:gs pos="0">
                <a:srgbClr val="812B47"/>
              </a:gs>
              <a:gs pos="100000">
                <a:srgbClr val="0B0E5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i="0" kern="1200">
                <a:solidFill>
                  <a:schemeClr val="bg1"/>
                </a:solidFill>
                <a:effectLst/>
                <a:latin typeface="Grandview" panose="020B0502040204020203" pitchFamily="34" charset="0"/>
                <a:ea typeface="+mn-ea"/>
                <a:cs typeface="+mn-cs"/>
              </a:rPr>
              <a:t>Release 1 | Key Deliverables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D63694-B7B0-35F5-79E0-02191504D601}"/>
              </a:ext>
            </a:extLst>
          </p:cNvPr>
          <p:cNvSpPr txBox="1"/>
          <p:nvPr/>
        </p:nvSpPr>
        <p:spPr>
          <a:xfrm>
            <a:off x="243840" y="5139645"/>
            <a:ext cx="11704320" cy="1308780"/>
          </a:xfrm>
          <a:prstGeom prst="rect">
            <a:avLst/>
          </a:prstGeom>
          <a:gradFill>
            <a:gsLst>
              <a:gs pos="0">
                <a:srgbClr val="D2D0E1"/>
              </a:gs>
              <a:gs pos="100000">
                <a:srgbClr val="EDD3D4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1400" b="1" i="0">
                <a:solidFill>
                  <a:srgbClr val="000000"/>
                </a:solidFill>
                <a:effectLst/>
                <a:latin typeface="Grandview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Aft>
                <a:spcPts val="400"/>
              </a:spcAft>
            </a:pPr>
            <a:endParaRPr lang="en-US" sz="12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E638E0-503F-83E8-8694-491503E61364}"/>
              </a:ext>
            </a:extLst>
          </p:cNvPr>
          <p:cNvSpPr/>
          <p:nvPr/>
        </p:nvSpPr>
        <p:spPr>
          <a:xfrm>
            <a:off x="476249" y="5276849"/>
            <a:ext cx="5486400" cy="4572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Formulary IQ App Live on Databricks: </a:t>
            </a:r>
            <a:r>
              <a:rPr lang="en-US" sz="1200">
                <a:solidFill>
                  <a:schemeClr val="tx1"/>
                </a:solidFill>
              </a:rPr>
              <a:t>A fully functional React app deployed and accessible to all permitted users across the commercial </a:t>
            </a:r>
            <a:r>
              <a:rPr lang="en-US" sz="1200" err="1">
                <a:solidFill>
                  <a:schemeClr val="tx1"/>
                </a:solidFill>
              </a:rPr>
              <a:t>organisation</a:t>
            </a:r>
            <a:r>
              <a:rPr lang="en-US" sz="12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8A3BB8-5BF8-4F62-A68A-ACD2499ABD27}"/>
              </a:ext>
            </a:extLst>
          </p:cNvPr>
          <p:cNvSpPr/>
          <p:nvPr/>
        </p:nvSpPr>
        <p:spPr>
          <a:xfrm>
            <a:off x="6238874" y="5267324"/>
            <a:ext cx="5486400" cy="4572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Payer &amp; Brand Intelligence Pages: </a:t>
            </a:r>
            <a:r>
              <a:rPr lang="en-US" sz="1200">
                <a:solidFill>
                  <a:schemeClr val="tx1"/>
                </a:solidFill>
              </a:rPr>
              <a:t>Dedicated profile pages for </a:t>
            </a:r>
            <a:r>
              <a:rPr lang="en-US" sz="1200" err="1">
                <a:solidFill>
                  <a:schemeClr val="tx1"/>
                </a:solidFill>
              </a:rPr>
              <a:t>Tezspire</a:t>
            </a:r>
            <a:r>
              <a:rPr lang="en-US" sz="1200">
                <a:solidFill>
                  <a:schemeClr val="tx1"/>
                </a:solidFill>
              </a:rPr>
              <a:t> and </a:t>
            </a:r>
            <a:r>
              <a:rPr lang="en-US" sz="1200" err="1">
                <a:solidFill>
                  <a:schemeClr val="tx1"/>
                </a:solidFill>
              </a:rPr>
              <a:t>Tepezza</a:t>
            </a:r>
            <a:r>
              <a:rPr lang="en-US" sz="1200">
                <a:solidFill>
                  <a:schemeClr val="tx1"/>
                </a:solidFill>
              </a:rPr>
              <a:t> (Medicare)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A3C5EB-65D4-04DC-474D-60311751B142}"/>
              </a:ext>
            </a:extLst>
          </p:cNvPr>
          <p:cNvSpPr/>
          <p:nvPr/>
        </p:nvSpPr>
        <p:spPr>
          <a:xfrm>
            <a:off x="476249" y="5876924"/>
            <a:ext cx="5486400" cy="4572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err="1">
                <a:solidFill>
                  <a:schemeClr val="tx1"/>
                </a:solidFill>
              </a:rPr>
              <a:t>Centralised</a:t>
            </a:r>
            <a:r>
              <a:rPr lang="en-US" sz="1200" b="1">
                <a:solidFill>
                  <a:schemeClr val="tx1"/>
                </a:solidFill>
              </a:rPr>
              <a:t> Coverage Data in Unity Catalog: </a:t>
            </a:r>
            <a:r>
              <a:rPr lang="en-US" sz="1200">
                <a:solidFill>
                  <a:schemeClr val="tx1"/>
                </a:solidFill>
              </a:rPr>
              <a:t>All payer, brand, coverage, and submission data structured, governed, and </a:t>
            </a:r>
            <a:r>
              <a:rPr lang="en-US" sz="1200" err="1">
                <a:solidFill>
                  <a:schemeClr val="tx1"/>
                </a:solidFill>
              </a:rPr>
              <a:t>queryable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C7E5B61-BA6B-4606-9412-674E8CA70EC7}"/>
              </a:ext>
            </a:extLst>
          </p:cNvPr>
          <p:cNvSpPr/>
          <p:nvPr/>
        </p:nvSpPr>
        <p:spPr>
          <a:xfrm>
            <a:off x="6238874" y="5867399"/>
            <a:ext cx="5486400" cy="4572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Coverage Update Submission &amp; Tracking: </a:t>
            </a:r>
            <a:r>
              <a:rPr lang="en-US" sz="1200">
                <a:solidFill>
                  <a:schemeClr val="tx1"/>
                </a:solidFill>
              </a:rPr>
              <a:t>End-to-end workflow for submitting, reviewing, and publishing coverage updates</a:t>
            </a:r>
          </a:p>
        </p:txBody>
      </p:sp>
    </p:spTree>
    <p:extLst>
      <p:ext uri="{BB962C8B-B14F-4D97-AF65-F5344CB8AC3E}">
        <p14:creationId xmlns:p14="http://schemas.microsoft.com/office/powerpoint/2010/main" val="2576300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260794-0750-36C5-6A5F-6A682ABD9C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Resourcing &amp; Costing</a:t>
            </a:r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127CDA-81F6-8739-13AA-E81E39377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782446"/>
              </p:ext>
            </p:extLst>
          </p:nvPr>
        </p:nvGraphicFramePr>
        <p:xfrm>
          <a:off x="403789" y="1710814"/>
          <a:ext cx="11522075" cy="3486337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543541">
                  <a:extLst>
                    <a:ext uri="{9D8B030D-6E8A-4147-A177-3AD203B41FA5}">
                      <a16:colId xmlns:a16="http://schemas.microsoft.com/office/drawing/2014/main" val="3513331245"/>
                    </a:ext>
                  </a:extLst>
                </a:gridCol>
                <a:gridCol w="4455582">
                  <a:extLst>
                    <a:ext uri="{9D8B030D-6E8A-4147-A177-3AD203B41FA5}">
                      <a16:colId xmlns:a16="http://schemas.microsoft.com/office/drawing/2014/main" val="3973960056"/>
                    </a:ext>
                  </a:extLst>
                </a:gridCol>
                <a:gridCol w="1630738">
                  <a:extLst>
                    <a:ext uri="{9D8B030D-6E8A-4147-A177-3AD203B41FA5}">
                      <a16:colId xmlns:a16="http://schemas.microsoft.com/office/drawing/2014/main" val="118544475"/>
                    </a:ext>
                  </a:extLst>
                </a:gridCol>
                <a:gridCol w="1630738">
                  <a:extLst>
                    <a:ext uri="{9D8B030D-6E8A-4147-A177-3AD203B41FA5}">
                      <a16:colId xmlns:a16="http://schemas.microsoft.com/office/drawing/2014/main" val="3404671097"/>
                    </a:ext>
                  </a:extLst>
                </a:gridCol>
                <a:gridCol w="1630738">
                  <a:extLst>
                    <a:ext uri="{9D8B030D-6E8A-4147-A177-3AD203B41FA5}">
                      <a16:colId xmlns:a16="http://schemas.microsoft.com/office/drawing/2014/main" val="144354547"/>
                    </a:ext>
                  </a:extLst>
                </a:gridCol>
                <a:gridCol w="1630738">
                  <a:extLst>
                    <a:ext uri="{9D8B030D-6E8A-4147-A177-3AD203B41FA5}">
                      <a16:colId xmlns:a16="http://schemas.microsoft.com/office/drawing/2014/main" val="1469084308"/>
                    </a:ext>
                  </a:extLst>
                </a:gridCol>
              </a:tblGrid>
              <a:tr h="3868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#</a:t>
                      </a:r>
                      <a:endParaRPr lang="en-US" sz="120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rgbClr val="FFFFFF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Role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rgbClr val="FFFFFF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Release 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rgbClr val="FFFFFF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Release 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rgbClr val="FFFFFF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Release 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US" sz="1200" b="1" kern="1200">
                          <a:solidFill>
                            <a:srgbClr val="FFFFFF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Cost/</a:t>
                      </a:r>
                      <a:r>
                        <a:rPr lang="en-US" sz="1200" b="1" kern="1200" err="1">
                          <a:solidFill>
                            <a:srgbClr val="FFFFFF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Hr</a:t>
                      </a:r>
                      <a:endParaRPr lang="en-IN" sz="1200" b="1" kern="1200">
                        <a:solidFill>
                          <a:srgbClr val="FFFFFF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812B47"/>
                        </a:gs>
                        <a:gs pos="100000">
                          <a:srgbClr val="0B0E5F"/>
                        </a:gs>
                      </a:gsLst>
                      <a:lin ang="108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868510545"/>
                  </a:ext>
                </a:extLst>
              </a:tr>
              <a:tr h="3874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latin typeface="+mn-lt"/>
                          <a:ea typeface="Grandview" charset="0"/>
                          <a:cs typeface="Grandview" charset="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Senior Full Stack Developer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$36</a:t>
                      </a:r>
                      <a:endParaRPr lang="en-IN" sz="1200" b="1" kern="1200">
                        <a:solidFill>
                          <a:schemeClr val="tx1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776836"/>
                  </a:ext>
                </a:extLst>
              </a:tr>
              <a:tr h="3874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latin typeface="+mn-lt"/>
                          <a:ea typeface="Grandview" charset="0"/>
                          <a:cs typeface="Grandview" charset="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React Developer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$34</a:t>
                      </a:r>
                      <a:endParaRPr lang="en-IN" sz="1200" b="1" kern="1200">
                        <a:solidFill>
                          <a:schemeClr val="tx1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943465"/>
                  </a:ext>
                </a:extLst>
              </a:tr>
              <a:tr h="3874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latin typeface="+mn-lt"/>
                          <a:ea typeface="Grandview" charset="0"/>
                          <a:cs typeface="Grandview" charset="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Senior Databricks Engineer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$36</a:t>
                      </a:r>
                      <a:endParaRPr lang="en-IN" sz="1200" b="1" kern="1200">
                        <a:solidFill>
                          <a:schemeClr val="tx1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523693"/>
                  </a:ext>
                </a:extLst>
              </a:tr>
              <a:tr h="3874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4</a:t>
                      </a:r>
                      <a:endParaRPr lang="en-US" sz="120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AI/ML Engineer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$38</a:t>
                      </a:r>
                      <a:endParaRPr lang="en-IN" sz="1200" b="1" kern="1200">
                        <a:solidFill>
                          <a:schemeClr val="tx1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572227"/>
                  </a:ext>
                </a:extLst>
              </a:tr>
              <a:tr h="3874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latin typeface="+mn-lt"/>
                          <a:ea typeface="Grandview" charset="0"/>
                          <a:cs typeface="Grandview" charset="0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Project Manager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$38</a:t>
                      </a:r>
                      <a:endParaRPr lang="en-IN" sz="1200" b="1" kern="1200">
                        <a:solidFill>
                          <a:schemeClr val="tx1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944486"/>
                  </a:ext>
                </a:extLst>
              </a:tr>
              <a:tr h="3874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latin typeface="+mn-lt"/>
                          <a:ea typeface="Grandview" charset="0"/>
                          <a:cs typeface="Grandview" charset="0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Sr. Business Analyst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IN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$38</a:t>
                      </a:r>
                      <a:endParaRPr lang="en-IN" sz="1200" b="1" kern="1200">
                        <a:solidFill>
                          <a:schemeClr val="tx1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282931"/>
                  </a:ext>
                </a:extLst>
              </a:tr>
              <a:tr h="387434">
                <a:tc gridSpan="2">
                  <a:txBody>
                    <a:bodyPr/>
                    <a:lstStyle/>
                    <a:p>
                      <a:pPr marL="0" indent="0" algn="r" defTabSz="914400" rtl="0" eaLnBrk="1" fontAlgn="ctr" latinLnBrk="0" hangingPunct="1">
                        <a:buNone/>
                      </a:pPr>
                      <a:r>
                        <a:rPr lang="en-IN" sz="14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Total Headcount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4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4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4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12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400" b="1" kern="1200">
                          <a:solidFill>
                            <a:schemeClr val="tx1"/>
                          </a:solidFill>
                          <a:latin typeface="+mn-lt"/>
                          <a:ea typeface="Grandview" pitchFamily="34" charset="-122"/>
                          <a:cs typeface="Grandview" pitchFamily="34" charset="-120"/>
                        </a:rPr>
                        <a:t>12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endParaRPr lang="en-IN" sz="1400" b="1" kern="1200">
                        <a:solidFill>
                          <a:schemeClr val="tx1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19905"/>
                  </a:ext>
                </a:extLst>
              </a:tr>
              <a:tr h="387434"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r" defTabSz="914400" rtl="0" eaLnBrk="1" fontAlgn="ctr" latinLnBrk="0" hangingPunct="1">
                        <a:buNone/>
                      </a:pPr>
                      <a:endParaRPr lang="en-IN" sz="1200" b="1" kern="1200">
                        <a:solidFill>
                          <a:schemeClr val="tx1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endParaRPr lang="en-IN" sz="1200" b="1" kern="1200">
                        <a:solidFill>
                          <a:schemeClr val="tx1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endParaRPr lang="en-IN" sz="1200" b="1" kern="1200">
                        <a:solidFill>
                          <a:schemeClr val="tx1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endParaRPr lang="en-IN" sz="1200" b="1" kern="1200">
                        <a:solidFill>
                          <a:schemeClr val="tx1"/>
                        </a:solidFill>
                        <a:latin typeface="+mn-lt"/>
                        <a:ea typeface="Grandview" pitchFamily="34" charset="-122"/>
                        <a:cs typeface="Grandview" pitchFamily="34" charset="-120"/>
                      </a:endParaRPr>
                    </a:p>
                  </a:txBody>
                  <a:tcPr marL="36000" marR="36000" marT="36000" marB="3600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+mn-lt"/>
                        <a:ea typeface="Grandview" charset="0"/>
                        <a:cs typeface="Grandview" charset="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7F2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839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5390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Quantzig Bran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0E5F"/>
      </a:accent1>
      <a:accent2>
        <a:srgbClr val="812B47"/>
      </a:accent2>
      <a:accent3>
        <a:srgbClr val="2C165E"/>
      </a:accent3>
      <a:accent4>
        <a:srgbClr val="242424"/>
      </a:accent4>
      <a:accent5>
        <a:srgbClr val="C38424"/>
      </a:accent5>
      <a:accent6>
        <a:srgbClr val="30A050"/>
      </a:accent6>
      <a:hlink>
        <a:srgbClr val="0563C1"/>
      </a:hlink>
      <a:folHlink>
        <a:srgbClr val="954F72"/>
      </a:folHlink>
    </a:clrScheme>
    <a:fontScheme name="Quantzig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B6C7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Quantzig Slide Master_V2" id="{B09D438D-AE30-4568-AB63-BC413E6A0EA4}" vid="{CC91EC6C-B28D-4ED3-931C-1F733A69BBE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1565</Words>
  <Application>Microsoft Office PowerPoint</Application>
  <PresentationFormat>Widescreen</PresentationFormat>
  <Paragraphs>251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Sidhu Suresh</dc:creator>
  <cp:lastModifiedBy>Sidhu Suresh</cp:lastModifiedBy>
  <cp:revision>3</cp:revision>
  <dcterms:created xsi:type="dcterms:W3CDTF">2026-03-04T11:18:54Z</dcterms:created>
  <dcterms:modified xsi:type="dcterms:W3CDTF">2026-07-29T10:01:46Z</dcterms:modified>
</cp:coreProperties>
</file>